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8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MUST</c:v>
                </c:pt>
              </c:strCache>
            </c:strRef>
          </c:tx>
          <c:spPr>
            <a:solidFill>
              <a:schemeClr val="accent1"/>
            </a:solidFill>
            <a:ln w="9525" cap="flat">
              <a:solidFill>
                <a:srgbClr val="F9F9F9"/>
              </a:solidFill>
              <a:prstDash val="solid"/>
              <a:round/>
            </a:ln>
            <a:effectLst/>
          </c:spPr>
          <c:dPt>
            <c:idx val="0"/>
            <c:bubble3D val="0"/>
            <c:spPr>
              <a:solidFill>
                <a:srgbClr val="0B132B"/>
              </a:solidFill>
              <a:effectLst/>
            </c:spPr>
            <c:extLst>
              <c:ext xmlns:c16="http://schemas.microsoft.com/office/drawing/2014/chart" uri="{C3380CC4-5D6E-409C-BE32-E72D297353CC}">
                <c16:uniqueId val="{00000001-2DBA-48C4-AFED-922D9279FE5C}"/>
              </c:ext>
            </c:extLst>
          </c:dPt>
          <c:dPt>
            <c:idx val="1"/>
            <c:bubble3D val="0"/>
            <c:spPr>
              <a:solidFill>
                <a:srgbClr val="C8A45D"/>
              </a:solidFill>
              <a:effectLst/>
            </c:spPr>
            <c:extLst>
              <c:ext xmlns:c16="http://schemas.microsoft.com/office/drawing/2014/chart" uri="{C3380CC4-5D6E-409C-BE32-E72D297353CC}">
                <c16:uniqueId val="{00000003-2DBA-48C4-AFED-922D9279FE5C}"/>
              </c:ext>
            </c:extLst>
          </c:dPt>
          <c:cat>
            <c:strRef>
              <c:f>Sheet1!$A$2:$A$3</c:f>
              <c:strCache>
                <c:ptCount val="2"/>
                <c:pt idx="0">
                  <c:v>MUST</c:v>
                </c:pt>
                <c:pt idx="1">
                  <c:v>SHOULD</c:v>
                </c:pt>
              </c:strCache>
            </c:strRef>
          </c:cat>
          <c:val>
            <c:numRef>
              <c:f>Sheet1!$B$2:$B$3</c:f>
              <c:numCache>
                <c:formatCode>General</c:formatCode>
                <c:ptCount val="2"/>
                <c:pt idx="0">
                  <c:v>89</c:v>
                </c:pt>
                <c:pt idx="1">
                  <c:v>26</c:v>
                </c:pt>
              </c:numCache>
            </c:numRef>
          </c:val>
          <c:extLst>
            <c:ext xmlns:c16="http://schemas.microsoft.com/office/drawing/2014/chart" uri="{C3380CC4-5D6E-409C-BE32-E72D297353CC}">
              <c16:uniqueId val="{00000004-2DBA-48C4-AFED-922D9279FE5C}"/>
            </c:ext>
          </c:extLst>
        </c:ser>
        <c:dLbls>
          <c:showLegendKey val="0"/>
          <c:showVal val="0"/>
          <c:showCatName val="0"/>
          <c:showSerName val="0"/>
          <c:showPercent val="0"/>
          <c:showBubbleSize val="0"/>
          <c:showLeaderLines val="0"/>
        </c:dLbls>
        <c:firstSliceAng val="0"/>
        <c:holeSize val="65"/>
      </c:doughnutChart>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Coûts one‑shot (€)</c:v>
                </c:pt>
              </c:strCache>
            </c:strRef>
          </c:tx>
          <c:spPr>
            <a:solidFill>
              <a:srgbClr val="0B132B"/>
            </a:solidFill>
            <a:effectLst/>
          </c:spPr>
          <c:invertIfNegative val="0"/>
          <c:cat>
            <c:strRef>
              <c:f>Sheet1!$A$2:$A$6</c:f>
              <c:strCache>
                <c:ptCount val="5"/>
                <c:pt idx="0">
                  <c:v>Dev/DS</c:v>
                </c:pt>
                <c:pt idx="1">
                  <c:v>PO/SM/QA</c:v>
                </c:pt>
                <c:pt idx="2">
                  <c:v>Support tech</c:v>
                </c:pt>
                <c:pt idx="3">
                  <c:v>Check RGPD</c:v>
                </c:pt>
                <c:pt idx="4">
                  <c:v>Jeu de tests</c:v>
                </c:pt>
              </c:strCache>
            </c:strRef>
          </c:cat>
          <c:val>
            <c:numRef>
              <c:f>Sheet1!$B$2:$B$6</c:f>
              <c:numCache>
                <c:formatCode>General</c:formatCode>
                <c:ptCount val="5"/>
                <c:pt idx="0">
                  <c:v>47610</c:v>
                </c:pt>
                <c:pt idx="1">
                  <c:v>13225</c:v>
                </c:pt>
                <c:pt idx="2">
                  <c:v>6000</c:v>
                </c:pt>
                <c:pt idx="3">
                  <c:v>1800</c:v>
                </c:pt>
                <c:pt idx="4">
                  <c:v>2250</c:v>
                </c:pt>
              </c:numCache>
            </c:numRef>
          </c:val>
          <c:extLst>
            <c:ext xmlns:c16="http://schemas.microsoft.com/office/drawing/2014/chart" uri="{C3380CC4-5D6E-409C-BE32-E72D297353CC}">
              <c16:uniqueId val="{00000000-A9AE-4FDA-90AC-E3FC1FC0E21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2"/>
        <c:crosses val="autoZero"/>
        <c:auto val="1"/>
        <c:lblAlgn val="ctr"/>
        <c:lblOffset val="100"/>
        <c:noMultiLvlLbl val="1"/>
      </c:catAx>
      <c:valAx>
        <c:axId val="2094734552"/>
        <c:scaling>
          <c:orientation val="minMax"/>
          <c:max val="52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Coûts mensuels (€)</c:v>
                </c:pt>
              </c:strCache>
            </c:strRef>
          </c:tx>
          <c:spPr>
            <a:solidFill>
              <a:srgbClr val="C8A45D"/>
            </a:solidFill>
            <a:effectLst/>
          </c:spPr>
          <c:invertIfNegative val="0"/>
          <c:cat>
            <c:strRef>
              <c:f>Sheet1!$A$2:$A$6</c:f>
              <c:strCache>
                <c:ptCount val="5"/>
                <c:pt idx="0">
                  <c:v>Maintenance</c:v>
                </c:pt>
                <c:pt idx="1">
                  <c:v>API Vision</c:v>
                </c:pt>
                <c:pt idx="2">
                  <c:v>Backend</c:v>
                </c:pt>
                <c:pt idx="3">
                  <c:v>Logs/Monitoring</c:v>
                </c:pt>
                <c:pt idx="4">
                  <c:v>Stockage</c:v>
                </c:pt>
              </c:strCache>
            </c:strRef>
          </c:cat>
          <c:val>
            <c:numRef>
              <c:f>Sheet1!$B$2:$B$6</c:f>
              <c:numCache>
                <c:formatCode>General</c:formatCode>
                <c:ptCount val="5"/>
                <c:pt idx="0">
                  <c:v>4500</c:v>
                </c:pt>
                <c:pt idx="1">
                  <c:v>400</c:v>
                </c:pt>
                <c:pt idx="2">
                  <c:v>200</c:v>
                </c:pt>
                <c:pt idx="3">
                  <c:v>100</c:v>
                </c:pt>
                <c:pt idx="4">
                  <c:v>10</c:v>
                </c:pt>
              </c:numCache>
            </c:numRef>
          </c:val>
          <c:extLst>
            <c:ext xmlns:c16="http://schemas.microsoft.com/office/drawing/2014/chart" uri="{C3380CC4-5D6E-409C-BE32-E72D297353CC}">
              <c16:uniqueId val="{00000000-BFB9-4566-8B53-244A6438012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Net mensuel</c:v>
                </c:pt>
              </c:strCache>
            </c:strRef>
          </c:tx>
          <c:spPr>
            <a:solidFill>
              <a:srgbClr val="0B132B"/>
            </a:solidFill>
            <a:effectLst/>
          </c:spPr>
          <c:invertIfNegative val="0"/>
          <c:cat>
            <c:strRef>
              <c:f>Sheet1!$A$2:$A$3</c:f>
              <c:strCache>
                <c:ptCount val="2"/>
                <c:pt idx="0">
                  <c:v>Optimiste</c:v>
                </c:pt>
                <c:pt idx="1">
                  <c:v>Pessimiste</c:v>
                </c:pt>
              </c:strCache>
            </c:strRef>
          </c:cat>
          <c:val>
            <c:numRef>
              <c:f>Sheet1!$B$2:$B$3</c:f>
              <c:numCache>
                <c:formatCode>General</c:formatCode>
                <c:ptCount val="2"/>
                <c:pt idx="0">
                  <c:v>13690</c:v>
                </c:pt>
                <c:pt idx="1">
                  <c:v>-4634</c:v>
                </c:pt>
              </c:numCache>
            </c:numRef>
          </c:val>
          <c:extLst>
            <c:ext xmlns:c16="http://schemas.microsoft.com/office/drawing/2014/chart" uri="{C3380CC4-5D6E-409C-BE32-E72D297353CC}">
              <c16:uniqueId val="{00000000-C207-43BD-9EC8-CE50349A2AB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2"/>
        <c:crosses val="autoZero"/>
        <c:auto val="1"/>
        <c:lblAlgn val="ctr"/>
        <c:lblOffset val="100"/>
        <c:noMultiLvlLbl val="1"/>
      </c:catAx>
      <c:valAx>
        <c:axId val="2094734552"/>
        <c:scaling>
          <c:orientation val="minMax"/>
          <c:max val="16000"/>
          <c:min val="-6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Cumul (€)</c:v>
                </c:pt>
              </c:strCache>
            </c:strRef>
          </c:tx>
          <c:spPr>
            <a:ln w="25400" cap="flat">
              <a:solidFill>
                <a:srgbClr val="0B132B"/>
              </a:solidFill>
              <a:prstDash val="solid"/>
              <a:round/>
            </a:ln>
            <a:effectLst/>
          </c:spPr>
          <c:marker>
            <c:symbol val="circle"/>
            <c:size val="6"/>
            <c:spPr>
              <a:solidFill>
                <a:srgbClr val="0B132B"/>
              </a:solidFill>
              <a:ln w="9525" cap="flat">
                <a:solidFill>
                  <a:srgbClr val="0B132B"/>
                </a:solidFill>
                <a:prstDash val="solid"/>
                <a:round/>
              </a:ln>
              <a:effectLst/>
            </c:spPr>
          </c:marker>
          <c:cat>
            <c:strRef>
              <c:f>Sheet1!$A$2:$A$14</c:f>
              <c:strCache>
                <c:ptCount val="13"/>
                <c:pt idx="0">
                  <c:v>M0</c:v>
                </c:pt>
                <c:pt idx="1">
                  <c:v>M1</c:v>
                </c:pt>
                <c:pt idx="2">
                  <c:v>M2</c:v>
                </c:pt>
                <c:pt idx="3">
                  <c:v>M3</c:v>
                </c:pt>
                <c:pt idx="4">
                  <c:v>M4</c:v>
                </c:pt>
                <c:pt idx="5">
                  <c:v>M5</c:v>
                </c:pt>
                <c:pt idx="6">
                  <c:v>M6</c:v>
                </c:pt>
                <c:pt idx="7">
                  <c:v>M7</c:v>
                </c:pt>
                <c:pt idx="8">
                  <c:v>M8</c:v>
                </c:pt>
                <c:pt idx="9">
                  <c:v>M9</c:v>
                </c:pt>
                <c:pt idx="10">
                  <c:v>M10</c:v>
                </c:pt>
                <c:pt idx="11">
                  <c:v>M11</c:v>
                </c:pt>
                <c:pt idx="12">
                  <c:v>M12</c:v>
                </c:pt>
              </c:strCache>
            </c:strRef>
          </c:cat>
          <c:val>
            <c:numRef>
              <c:f>Sheet1!$B$2:$B$14</c:f>
              <c:numCache>
                <c:formatCode>General</c:formatCode>
                <c:ptCount val="13"/>
                <c:pt idx="0">
                  <c:v>-70885</c:v>
                </c:pt>
                <c:pt idx="1">
                  <c:v>-57195</c:v>
                </c:pt>
                <c:pt idx="2">
                  <c:v>-43505</c:v>
                </c:pt>
                <c:pt idx="3">
                  <c:v>-29815</c:v>
                </c:pt>
                <c:pt idx="4">
                  <c:v>-16125</c:v>
                </c:pt>
                <c:pt idx="5">
                  <c:v>-2435</c:v>
                </c:pt>
                <c:pt idx="6">
                  <c:v>11255</c:v>
                </c:pt>
                <c:pt idx="7">
                  <c:v>24945</c:v>
                </c:pt>
                <c:pt idx="8">
                  <c:v>38635</c:v>
                </c:pt>
                <c:pt idx="9">
                  <c:v>52325</c:v>
                </c:pt>
                <c:pt idx="10">
                  <c:v>66015</c:v>
                </c:pt>
                <c:pt idx="11">
                  <c:v>79705</c:v>
                </c:pt>
                <c:pt idx="12">
                  <c:v>93395</c:v>
                </c:pt>
              </c:numCache>
            </c:numRef>
          </c:val>
          <c:smooth val="0"/>
          <c:extLst>
            <c:ext xmlns:c16="http://schemas.microsoft.com/office/drawing/2014/chart" uri="{C3380CC4-5D6E-409C-BE32-E72D297353CC}">
              <c16:uniqueId val="{00000000-7FAB-4B4A-93A5-6008BC5DC1F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2"/>
        <c:crosses val="autoZero"/>
        <c:auto val="1"/>
        <c:lblAlgn val="ctr"/>
        <c:lblOffset val="100"/>
        <c:noMultiLvlLbl val="1"/>
      </c:catAx>
      <c:valAx>
        <c:axId val="2094734552"/>
        <c:scaling>
          <c:orientation val="minMax"/>
          <c:max val="100000"/>
          <c:min val="-80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50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90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rgbClr val="101B3A"/>
          </a:solidFill>
          <a:ln w="12700">
            <a:solidFill>
              <a:srgbClr val="101B3A"/>
            </a:solidFill>
            <a:prstDash val="solid"/>
          </a:ln>
        </p:spPr>
        <p:txBody>
          <a:bodyPr/>
          <a:lstStyle/>
          <a:p>
            <a:endParaRPr/>
          </a:p>
        </p:txBody>
      </p:sp>
      <p:sp>
        <p:nvSpPr>
          <p:cNvPr id="3" name="Shape 1"/>
          <p:cNvSpPr/>
          <p:nvPr/>
        </p:nvSpPr>
        <p:spPr>
          <a:xfrm>
            <a:off x="0" y="0"/>
            <a:ext cx="164592" cy="6858000"/>
          </a:xfrm>
          <a:prstGeom prst="rect">
            <a:avLst/>
          </a:prstGeom>
          <a:solidFill>
            <a:srgbClr val="C8A45D"/>
          </a:solidFill>
          <a:ln w="12700">
            <a:solidFill>
              <a:srgbClr val="C8A45D"/>
            </a:solidFill>
            <a:prstDash val="solid"/>
          </a:ln>
        </p:spPr>
        <p:txBody>
          <a:bodyPr/>
          <a:lstStyle/>
          <a:p>
            <a:endParaRPr/>
          </a:p>
        </p:txBody>
      </p:sp>
      <p:sp>
        <p:nvSpPr>
          <p:cNvPr id="4" name="Text 2"/>
          <p:cNvSpPr/>
          <p:nvPr/>
        </p:nvSpPr>
        <p:spPr>
          <a:xfrm>
            <a:off x="822960" y="1143000"/>
            <a:ext cx="10972800" cy="73152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Fashion‑Insta</a:t>
            </a:r>
            <a:endParaRPr lang="en-US" sz="4400" dirty="0"/>
          </a:p>
        </p:txBody>
      </p:sp>
      <p:sp>
        <p:nvSpPr>
          <p:cNvPr id="5" name="Text 3"/>
          <p:cNvSpPr/>
          <p:nvPr/>
        </p:nvSpPr>
        <p:spPr>
          <a:xfrm>
            <a:off x="822960" y="1965960"/>
            <a:ext cx="10972800" cy="640080"/>
          </a:xfrm>
          <a:prstGeom prst="rect">
            <a:avLst/>
          </a:prstGeom>
          <a:noFill/>
          <a:ln/>
        </p:spPr>
        <p:txBody>
          <a:bodyPr wrap="square" rtlCol="0" anchor="ctr"/>
          <a:lstStyle/>
          <a:p>
            <a:pPr marL="0" indent="0">
              <a:buNone/>
            </a:pPr>
            <a:r>
              <a:rPr lang="en-US" sz="2000" dirty="0">
                <a:solidFill>
                  <a:srgbClr val="E3CF9A"/>
                </a:solidFill>
                <a:latin typeface="Calibri" pitchFamily="34" charset="0"/>
                <a:ea typeface="Calibri" pitchFamily="34" charset="-122"/>
                <a:cs typeface="Calibri" pitchFamily="34" charset="-120"/>
              </a:rPr>
              <a:t>Application mobile de recommandation d’articles à partir d’une photo</a:t>
            </a:r>
            <a:endParaRPr lang="en-US" sz="2000" dirty="0"/>
          </a:p>
        </p:txBody>
      </p:sp>
      <p:sp>
        <p:nvSpPr>
          <p:cNvPr id="6" name="Shape 4"/>
          <p:cNvSpPr/>
          <p:nvPr/>
        </p:nvSpPr>
        <p:spPr>
          <a:xfrm>
            <a:off x="822960" y="2880360"/>
            <a:ext cx="7315200" cy="1143000"/>
          </a:xfrm>
          <a:prstGeom prst="roundRect">
            <a:avLst/>
          </a:prstGeom>
          <a:solidFill>
            <a:srgbClr val="FFFFFF"/>
          </a:solidFill>
          <a:ln w="12700">
            <a:solidFill>
              <a:srgbClr val="FFFFFF"/>
            </a:solidFill>
            <a:prstDash val="solid"/>
          </a:ln>
          <a:effectLst>
            <a:outerShdw blurRad="25400" dist="22860" dir="2700000" algn="bl" rotWithShape="0">
              <a:srgbClr val="000000">
                <a:alpha val="18000"/>
              </a:srgbClr>
            </a:outerShdw>
          </a:effectLst>
        </p:spPr>
        <p:txBody>
          <a:bodyPr/>
          <a:lstStyle/>
          <a:p>
            <a:endParaRPr/>
          </a:p>
        </p:txBody>
      </p:sp>
      <p:sp>
        <p:nvSpPr>
          <p:cNvPr id="7" name="Text 5"/>
          <p:cNvSpPr/>
          <p:nvPr/>
        </p:nvSpPr>
        <p:spPr>
          <a:xfrm>
            <a:off x="1097280" y="2999232"/>
            <a:ext cx="6766560" cy="256032"/>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Présentation au Comité Exécutif (COMEX)</a:t>
            </a:r>
            <a:endParaRPr lang="en-US" sz="1600" dirty="0"/>
          </a:p>
        </p:txBody>
      </p:sp>
      <p:sp>
        <p:nvSpPr>
          <p:cNvPr id="8" name="Text 6"/>
          <p:cNvSpPr/>
          <p:nvPr/>
        </p:nvSpPr>
        <p:spPr>
          <a:xfrm>
            <a:off x="1097280" y="3291840"/>
            <a:ext cx="6766560" cy="256032"/>
          </a:xfrm>
          <a:prstGeom prst="rect">
            <a:avLst/>
          </a:prstGeom>
          <a:noFill/>
          <a:ln/>
        </p:spPr>
        <p:txBody>
          <a:bodyPr wrap="square" rtlCol="0" anchor="ctr"/>
          <a:lstStyle/>
          <a:p>
            <a:pPr marL="0" indent="0">
              <a:buNone/>
            </a:pPr>
            <a:r>
              <a:rPr lang="en-US" sz="1300" dirty="0">
                <a:solidFill>
                  <a:srgbClr val="44506A"/>
                </a:solidFill>
                <a:latin typeface="Calibri" pitchFamily="34" charset="0"/>
                <a:ea typeface="Calibri" pitchFamily="34" charset="-122"/>
                <a:cs typeface="Calibri" pitchFamily="34" charset="-120"/>
              </a:rPr>
              <a:t>Cadrage du MVP (8 semaines) • Déploiement sur Microsoft Azure</a:t>
            </a:r>
            <a:endParaRPr lang="en-US" sz="1300" dirty="0"/>
          </a:p>
        </p:txBody>
      </p:sp>
      <p:sp>
        <p:nvSpPr>
          <p:cNvPr id="9" name="Text 7"/>
          <p:cNvSpPr/>
          <p:nvPr/>
        </p:nvSpPr>
        <p:spPr>
          <a:xfrm>
            <a:off x="1097280" y="3566160"/>
            <a:ext cx="676656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Auteur : Victor • Master IA (Data) • OpenClassrooms</a:t>
            </a:r>
            <a:endParaRPr lang="en-US" sz="1200" dirty="0"/>
          </a:p>
        </p:txBody>
      </p:sp>
      <p:sp>
        <p:nvSpPr>
          <p:cNvPr id="10" name="Text 8"/>
          <p:cNvSpPr/>
          <p:nvPr/>
        </p:nvSpPr>
        <p:spPr>
          <a:xfrm>
            <a:off x="822960" y="6236208"/>
            <a:ext cx="11155680" cy="457200"/>
          </a:xfrm>
          <a:prstGeom prst="rect">
            <a:avLst/>
          </a:prstGeom>
          <a:noFill/>
          <a:ln/>
        </p:spPr>
        <p:txBody>
          <a:bodyPr wrap="square" rtlCol="0" anchor="ctr"/>
          <a:lstStyle/>
          <a:p>
            <a:pPr marL="0" indent="0">
              <a:buNone/>
            </a:pPr>
            <a:r>
              <a:rPr lang="en-US" sz="1400" dirty="0">
                <a:solidFill>
                  <a:srgbClr val="E3CF9A"/>
                </a:solidFill>
                <a:latin typeface="Calibri" pitchFamily="34" charset="0"/>
                <a:ea typeface="Calibri" pitchFamily="34" charset="-122"/>
                <a:cs typeface="Calibri" pitchFamily="34" charset="-120"/>
              </a:rPr>
              <a:t>Objectif : valider le lancement du MVP et son cadre (coûts, méthode, conformité, risques).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Pourquoi ce projet ?</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COMEX • Synthèse</a:t>
            </a:r>
            <a:endParaRPr lang="en-US" sz="1200" dirty="0"/>
          </a:p>
        </p:txBody>
      </p:sp>
      <p:sp>
        <p:nvSpPr>
          <p:cNvPr id="5" name="Shape 3"/>
          <p:cNvSpPr/>
          <p:nvPr/>
        </p:nvSpPr>
        <p:spPr>
          <a:xfrm>
            <a:off x="731520" y="1097280"/>
            <a:ext cx="10744200" cy="507492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2245995"/>
          </a:xfrm>
          <a:prstGeom prst="rect">
            <a:avLst/>
          </a:prstGeom>
          <a:noFill/>
          <a:ln/>
        </p:spPr>
        <p:txBody>
          <a:bodyPr wrap="square" rtlCol="0" anchor="t"/>
          <a:lstStyle/>
          <a:p>
            <a:pPr marL="0" indent="0">
              <a:buNone/>
            </a:pPr>
            <a:r>
              <a:rPr lang="en-US" sz="1500" dirty="0">
                <a:solidFill>
                  <a:srgbClr val="1B1E28"/>
                </a:solidFill>
                <a:latin typeface="Calibri" pitchFamily="34" charset="0"/>
                <a:ea typeface="Calibri" pitchFamily="34" charset="-122"/>
                <a:cs typeface="Calibri" pitchFamily="34" charset="-120"/>
              </a:rPr>
              <a:t>Fashion‑Insta vend des vêtements en magasin et en e‑commerce. Aujourd’hui, retrouver un article ‘dans le même style’ demande souvent du temps (recherche texte, filtres, navigation). L’idée du projet est de proposer une recherche plus naturelle : la photo.</a:t>
            </a:r>
            <a:endParaRPr lang="en-US" sz="1500" dirty="0"/>
          </a:p>
          <a:p>
            <a:pPr marL="0" indent="0">
              <a:buNone/>
            </a:pPr>
            <a:endParaRPr lang="en-US" sz="1500" dirty="0"/>
          </a:p>
          <a:p>
            <a:pPr marL="0" indent="0">
              <a:buNone/>
            </a:pPr>
            <a:r>
              <a:rPr lang="en-US" sz="1500" dirty="0">
                <a:solidFill>
                  <a:srgbClr val="1B1E28"/>
                </a:solidFill>
                <a:latin typeface="Calibri" pitchFamily="34" charset="0"/>
                <a:ea typeface="Calibri" pitchFamily="34" charset="-122"/>
                <a:cs typeface="Calibri" pitchFamily="34" charset="-120"/>
              </a:rPr>
              <a:t>L’utilisateur prend une photo de sa tenue et l’application propose des articles proches dans le catalogue. L’ambition du MVP n’est pas de ‘comprendre la mode’ dans tous ses détails : on vise un premier produit simple, mesurable et améliorable.</a:t>
            </a:r>
            <a:endParaRPr lang="en-US" sz="1500" dirty="0"/>
          </a:p>
        </p:txBody>
      </p:sp>
      <p:sp>
        <p:nvSpPr>
          <p:cNvPr id="7" name="Shape 5"/>
          <p:cNvSpPr/>
          <p:nvPr/>
        </p:nvSpPr>
        <p:spPr>
          <a:xfrm>
            <a:off x="1097280" y="5120640"/>
            <a:ext cx="2788920" cy="105156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8" name="Shape 6"/>
          <p:cNvSpPr/>
          <p:nvPr/>
        </p:nvSpPr>
        <p:spPr>
          <a:xfrm>
            <a:off x="1097280" y="5120640"/>
            <a:ext cx="73152" cy="1051560"/>
          </a:xfrm>
          <a:prstGeom prst="rect">
            <a:avLst/>
          </a:prstGeom>
          <a:solidFill>
            <a:srgbClr val="C8A45D"/>
          </a:solidFill>
          <a:ln w="12700">
            <a:solidFill>
              <a:srgbClr val="C8A45D"/>
            </a:solidFill>
            <a:prstDash val="solid"/>
          </a:ln>
        </p:spPr>
        <p:txBody>
          <a:bodyPr/>
          <a:lstStyle/>
          <a:p>
            <a:endParaRPr/>
          </a:p>
        </p:txBody>
      </p:sp>
      <p:sp>
        <p:nvSpPr>
          <p:cNvPr id="9" name="Text 7"/>
          <p:cNvSpPr/>
          <p:nvPr/>
        </p:nvSpPr>
        <p:spPr>
          <a:xfrm>
            <a:off x="1261872" y="5212080"/>
            <a:ext cx="246888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Objectif business</a:t>
            </a:r>
            <a:endParaRPr lang="en-US" sz="1200" dirty="0"/>
          </a:p>
        </p:txBody>
      </p:sp>
      <p:sp>
        <p:nvSpPr>
          <p:cNvPr id="10" name="Text 8"/>
          <p:cNvSpPr/>
          <p:nvPr/>
        </p:nvSpPr>
        <p:spPr>
          <a:xfrm>
            <a:off x="1261872" y="5422392"/>
            <a:ext cx="246888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Conversion</a:t>
            </a:r>
            <a:endParaRPr lang="en-US" sz="2800" dirty="0"/>
          </a:p>
        </p:txBody>
      </p:sp>
      <p:sp>
        <p:nvSpPr>
          <p:cNvPr id="11" name="Text 9"/>
          <p:cNvSpPr/>
          <p:nvPr/>
        </p:nvSpPr>
        <p:spPr>
          <a:xfrm>
            <a:off x="1261872" y="5879592"/>
            <a:ext cx="246888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Augmenter l’achat via la recommandation</a:t>
            </a:r>
            <a:endParaRPr lang="en-US" sz="1000" dirty="0"/>
          </a:p>
        </p:txBody>
      </p:sp>
      <p:sp>
        <p:nvSpPr>
          <p:cNvPr id="12" name="Shape 10"/>
          <p:cNvSpPr/>
          <p:nvPr/>
        </p:nvSpPr>
        <p:spPr>
          <a:xfrm>
            <a:off x="4069080" y="5120640"/>
            <a:ext cx="2788920" cy="105156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3" name="Shape 11"/>
          <p:cNvSpPr/>
          <p:nvPr/>
        </p:nvSpPr>
        <p:spPr>
          <a:xfrm>
            <a:off x="4069080" y="5120640"/>
            <a:ext cx="73152" cy="1051560"/>
          </a:xfrm>
          <a:prstGeom prst="rect">
            <a:avLst/>
          </a:prstGeom>
          <a:solidFill>
            <a:srgbClr val="C8A45D"/>
          </a:solidFill>
          <a:ln w="12700">
            <a:solidFill>
              <a:srgbClr val="C8A45D"/>
            </a:solidFill>
            <a:prstDash val="solid"/>
          </a:ln>
        </p:spPr>
        <p:txBody>
          <a:bodyPr/>
          <a:lstStyle/>
          <a:p>
            <a:endParaRPr/>
          </a:p>
        </p:txBody>
      </p:sp>
      <p:sp>
        <p:nvSpPr>
          <p:cNvPr id="14" name="Text 12"/>
          <p:cNvSpPr/>
          <p:nvPr/>
        </p:nvSpPr>
        <p:spPr>
          <a:xfrm>
            <a:off x="4233672" y="5212080"/>
            <a:ext cx="246888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Objectif produit</a:t>
            </a:r>
            <a:endParaRPr lang="en-US" sz="1200" dirty="0"/>
          </a:p>
        </p:txBody>
      </p:sp>
      <p:sp>
        <p:nvSpPr>
          <p:cNvPr id="15" name="Text 13"/>
          <p:cNvSpPr/>
          <p:nvPr/>
        </p:nvSpPr>
        <p:spPr>
          <a:xfrm>
            <a:off x="4233672" y="5422392"/>
            <a:ext cx="246888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Photo → Reco</a:t>
            </a:r>
            <a:endParaRPr lang="en-US" sz="2800" dirty="0"/>
          </a:p>
        </p:txBody>
      </p:sp>
      <p:sp>
        <p:nvSpPr>
          <p:cNvPr id="16" name="Text 14"/>
          <p:cNvSpPr/>
          <p:nvPr/>
        </p:nvSpPr>
        <p:spPr>
          <a:xfrm>
            <a:off x="4233672" y="5879592"/>
            <a:ext cx="246888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Un parcours fluide en moins de 10 sec</a:t>
            </a:r>
            <a:endParaRPr lang="en-US" sz="1000" dirty="0"/>
          </a:p>
        </p:txBody>
      </p:sp>
      <p:sp>
        <p:nvSpPr>
          <p:cNvPr id="17" name="Shape 15"/>
          <p:cNvSpPr/>
          <p:nvPr/>
        </p:nvSpPr>
        <p:spPr>
          <a:xfrm>
            <a:off x="7040880" y="5120640"/>
            <a:ext cx="2788920" cy="105156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8" name="Shape 16"/>
          <p:cNvSpPr/>
          <p:nvPr/>
        </p:nvSpPr>
        <p:spPr>
          <a:xfrm>
            <a:off x="7040880" y="5120640"/>
            <a:ext cx="73152" cy="1051560"/>
          </a:xfrm>
          <a:prstGeom prst="rect">
            <a:avLst/>
          </a:prstGeom>
          <a:solidFill>
            <a:srgbClr val="C8A45D"/>
          </a:solidFill>
          <a:ln w="12700">
            <a:solidFill>
              <a:srgbClr val="C8A45D"/>
            </a:solidFill>
            <a:prstDash val="solid"/>
          </a:ln>
        </p:spPr>
        <p:txBody>
          <a:bodyPr/>
          <a:lstStyle/>
          <a:p>
            <a:endParaRPr/>
          </a:p>
        </p:txBody>
      </p:sp>
      <p:sp>
        <p:nvSpPr>
          <p:cNvPr id="19" name="Text 17"/>
          <p:cNvSpPr/>
          <p:nvPr/>
        </p:nvSpPr>
        <p:spPr>
          <a:xfrm>
            <a:off x="7205472" y="5212080"/>
            <a:ext cx="246888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Contraintes</a:t>
            </a:r>
            <a:endParaRPr lang="en-US" sz="1200" dirty="0"/>
          </a:p>
        </p:txBody>
      </p:sp>
      <p:sp>
        <p:nvSpPr>
          <p:cNvPr id="20" name="Text 18"/>
          <p:cNvSpPr/>
          <p:nvPr/>
        </p:nvSpPr>
        <p:spPr>
          <a:xfrm>
            <a:off x="7205472" y="5422392"/>
            <a:ext cx="246888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RGPD</a:t>
            </a:r>
            <a:endParaRPr lang="en-US" sz="2800" dirty="0"/>
          </a:p>
        </p:txBody>
      </p:sp>
      <p:sp>
        <p:nvSpPr>
          <p:cNvPr id="21" name="Text 19"/>
          <p:cNvSpPr/>
          <p:nvPr/>
        </p:nvSpPr>
        <p:spPr>
          <a:xfrm>
            <a:off x="7205472" y="5879592"/>
            <a:ext cx="246888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Consentement, sécurité, suppression</a:t>
            </a:r>
            <a:endParaRPr lang="en-US" sz="1000" dirty="0"/>
          </a:p>
        </p:txBody>
      </p:sp>
      <p:sp>
        <p:nvSpPr>
          <p:cNvPr id="22" name="Shape 2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3" name="Text 2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4" name="Text 2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Objectifs du MVP (8 semaines)</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Ce que l’on veut prouver</a:t>
            </a:r>
            <a:endParaRPr lang="en-US" sz="1200" dirty="0"/>
          </a:p>
        </p:txBody>
      </p:sp>
      <p:sp>
        <p:nvSpPr>
          <p:cNvPr id="5" name="Shape 3"/>
          <p:cNvSpPr/>
          <p:nvPr/>
        </p:nvSpPr>
        <p:spPr>
          <a:xfrm>
            <a:off x="731520" y="1097280"/>
            <a:ext cx="534924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475488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Objectifs produit</a:t>
            </a:r>
            <a:endParaRPr lang="en-US" sz="1800" dirty="0"/>
          </a:p>
        </p:txBody>
      </p:sp>
      <p:sp>
        <p:nvSpPr>
          <p:cNvPr id="7" name="Text 5"/>
          <p:cNvSpPr/>
          <p:nvPr/>
        </p:nvSpPr>
        <p:spPr>
          <a:xfrm>
            <a:off x="1097280" y="1783080"/>
            <a:ext cx="4754880" cy="118364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Permettre de prendre / importer une photo de tenue.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Donner une liste d’articles similaires du catalogue, avec filtres simples (taille, prix, disponibilité).</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Conserver un historique (“garde‑robe”) et permettre la suppression.</a:t>
            </a:r>
            <a:endParaRPr lang="en-US" sz="1400" dirty="0"/>
          </a:p>
        </p:txBody>
      </p:sp>
      <p:sp>
        <p:nvSpPr>
          <p:cNvPr id="8" name="Shape 6"/>
          <p:cNvSpPr/>
          <p:nvPr/>
        </p:nvSpPr>
        <p:spPr>
          <a:xfrm>
            <a:off x="6446520" y="1097280"/>
            <a:ext cx="5029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9" name="Text 7"/>
          <p:cNvSpPr/>
          <p:nvPr/>
        </p:nvSpPr>
        <p:spPr>
          <a:xfrm>
            <a:off x="6812280" y="1325880"/>
            <a:ext cx="448056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Indicateurs (KPI) à suivre</a:t>
            </a:r>
            <a:endParaRPr lang="en-US" sz="1800" dirty="0"/>
          </a:p>
        </p:txBody>
      </p:sp>
      <p:sp>
        <p:nvSpPr>
          <p:cNvPr id="10" name="Text 8"/>
          <p:cNvSpPr/>
          <p:nvPr/>
        </p:nvSpPr>
        <p:spPr>
          <a:xfrm>
            <a:off x="6812280" y="1783080"/>
            <a:ext cx="448056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Adoption : utilisateurs actifs mensuels (MAU) et taux d’usage de la photo.</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Impact : uplift (gain de commandes) et panier moyen (AOV).</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Qualité : taux de photos refusées (flou/lumière), satisfaction (feedback).</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Exploitation : latence, disponibilité, coûts Azure, incidents de sécurité.</a:t>
            </a:r>
            <a:endParaRPr lang="en-US" sz="1400" dirty="0"/>
          </a:p>
        </p:txBody>
      </p:sp>
      <p:sp>
        <p:nvSpPr>
          <p:cNvPr id="11" name="Shape 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2" name="Text 1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3" name="Text 1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3/26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Parcours utilisateur (MVP)</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De la photo à l’achat</a:t>
            </a:r>
            <a:endParaRPr lang="en-US" sz="1200" dirty="0"/>
          </a:p>
        </p:txBody>
      </p:sp>
      <p:sp>
        <p:nvSpPr>
          <p:cNvPr id="5" name="Shape 3"/>
          <p:cNvSpPr/>
          <p:nvPr/>
        </p:nvSpPr>
        <p:spPr>
          <a:xfrm>
            <a:off x="822960" y="1828800"/>
            <a:ext cx="1965960" cy="2926080"/>
          </a:xfrm>
          <a:prstGeom prst="roundRect">
            <a:avLst/>
          </a:prstGeom>
          <a:solidFill>
            <a:srgbClr val="FFFFFF"/>
          </a:solidFill>
          <a:ln w="12700">
            <a:solidFill>
              <a:srgbClr val="E6E0D6"/>
            </a:solidFill>
            <a:prstDash val="solid"/>
          </a:ln>
          <a:effectLst>
            <a:outerShdw blurRad="25400" dist="15240" dir="2700000" algn="bl" rotWithShape="0">
              <a:srgbClr val="000000">
                <a:alpha val="10000"/>
              </a:srgbClr>
            </a:outerShdw>
          </a:effectLst>
        </p:spPr>
        <p:txBody>
          <a:bodyPr/>
          <a:lstStyle/>
          <a:p>
            <a:endParaRPr/>
          </a:p>
        </p:txBody>
      </p:sp>
      <p:sp>
        <p:nvSpPr>
          <p:cNvPr id="6" name="Shape 4"/>
          <p:cNvSpPr/>
          <p:nvPr/>
        </p:nvSpPr>
        <p:spPr>
          <a:xfrm>
            <a:off x="987552" y="2057400"/>
            <a:ext cx="1636776" cy="594360"/>
          </a:xfrm>
          <a:prstGeom prst="roundRect">
            <a:avLst/>
          </a:prstGeom>
          <a:solidFill>
            <a:srgbClr val="0B132B"/>
          </a:solidFill>
          <a:ln w="12700">
            <a:solidFill>
              <a:srgbClr val="0B132B"/>
            </a:solidFill>
            <a:prstDash val="solid"/>
          </a:ln>
        </p:spPr>
        <p:txBody>
          <a:bodyPr/>
          <a:lstStyle/>
          <a:p>
            <a:endParaRPr/>
          </a:p>
        </p:txBody>
      </p:sp>
      <p:sp>
        <p:nvSpPr>
          <p:cNvPr id="7" name="Text 5"/>
          <p:cNvSpPr/>
          <p:nvPr/>
        </p:nvSpPr>
        <p:spPr>
          <a:xfrm>
            <a:off x="1051560" y="2176272"/>
            <a:ext cx="1508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Photo</a:t>
            </a:r>
            <a:endParaRPr lang="en-US" sz="1400" dirty="0"/>
          </a:p>
        </p:txBody>
      </p:sp>
      <p:sp>
        <p:nvSpPr>
          <p:cNvPr id="8" name="Text 6"/>
          <p:cNvSpPr/>
          <p:nvPr/>
        </p:nvSpPr>
        <p:spPr>
          <a:xfrm>
            <a:off x="1097280" y="2788920"/>
            <a:ext cx="1417320" cy="1737360"/>
          </a:xfrm>
          <a:prstGeom prst="rect">
            <a:avLst/>
          </a:prstGeom>
          <a:noFill/>
          <a:ln/>
        </p:spPr>
        <p:txBody>
          <a:bodyPr wrap="square" rtlCol="0" anchor="t"/>
          <a:lstStyle/>
          <a:p>
            <a:pPr marL="0" indent="0" algn="ctr">
              <a:buNone/>
            </a:pPr>
            <a:r>
              <a:rPr lang="en-US" sz="1300" dirty="0">
                <a:solidFill>
                  <a:srgbClr val="1B1E28"/>
                </a:solidFill>
                <a:latin typeface="Calibri" pitchFamily="34" charset="0"/>
                <a:ea typeface="Calibri" pitchFamily="34" charset="-122"/>
                <a:cs typeface="Calibri" pitchFamily="34" charset="-120"/>
              </a:rPr>
              <a:t>Prise / import + consentement</a:t>
            </a:r>
            <a:endParaRPr lang="en-US" sz="1300" dirty="0"/>
          </a:p>
        </p:txBody>
      </p:sp>
      <p:sp>
        <p:nvSpPr>
          <p:cNvPr id="9" name="Shape 7"/>
          <p:cNvSpPr/>
          <p:nvPr/>
        </p:nvSpPr>
        <p:spPr>
          <a:xfrm>
            <a:off x="2788920" y="3063240"/>
            <a:ext cx="137160" cy="457200"/>
          </a:xfrm>
          <a:prstGeom prst="rightArrow">
            <a:avLst/>
          </a:prstGeom>
          <a:solidFill>
            <a:srgbClr val="C8A45D"/>
          </a:solidFill>
          <a:ln w="12700">
            <a:solidFill>
              <a:srgbClr val="C8A45D"/>
            </a:solidFill>
            <a:prstDash val="solid"/>
          </a:ln>
        </p:spPr>
        <p:txBody>
          <a:bodyPr/>
          <a:lstStyle/>
          <a:p>
            <a:endParaRPr/>
          </a:p>
        </p:txBody>
      </p:sp>
      <p:sp>
        <p:nvSpPr>
          <p:cNvPr id="10" name="Shape 8"/>
          <p:cNvSpPr/>
          <p:nvPr/>
        </p:nvSpPr>
        <p:spPr>
          <a:xfrm>
            <a:off x="2926080" y="1828800"/>
            <a:ext cx="1965960" cy="2926080"/>
          </a:xfrm>
          <a:prstGeom prst="roundRect">
            <a:avLst/>
          </a:prstGeom>
          <a:solidFill>
            <a:srgbClr val="FFFFFF"/>
          </a:solidFill>
          <a:ln w="12700">
            <a:solidFill>
              <a:srgbClr val="E6E0D6"/>
            </a:solidFill>
            <a:prstDash val="solid"/>
          </a:ln>
          <a:effectLst>
            <a:outerShdw blurRad="25400" dist="15240" dir="2700000" algn="bl" rotWithShape="0">
              <a:srgbClr val="000000">
                <a:alpha val="10000"/>
              </a:srgbClr>
            </a:outerShdw>
          </a:effectLst>
        </p:spPr>
        <p:txBody>
          <a:bodyPr/>
          <a:lstStyle/>
          <a:p>
            <a:endParaRPr/>
          </a:p>
        </p:txBody>
      </p:sp>
      <p:sp>
        <p:nvSpPr>
          <p:cNvPr id="11" name="Shape 9"/>
          <p:cNvSpPr/>
          <p:nvPr/>
        </p:nvSpPr>
        <p:spPr>
          <a:xfrm>
            <a:off x="3090672" y="2057400"/>
            <a:ext cx="1636776" cy="594360"/>
          </a:xfrm>
          <a:prstGeom prst="roundRect">
            <a:avLst/>
          </a:prstGeom>
          <a:solidFill>
            <a:srgbClr val="0B132B"/>
          </a:solidFill>
          <a:ln w="12700">
            <a:solidFill>
              <a:srgbClr val="0B132B"/>
            </a:solidFill>
            <a:prstDash val="solid"/>
          </a:ln>
        </p:spPr>
        <p:txBody>
          <a:bodyPr/>
          <a:lstStyle/>
          <a:p>
            <a:endParaRPr/>
          </a:p>
        </p:txBody>
      </p:sp>
      <p:sp>
        <p:nvSpPr>
          <p:cNvPr id="12" name="Text 10"/>
          <p:cNvSpPr/>
          <p:nvPr/>
        </p:nvSpPr>
        <p:spPr>
          <a:xfrm>
            <a:off x="3154680" y="2176272"/>
            <a:ext cx="1508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 Qualité</a:t>
            </a:r>
            <a:endParaRPr lang="en-US" sz="1400" dirty="0"/>
          </a:p>
        </p:txBody>
      </p:sp>
      <p:sp>
        <p:nvSpPr>
          <p:cNvPr id="13" name="Text 11"/>
          <p:cNvSpPr/>
          <p:nvPr/>
        </p:nvSpPr>
        <p:spPr>
          <a:xfrm>
            <a:off x="3200400" y="2788920"/>
            <a:ext cx="1417320" cy="1737360"/>
          </a:xfrm>
          <a:prstGeom prst="rect">
            <a:avLst/>
          </a:prstGeom>
          <a:noFill/>
          <a:ln/>
        </p:spPr>
        <p:txBody>
          <a:bodyPr wrap="square" rtlCol="0" anchor="t"/>
          <a:lstStyle/>
          <a:p>
            <a:pPr marL="0" indent="0" algn="ctr">
              <a:buNone/>
            </a:pPr>
            <a:r>
              <a:rPr lang="en-US" sz="1300" dirty="0">
                <a:solidFill>
                  <a:srgbClr val="1B1E28"/>
                </a:solidFill>
                <a:latin typeface="Calibri" pitchFamily="34" charset="0"/>
                <a:ea typeface="Calibri" pitchFamily="34" charset="-122"/>
                <a:cs typeface="Calibri" pitchFamily="34" charset="-120"/>
              </a:rPr>
              <a:t>Vérifie flou, lumière, cadrage</a:t>
            </a:r>
            <a:endParaRPr lang="en-US" sz="1300" dirty="0"/>
          </a:p>
        </p:txBody>
      </p:sp>
      <p:sp>
        <p:nvSpPr>
          <p:cNvPr id="14" name="Shape 12"/>
          <p:cNvSpPr/>
          <p:nvPr/>
        </p:nvSpPr>
        <p:spPr>
          <a:xfrm>
            <a:off x="4892040" y="3063240"/>
            <a:ext cx="137160" cy="457200"/>
          </a:xfrm>
          <a:prstGeom prst="rightArrow">
            <a:avLst/>
          </a:prstGeom>
          <a:solidFill>
            <a:srgbClr val="C8A45D"/>
          </a:solidFill>
          <a:ln w="12700">
            <a:solidFill>
              <a:srgbClr val="C8A45D"/>
            </a:solidFill>
            <a:prstDash val="solid"/>
          </a:ln>
        </p:spPr>
        <p:txBody>
          <a:bodyPr/>
          <a:lstStyle/>
          <a:p>
            <a:endParaRPr/>
          </a:p>
        </p:txBody>
      </p:sp>
      <p:sp>
        <p:nvSpPr>
          <p:cNvPr id="15" name="Shape 13"/>
          <p:cNvSpPr/>
          <p:nvPr/>
        </p:nvSpPr>
        <p:spPr>
          <a:xfrm>
            <a:off x="5029200" y="1828800"/>
            <a:ext cx="1965960" cy="2926080"/>
          </a:xfrm>
          <a:prstGeom prst="roundRect">
            <a:avLst/>
          </a:prstGeom>
          <a:solidFill>
            <a:srgbClr val="FFFFFF"/>
          </a:solidFill>
          <a:ln w="12700">
            <a:solidFill>
              <a:srgbClr val="E6E0D6"/>
            </a:solidFill>
            <a:prstDash val="solid"/>
          </a:ln>
          <a:effectLst>
            <a:outerShdw blurRad="25400" dist="15240" dir="2700000" algn="bl" rotWithShape="0">
              <a:srgbClr val="000000">
                <a:alpha val="10000"/>
              </a:srgbClr>
            </a:outerShdw>
          </a:effectLst>
        </p:spPr>
        <p:txBody>
          <a:bodyPr/>
          <a:lstStyle/>
          <a:p>
            <a:endParaRPr/>
          </a:p>
        </p:txBody>
      </p:sp>
      <p:sp>
        <p:nvSpPr>
          <p:cNvPr id="16" name="Shape 14"/>
          <p:cNvSpPr/>
          <p:nvPr/>
        </p:nvSpPr>
        <p:spPr>
          <a:xfrm>
            <a:off x="5193792" y="2057400"/>
            <a:ext cx="1636776" cy="594360"/>
          </a:xfrm>
          <a:prstGeom prst="roundRect">
            <a:avLst/>
          </a:prstGeom>
          <a:solidFill>
            <a:srgbClr val="0B132B"/>
          </a:solidFill>
          <a:ln w="12700">
            <a:solidFill>
              <a:srgbClr val="0B132B"/>
            </a:solidFill>
            <a:prstDash val="solid"/>
          </a:ln>
        </p:spPr>
        <p:txBody>
          <a:bodyPr/>
          <a:lstStyle/>
          <a:p>
            <a:endParaRPr/>
          </a:p>
        </p:txBody>
      </p:sp>
      <p:sp>
        <p:nvSpPr>
          <p:cNvPr id="17" name="Text 15"/>
          <p:cNvSpPr/>
          <p:nvPr/>
        </p:nvSpPr>
        <p:spPr>
          <a:xfrm>
            <a:off x="5257800" y="2176272"/>
            <a:ext cx="1508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 Analyse</a:t>
            </a:r>
            <a:endParaRPr lang="en-US" sz="1400" dirty="0"/>
          </a:p>
        </p:txBody>
      </p:sp>
      <p:sp>
        <p:nvSpPr>
          <p:cNvPr id="18" name="Text 16"/>
          <p:cNvSpPr/>
          <p:nvPr/>
        </p:nvSpPr>
        <p:spPr>
          <a:xfrm>
            <a:off x="5303520" y="2788920"/>
            <a:ext cx="1417320" cy="1737360"/>
          </a:xfrm>
          <a:prstGeom prst="rect">
            <a:avLst/>
          </a:prstGeom>
          <a:noFill/>
          <a:ln/>
        </p:spPr>
        <p:txBody>
          <a:bodyPr wrap="square" rtlCol="0" anchor="t"/>
          <a:lstStyle/>
          <a:p>
            <a:pPr marL="0" indent="0" algn="ctr">
              <a:buNone/>
            </a:pPr>
            <a:r>
              <a:rPr lang="en-US" sz="1300" dirty="0">
                <a:solidFill>
                  <a:srgbClr val="1B1E28"/>
                </a:solidFill>
                <a:latin typeface="Calibri" pitchFamily="34" charset="0"/>
                <a:ea typeface="Calibri" pitchFamily="34" charset="-122"/>
                <a:cs typeface="Calibri" pitchFamily="34" charset="-120"/>
              </a:rPr>
              <a:t>Catégorie + couleurs + “signature”</a:t>
            </a:r>
            <a:endParaRPr lang="en-US" sz="1300" dirty="0"/>
          </a:p>
        </p:txBody>
      </p:sp>
      <p:sp>
        <p:nvSpPr>
          <p:cNvPr id="19" name="Shape 17"/>
          <p:cNvSpPr/>
          <p:nvPr/>
        </p:nvSpPr>
        <p:spPr>
          <a:xfrm>
            <a:off x="6995160" y="3063240"/>
            <a:ext cx="137160" cy="457200"/>
          </a:xfrm>
          <a:prstGeom prst="rightArrow">
            <a:avLst/>
          </a:prstGeom>
          <a:solidFill>
            <a:srgbClr val="C8A45D"/>
          </a:solidFill>
          <a:ln w="12700">
            <a:solidFill>
              <a:srgbClr val="C8A45D"/>
            </a:solidFill>
            <a:prstDash val="solid"/>
          </a:ln>
        </p:spPr>
        <p:txBody>
          <a:bodyPr/>
          <a:lstStyle/>
          <a:p>
            <a:endParaRPr/>
          </a:p>
        </p:txBody>
      </p:sp>
      <p:sp>
        <p:nvSpPr>
          <p:cNvPr id="20" name="Shape 18"/>
          <p:cNvSpPr/>
          <p:nvPr/>
        </p:nvSpPr>
        <p:spPr>
          <a:xfrm>
            <a:off x="7132320" y="1828800"/>
            <a:ext cx="1965960" cy="2926080"/>
          </a:xfrm>
          <a:prstGeom prst="roundRect">
            <a:avLst/>
          </a:prstGeom>
          <a:solidFill>
            <a:srgbClr val="FFFFFF"/>
          </a:solidFill>
          <a:ln w="12700">
            <a:solidFill>
              <a:srgbClr val="E6E0D6"/>
            </a:solidFill>
            <a:prstDash val="solid"/>
          </a:ln>
          <a:effectLst>
            <a:outerShdw blurRad="25400" dist="15240" dir="2700000" algn="bl" rotWithShape="0">
              <a:srgbClr val="000000">
                <a:alpha val="10000"/>
              </a:srgbClr>
            </a:outerShdw>
          </a:effectLst>
        </p:spPr>
        <p:txBody>
          <a:bodyPr/>
          <a:lstStyle/>
          <a:p>
            <a:endParaRPr/>
          </a:p>
        </p:txBody>
      </p:sp>
      <p:sp>
        <p:nvSpPr>
          <p:cNvPr id="21" name="Shape 19"/>
          <p:cNvSpPr/>
          <p:nvPr/>
        </p:nvSpPr>
        <p:spPr>
          <a:xfrm>
            <a:off x="7296912" y="2057400"/>
            <a:ext cx="1636776" cy="594360"/>
          </a:xfrm>
          <a:prstGeom prst="roundRect">
            <a:avLst/>
          </a:prstGeom>
          <a:solidFill>
            <a:srgbClr val="0B132B"/>
          </a:solidFill>
          <a:ln w="12700">
            <a:solidFill>
              <a:srgbClr val="0B132B"/>
            </a:solidFill>
            <a:prstDash val="solid"/>
          </a:ln>
        </p:spPr>
        <p:txBody>
          <a:bodyPr/>
          <a:lstStyle/>
          <a:p>
            <a:endParaRPr/>
          </a:p>
        </p:txBody>
      </p:sp>
      <p:sp>
        <p:nvSpPr>
          <p:cNvPr id="22" name="Text 20"/>
          <p:cNvSpPr/>
          <p:nvPr/>
        </p:nvSpPr>
        <p:spPr>
          <a:xfrm>
            <a:off x="7360920" y="2176272"/>
            <a:ext cx="1508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 Reco</a:t>
            </a:r>
            <a:endParaRPr lang="en-US" sz="1400" dirty="0"/>
          </a:p>
        </p:txBody>
      </p:sp>
      <p:sp>
        <p:nvSpPr>
          <p:cNvPr id="23" name="Text 21"/>
          <p:cNvSpPr/>
          <p:nvPr/>
        </p:nvSpPr>
        <p:spPr>
          <a:xfrm>
            <a:off x="7406640" y="2788920"/>
            <a:ext cx="1417320" cy="1737360"/>
          </a:xfrm>
          <a:prstGeom prst="rect">
            <a:avLst/>
          </a:prstGeom>
          <a:noFill/>
          <a:ln/>
        </p:spPr>
        <p:txBody>
          <a:bodyPr wrap="square" rtlCol="0" anchor="t"/>
          <a:lstStyle/>
          <a:p>
            <a:pPr marL="0" indent="0" algn="ctr">
              <a:buNone/>
            </a:pPr>
            <a:r>
              <a:rPr lang="en-US" sz="1300" dirty="0">
                <a:solidFill>
                  <a:srgbClr val="1B1E28"/>
                </a:solidFill>
                <a:latin typeface="Calibri" pitchFamily="34" charset="0"/>
                <a:ea typeface="Calibri" pitchFamily="34" charset="-122"/>
                <a:cs typeface="Calibri" pitchFamily="34" charset="-120"/>
              </a:rPr>
              <a:t>Recherche des articles proches</a:t>
            </a:r>
            <a:endParaRPr lang="en-US" sz="1300" dirty="0"/>
          </a:p>
        </p:txBody>
      </p:sp>
      <p:sp>
        <p:nvSpPr>
          <p:cNvPr id="24" name="Shape 22"/>
          <p:cNvSpPr/>
          <p:nvPr/>
        </p:nvSpPr>
        <p:spPr>
          <a:xfrm>
            <a:off x="9098280" y="3063240"/>
            <a:ext cx="137160" cy="457200"/>
          </a:xfrm>
          <a:prstGeom prst="rightArrow">
            <a:avLst/>
          </a:prstGeom>
          <a:solidFill>
            <a:srgbClr val="C8A45D"/>
          </a:solidFill>
          <a:ln w="12700">
            <a:solidFill>
              <a:srgbClr val="C8A45D"/>
            </a:solidFill>
            <a:prstDash val="solid"/>
          </a:ln>
        </p:spPr>
        <p:txBody>
          <a:bodyPr/>
          <a:lstStyle/>
          <a:p>
            <a:endParaRPr/>
          </a:p>
        </p:txBody>
      </p:sp>
      <p:sp>
        <p:nvSpPr>
          <p:cNvPr id="25" name="Shape 23"/>
          <p:cNvSpPr/>
          <p:nvPr/>
        </p:nvSpPr>
        <p:spPr>
          <a:xfrm>
            <a:off x="9235440" y="1828800"/>
            <a:ext cx="1965960" cy="2926080"/>
          </a:xfrm>
          <a:prstGeom prst="roundRect">
            <a:avLst/>
          </a:prstGeom>
          <a:solidFill>
            <a:srgbClr val="FFFFFF"/>
          </a:solidFill>
          <a:ln w="12700">
            <a:solidFill>
              <a:srgbClr val="E6E0D6"/>
            </a:solidFill>
            <a:prstDash val="solid"/>
          </a:ln>
          <a:effectLst>
            <a:outerShdw blurRad="25400" dist="15240" dir="2700000" algn="bl" rotWithShape="0">
              <a:srgbClr val="000000">
                <a:alpha val="10000"/>
              </a:srgbClr>
            </a:outerShdw>
          </a:effectLst>
        </p:spPr>
        <p:txBody>
          <a:bodyPr/>
          <a:lstStyle/>
          <a:p>
            <a:endParaRPr/>
          </a:p>
        </p:txBody>
      </p:sp>
      <p:sp>
        <p:nvSpPr>
          <p:cNvPr id="26" name="Shape 24"/>
          <p:cNvSpPr/>
          <p:nvPr/>
        </p:nvSpPr>
        <p:spPr>
          <a:xfrm>
            <a:off x="9400032" y="2057400"/>
            <a:ext cx="1636776" cy="594360"/>
          </a:xfrm>
          <a:prstGeom prst="roundRect">
            <a:avLst/>
          </a:prstGeom>
          <a:solidFill>
            <a:srgbClr val="0B132B"/>
          </a:solidFill>
          <a:ln w="12700">
            <a:solidFill>
              <a:srgbClr val="0B132B"/>
            </a:solidFill>
            <a:prstDash val="solid"/>
          </a:ln>
        </p:spPr>
        <p:txBody>
          <a:bodyPr/>
          <a:lstStyle/>
          <a:p>
            <a:endParaRPr/>
          </a:p>
        </p:txBody>
      </p:sp>
      <p:sp>
        <p:nvSpPr>
          <p:cNvPr id="27" name="Text 25"/>
          <p:cNvSpPr/>
          <p:nvPr/>
        </p:nvSpPr>
        <p:spPr>
          <a:xfrm>
            <a:off x="9464040" y="2176272"/>
            <a:ext cx="1508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 Achat</a:t>
            </a:r>
            <a:endParaRPr lang="en-US" sz="1400" dirty="0"/>
          </a:p>
        </p:txBody>
      </p:sp>
      <p:sp>
        <p:nvSpPr>
          <p:cNvPr id="28" name="Text 26"/>
          <p:cNvSpPr/>
          <p:nvPr/>
        </p:nvSpPr>
        <p:spPr>
          <a:xfrm>
            <a:off x="9509760" y="2788920"/>
            <a:ext cx="1417320" cy="1737360"/>
          </a:xfrm>
          <a:prstGeom prst="rect">
            <a:avLst/>
          </a:prstGeom>
          <a:noFill/>
          <a:ln/>
        </p:spPr>
        <p:txBody>
          <a:bodyPr wrap="square" rtlCol="0" anchor="t"/>
          <a:lstStyle/>
          <a:p>
            <a:pPr marL="0" indent="0" algn="ctr">
              <a:buNone/>
            </a:pPr>
            <a:r>
              <a:rPr lang="en-US" sz="1300" dirty="0">
                <a:solidFill>
                  <a:srgbClr val="1B1E28"/>
                </a:solidFill>
                <a:latin typeface="Calibri" pitchFamily="34" charset="0"/>
                <a:ea typeface="Calibri" pitchFamily="34" charset="-122"/>
                <a:cs typeface="Calibri" pitchFamily="34" charset="-120"/>
              </a:rPr>
              <a:t>Fiche produit et disponibilité</a:t>
            </a:r>
            <a:endParaRPr lang="en-US" sz="1300" dirty="0"/>
          </a:p>
        </p:txBody>
      </p:sp>
      <p:sp>
        <p:nvSpPr>
          <p:cNvPr id="29" name="Text 27"/>
          <p:cNvSpPr/>
          <p:nvPr/>
        </p:nvSpPr>
        <p:spPr>
          <a:xfrm>
            <a:off x="822960" y="5074920"/>
            <a:ext cx="11064240" cy="1005840"/>
          </a:xfrm>
          <a:prstGeom prst="rect">
            <a:avLst/>
          </a:prstGeom>
          <a:noFill/>
          <a:ln/>
        </p:spPr>
        <p:txBody>
          <a:bodyPr wrap="square" rtlCol="0" anchor="ctr"/>
          <a:lstStyle/>
          <a:p>
            <a:pPr marL="0" indent="0">
              <a:buNone/>
            </a:pPr>
            <a:r>
              <a:rPr lang="en-US" sz="1400" dirty="0">
                <a:solidFill>
                  <a:srgbClr val="44506A"/>
                </a:solidFill>
                <a:latin typeface="Calibri" pitchFamily="34" charset="0"/>
                <a:ea typeface="Calibri" pitchFamily="34" charset="-122"/>
                <a:cs typeface="Calibri" pitchFamily="34" charset="-120"/>
              </a:rPr>
              <a:t>Le MVP vise un parcours simple, rapide et mesurable. Les étapes ‘qualité’ et ‘consentement’ évitent de produire des recommandations trompeuses, et protègent l’utilisateur dès le départ.</a:t>
            </a:r>
            <a:endParaRPr lang="en-US" sz="1400" dirty="0"/>
          </a:p>
        </p:txBody>
      </p:sp>
      <p:sp>
        <p:nvSpPr>
          <p:cNvPr id="30" name="Shape 28"/>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1" name="Text 29"/>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2" name="Text 30"/>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4/26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Périmètre du MVP</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Ce que l’on livre (et ce que l’on garde pour plus tard)</a:t>
            </a:r>
            <a:endParaRPr lang="en-US" sz="1200" dirty="0"/>
          </a:p>
        </p:txBody>
      </p:sp>
      <p:sp>
        <p:nvSpPr>
          <p:cNvPr id="5" name="Shape 3"/>
          <p:cNvSpPr/>
          <p:nvPr/>
        </p:nvSpPr>
        <p:spPr>
          <a:xfrm>
            <a:off x="731520" y="1097280"/>
            <a:ext cx="566928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5120640" cy="320040"/>
          </a:xfrm>
          <a:prstGeom prst="rect">
            <a:avLst/>
          </a:prstGeom>
          <a:noFill/>
          <a:ln/>
        </p:spPr>
        <p:txBody>
          <a:bodyPr wrap="square" rtlCol="0" anchor="ctr"/>
          <a:lstStyle/>
          <a:p>
            <a:pPr marL="0" indent="0">
              <a:buNone/>
            </a:pPr>
            <a:r>
              <a:rPr lang="en-US" sz="1800" b="1" dirty="0">
                <a:solidFill>
                  <a:srgbClr val="1E8449"/>
                </a:solidFill>
                <a:latin typeface="Calibri" pitchFamily="34" charset="0"/>
                <a:ea typeface="Calibri" pitchFamily="34" charset="-122"/>
                <a:cs typeface="Calibri" pitchFamily="34" charset="-120"/>
              </a:rPr>
              <a:t>Dans le MVP (8 semaines)</a:t>
            </a:r>
            <a:endParaRPr lang="en-US" sz="1800" dirty="0"/>
          </a:p>
        </p:txBody>
      </p:sp>
      <p:sp>
        <p:nvSpPr>
          <p:cNvPr id="7" name="Text 5"/>
          <p:cNvSpPr/>
          <p:nvPr/>
        </p:nvSpPr>
        <p:spPr>
          <a:xfrm>
            <a:off x="1097280" y="1783080"/>
            <a:ext cx="5212080" cy="1797050"/>
          </a:xfrm>
          <a:prstGeom prst="rect">
            <a:avLst/>
          </a:prstGeom>
          <a:noFill/>
          <a:ln/>
        </p:spPr>
        <p:txBody>
          <a:bodyPr wrap="square" rtlCol="0" anchor="t"/>
          <a:lstStyle/>
          <a:p>
            <a:pPr marL="177800" indent="-177800">
              <a:spcAft>
                <a:spcPts val="800"/>
              </a:spcAft>
              <a:buSzPct val="100000"/>
              <a:buChar char="•"/>
            </a:pPr>
            <a:r>
              <a:rPr sz="1400">
                <a:solidFill>
                  <a:srgbClr val="1B1E28"/>
                </a:solidFill>
                <a:latin typeface="Calibri"/>
              </a:rPr>
              <a:t>Prise/import photo + contrôle qualité (flou, lumière).</a:t>
            </a:r>
            <a:endParaRPr lang="en-US" sz="1400" dirty="0"/>
          </a:p>
          <a:p>
            <a:pPr marL="177800" indent="-177800">
              <a:spcAft>
                <a:spcPts val="800"/>
              </a:spcAft>
              <a:buSzPct val="100000"/>
              <a:buChar char="•"/>
            </a:pPr>
            <a:r>
              <a:rPr sz="1400">
                <a:solidFill>
                  <a:srgbClr val="1B1E28"/>
                </a:solidFill>
                <a:latin typeface="Calibri"/>
              </a:rPr>
              <a:t>Analyse simple : catégorie + couleurs dominantes.</a:t>
            </a:r>
          </a:p>
          <a:p>
            <a:pPr marL="177800" indent="-177800">
              <a:spcAft>
                <a:spcPts val="800"/>
              </a:spcAft>
              <a:buSzPct val="100000"/>
              <a:buChar char="•"/>
            </a:pPr>
            <a:r>
              <a:rPr sz="1400">
                <a:solidFill>
                  <a:srgbClr val="1B1E28"/>
                </a:solidFill>
                <a:latin typeface="Calibri"/>
              </a:rPr>
              <a:t>“Signature” d’image (embedding) + recherche de similarité.</a:t>
            </a:r>
          </a:p>
          <a:p>
            <a:pPr marL="177800" indent="-177800">
              <a:spcAft>
                <a:spcPts val="800"/>
              </a:spcAft>
              <a:buSzPct val="100000"/>
              <a:buChar char="•"/>
            </a:pPr>
            <a:r>
              <a:rPr sz="1400">
                <a:solidFill>
                  <a:srgbClr val="1B1E28"/>
                </a:solidFill>
                <a:latin typeface="Calibri"/>
              </a:rPr>
              <a:t>Recommandations (top‑N) + filtres + fiche produit.</a:t>
            </a:r>
          </a:p>
          <a:p>
            <a:pPr marL="177800" indent="-177800">
              <a:spcAft>
                <a:spcPts val="800"/>
              </a:spcAft>
              <a:buSzPct val="100000"/>
              <a:buChar char="•"/>
            </a:pPr>
            <a:r>
              <a:rPr sz="1400">
                <a:solidFill>
                  <a:srgbClr val="1B1E28"/>
                </a:solidFill>
                <a:latin typeface="Calibri"/>
              </a:rPr>
              <a:t>Garde‑robe + feedback + règles simples pour mieux classer les résultats.</a:t>
            </a:r>
          </a:p>
          <a:p>
            <a:pPr marL="177800" indent="-177800">
              <a:spcAft>
                <a:spcPts val="800"/>
              </a:spcAft>
              <a:buSzPct val="100000"/>
              <a:buChar char="•"/>
            </a:pPr>
            <a:r>
              <a:rPr sz="1400">
                <a:solidFill>
                  <a:srgbClr val="1B1E28"/>
                </a:solidFill>
                <a:latin typeface="Calibri"/>
              </a:rPr>
              <a:t>Préférences de style/marque + recommandation simple sans photo.</a:t>
            </a:r>
          </a:p>
          <a:p>
            <a:pPr marL="177800" indent="-177800">
              <a:spcAft>
                <a:spcPts val="800"/>
              </a:spcAft>
              <a:buSzPct val="100000"/>
              <a:buChar char="•"/>
            </a:pPr>
            <a:r>
              <a:rPr sz="1400">
                <a:solidFill>
                  <a:srgbClr val="1B1E28"/>
                </a:solidFill>
                <a:latin typeface="Calibri"/>
              </a:rPr>
              <a:t>Modération simple + tableau de bord des métriques.</a:t>
            </a:r>
          </a:p>
          <a:p>
            <a:pPr marL="177800" indent="-177800">
              <a:spcAft>
                <a:spcPts val="800"/>
              </a:spcAft>
              <a:buSzPct val="100000"/>
              <a:buChar char="•"/>
            </a:pPr>
            <a:r>
              <a:rPr sz="1400">
                <a:solidFill>
                  <a:srgbClr val="1B1E28"/>
                </a:solidFill>
                <a:latin typeface="Calibri"/>
              </a:rPr>
              <a:t>RGPD : consentement + option floutage visage + suppression.</a:t>
            </a:r>
          </a:p>
        </p:txBody>
      </p:sp>
      <p:sp>
        <p:nvSpPr>
          <p:cNvPr id="8" name="Shape 6"/>
          <p:cNvSpPr/>
          <p:nvPr/>
        </p:nvSpPr>
        <p:spPr>
          <a:xfrm>
            <a:off x="6629400" y="1097280"/>
            <a:ext cx="484632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9" name="Text 7"/>
          <p:cNvSpPr/>
          <p:nvPr/>
        </p:nvSpPr>
        <p:spPr>
          <a:xfrm>
            <a:off x="6995160" y="1325880"/>
            <a:ext cx="4343400" cy="32004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Après le MVP (V2 / V3)</a:t>
            </a:r>
            <a:endParaRPr lang="en-US" sz="1800" dirty="0"/>
          </a:p>
        </p:txBody>
      </p:sp>
      <p:sp>
        <p:nvSpPr>
          <p:cNvPr id="10" name="Text 8"/>
          <p:cNvSpPr/>
          <p:nvPr/>
        </p:nvSpPr>
        <p:spPr>
          <a:xfrm>
            <a:off x="6995160" y="1783080"/>
            <a:ext cx="434340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Personnalisation avancée (goûts, historique d’achats).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Recommandations “style” très fines (matière, coupe, occasion).</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Essai virtuel / AR, looks complets, social shopping.</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Internationalisation et montée en charge à grande échelle.</a:t>
            </a:r>
            <a:endParaRPr lang="en-US" sz="1400" dirty="0"/>
          </a:p>
        </p:txBody>
      </p:sp>
      <p:sp>
        <p:nvSpPr>
          <p:cNvPr id="11" name="Shape 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2" name="Text 1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3" name="Text 1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5/26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Comment l’IA fonctionne (version simple)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Sans jargon</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Shape 4"/>
          <p:cNvSpPr/>
          <p:nvPr/>
        </p:nvSpPr>
        <p:spPr>
          <a:xfrm>
            <a:off x="1097280" y="1417320"/>
            <a:ext cx="3383280" cy="4160520"/>
          </a:xfrm>
          <a:prstGeom prst="roundRect">
            <a:avLst/>
          </a:prstGeom>
          <a:solidFill>
            <a:srgbClr val="F7F3EB"/>
          </a:solidFill>
          <a:ln w="12700">
            <a:solidFill>
              <a:srgbClr val="E6E0D6"/>
            </a:solidFill>
            <a:prstDash val="solid"/>
          </a:ln>
        </p:spPr>
        <p:txBody>
          <a:bodyPr/>
          <a:lstStyle/>
          <a:p>
            <a:endParaRPr/>
          </a:p>
        </p:txBody>
      </p:sp>
      <p:sp>
        <p:nvSpPr>
          <p:cNvPr id="7" name="Shape 5"/>
          <p:cNvSpPr/>
          <p:nvPr/>
        </p:nvSpPr>
        <p:spPr>
          <a:xfrm>
            <a:off x="1325880" y="1645920"/>
            <a:ext cx="2926080" cy="640080"/>
          </a:xfrm>
          <a:prstGeom prst="roundRect">
            <a:avLst/>
          </a:prstGeom>
          <a:solidFill>
            <a:srgbClr val="0B132B"/>
          </a:solidFill>
          <a:ln w="12700">
            <a:solidFill>
              <a:srgbClr val="0B132B"/>
            </a:solidFill>
            <a:prstDash val="solid"/>
          </a:ln>
        </p:spPr>
        <p:txBody>
          <a:bodyPr/>
          <a:lstStyle/>
          <a:p>
            <a:endParaRPr/>
          </a:p>
        </p:txBody>
      </p:sp>
      <p:sp>
        <p:nvSpPr>
          <p:cNvPr id="8" name="Text 6"/>
          <p:cNvSpPr/>
          <p:nvPr/>
        </p:nvSpPr>
        <p:spPr>
          <a:xfrm>
            <a:off x="1371600" y="1801368"/>
            <a:ext cx="2834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On lit la photo</a:t>
            </a:r>
            <a:endParaRPr lang="en-US" sz="1400" dirty="0"/>
          </a:p>
        </p:txBody>
      </p:sp>
      <p:sp>
        <p:nvSpPr>
          <p:cNvPr id="9" name="Text 7"/>
          <p:cNvSpPr/>
          <p:nvPr/>
        </p:nvSpPr>
        <p:spPr>
          <a:xfrm>
            <a:off x="1417320" y="2423160"/>
            <a:ext cx="2743200" cy="2743200"/>
          </a:xfrm>
          <a:prstGeom prst="rect">
            <a:avLst/>
          </a:prstGeom>
          <a:noFill/>
          <a:ln/>
        </p:spPr>
        <p:txBody>
          <a:bodyPr wrap="square" rtlCol="0" anchor="t"/>
          <a:lstStyle/>
          <a:p>
            <a:pPr marL="0" indent="0">
              <a:buNone/>
            </a:pPr>
            <a:r>
              <a:rPr lang="en-US" sz="1300" dirty="0">
                <a:solidFill>
                  <a:srgbClr val="1B1E28"/>
                </a:solidFill>
                <a:latin typeface="Calibri" pitchFamily="34" charset="0"/>
                <a:ea typeface="Calibri" pitchFamily="34" charset="-122"/>
                <a:cs typeface="Calibri" pitchFamily="34" charset="-120"/>
              </a:rPr>
              <a:t>On vérifie la qualité (flou, lumière) puis on extrait des informations simples : catégorie (ex : robe, jean) et couleurs dominantes.</a:t>
            </a:r>
            <a:endParaRPr lang="en-US" sz="1300" dirty="0"/>
          </a:p>
        </p:txBody>
      </p:sp>
      <p:sp>
        <p:nvSpPr>
          <p:cNvPr id="10" name="Shape 8"/>
          <p:cNvSpPr/>
          <p:nvPr/>
        </p:nvSpPr>
        <p:spPr>
          <a:xfrm>
            <a:off x="4553712" y="3291840"/>
            <a:ext cx="256032" cy="502920"/>
          </a:xfrm>
          <a:prstGeom prst="rightArrow">
            <a:avLst/>
          </a:prstGeom>
          <a:solidFill>
            <a:srgbClr val="C8A45D"/>
          </a:solidFill>
          <a:ln w="12700">
            <a:solidFill>
              <a:srgbClr val="C8A45D"/>
            </a:solidFill>
            <a:prstDash val="solid"/>
          </a:ln>
        </p:spPr>
        <p:txBody>
          <a:bodyPr/>
          <a:lstStyle/>
          <a:p>
            <a:endParaRPr/>
          </a:p>
        </p:txBody>
      </p:sp>
      <p:sp>
        <p:nvSpPr>
          <p:cNvPr id="11" name="Shape 9"/>
          <p:cNvSpPr/>
          <p:nvPr/>
        </p:nvSpPr>
        <p:spPr>
          <a:xfrm>
            <a:off x="4892040" y="1417320"/>
            <a:ext cx="3383280" cy="4160520"/>
          </a:xfrm>
          <a:prstGeom prst="roundRect">
            <a:avLst/>
          </a:prstGeom>
          <a:solidFill>
            <a:srgbClr val="F7F3EB"/>
          </a:solidFill>
          <a:ln w="12700">
            <a:solidFill>
              <a:srgbClr val="E6E0D6"/>
            </a:solidFill>
            <a:prstDash val="solid"/>
          </a:ln>
        </p:spPr>
        <p:txBody>
          <a:bodyPr/>
          <a:lstStyle/>
          <a:p>
            <a:endParaRPr/>
          </a:p>
        </p:txBody>
      </p:sp>
      <p:sp>
        <p:nvSpPr>
          <p:cNvPr id="12" name="Shape 10"/>
          <p:cNvSpPr/>
          <p:nvPr/>
        </p:nvSpPr>
        <p:spPr>
          <a:xfrm>
            <a:off x="5120640" y="1645920"/>
            <a:ext cx="2926080" cy="640080"/>
          </a:xfrm>
          <a:prstGeom prst="roundRect">
            <a:avLst/>
          </a:prstGeom>
          <a:solidFill>
            <a:srgbClr val="0B132B"/>
          </a:solidFill>
          <a:ln w="12700">
            <a:solidFill>
              <a:srgbClr val="0B132B"/>
            </a:solidFill>
            <a:prstDash val="solid"/>
          </a:ln>
        </p:spPr>
        <p:txBody>
          <a:bodyPr/>
          <a:lstStyle/>
          <a:p>
            <a:endParaRPr/>
          </a:p>
        </p:txBody>
      </p:sp>
      <p:sp>
        <p:nvSpPr>
          <p:cNvPr id="13" name="Text 11"/>
          <p:cNvSpPr/>
          <p:nvPr/>
        </p:nvSpPr>
        <p:spPr>
          <a:xfrm>
            <a:off x="5166360" y="1801368"/>
            <a:ext cx="2834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 On calcule une “signature”</a:t>
            </a:r>
            <a:endParaRPr lang="en-US" sz="1400" dirty="0"/>
          </a:p>
        </p:txBody>
      </p:sp>
      <p:sp>
        <p:nvSpPr>
          <p:cNvPr id="14" name="Text 12"/>
          <p:cNvSpPr/>
          <p:nvPr/>
        </p:nvSpPr>
        <p:spPr>
          <a:xfrm>
            <a:off x="5212080" y="2423160"/>
            <a:ext cx="2743200" cy="2743200"/>
          </a:xfrm>
          <a:prstGeom prst="rect">
            <a:avLst/>
          </a:prstGeom>
          <a:noFill/>
          <a:ln/>
        </p:spPr>
        <p:txBody>
          <a:bodyPr wrap="square" rtlCol="0" anchor="t"/>
          <a:lstStyle/>
          <a:p>
            <a:pPr marL="0" indent="0">
              <a:buNone/>
            </a:pPr>
            <a:r>
              <a:rPr lang="en-US" sz="1300" dirty="0">
                <a:solidFill>
                  <a:srgbClr val="1B1E28"/>
                </a:solidFill>
                <a:latin typeface="Calibri" pitchFamily="34" charset="0"/>
                <a:ea typeface="Calibri" pitchFamily="34" charset="-122"/>
                <a:cs typeface="Calibri" pitchFamily="34" charset="-120"/>
              </a:rPr>
              <a:t>On transforme la photo en une suite de nombres (embedding). Cette signature résume le style visuel de manière compacte.</a:t>
            </a:r>
            <a:endParaRPr lang="en-US" sz="1300" dirty="0"/>
          </a:p>
        </p:txBody>
      </p:sp>
      <p:sp>
        <p:nvSpPr>
          <p:cNvPr id="15" name="Shape 13"/>
          <p:cNvSpPr/>
          <p:nvPr/>
        </p:nvSpPr>
        <p:spPr>
          <a:xfrm>
            <a:off x="8348472" y="3291840"/>
            <a:ext cx="256032" cy="502920"/>
          </a:xfrm>
          <a:prstGeom prst="rightArrow">
            <a:avLst/>
          </a:prstGeom>
          <a:solidFill>
            <a:srgbClr val="C8A45D"/>
          </a:solidFill>
          <a:ln w="12700">
            <a:solidFill>
              <a:srgbClr val="C8A45D"/>
            </a:solidFill>
            <a:prstDash val="solid"/>
          </a:ln>
        </p:spPr>
        <p:txBody>
          <a:bodyPr/>
          <a:lstStyle/>
          <a:p>
            <a:endParaRPr/>
          </a:p>
        </p:txBody>
      </p:sp>
      <p:sp>
        <p:nvSpPr>
          <p:cNvPr id="16" name="Shape 14"/>
          <p:cNvSpPr/>
          <p:nvPr/>
        </p:nvSpPr>
        <p:spPr>
          <a:xfrm>
            <a:off x="8686800" y="1417320"/>
            <a:ext cx="3383280" cy="4160520"/>
          </a:xfrm>
          <a:prstGeom prst="roundRect">
            <a:avLst/>
          </a:prstGeom>
          <a:solidFill>
            <a:srgbClr val="F7F3EB"/>
          </a:solidFill>
          <a:ln w="12700">
            <a:solidFill>
              <a:srgbClr val="E6E0D6"/>
            </a:solidFill>
            <a:prstDash val="solid"/>
          </a:ln>
        </p:spPr>
        <p:txBody>
          <a:bodyPr/>
          <a:lstStyle/>
          <a:p>
            <a:endParaRPr/>
          </a:p>
        </p:txBody>
      </p:sp>
      <p:sp>
        <p:nvSpPr>
          <p:cNvPr id="17" name="Shape 15"/>
          <p:cNvSpPr/>
          <p:nvPr/>
        </p:nvSpPr>
        <p:spPr>
          <a:xfrm>
            <a:off x="8915400" y="1645920"/>
            <a:ext cx="2926080" cy="640080"/>
          </a:xfrm>
          <a:prstGeom prst="roundRect">
            <a:avLst/>
          </a:prstGeom>
          <a:solidFill>
            <a:srgbClr val="0B132B"/>
          </a:solidFill>
          <a:ln w="12700">
            <a:solidFill>
              <a:srgbClr val="0B132B"/>
            </a:solidFill>
            <a:prstDash val="solid"/>
          </a:ln>
        </p:spPr>
        <p:txBody>
          <a:bodyPr/>
          <a:lstStyle/>
          <a:p>
            <a:endParaRPr/>
          </a:p>
        </p:txBody>
      </p:sp>
      <p:sp>
        <p:nvSpPr>
          <p:cNvPr id="18" name="Text 16"/>
          <p:cNvSpPr/>
          <p:nvPr/>
        </p:nvSpPr>
        <p:spPr>
          <a:xfrm>
            <a:off x="8961120" y="1801368"/>
            <a:ext cx="2834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 On cherche les plus proches</a:t>
            </a:r>
            <a:endParaRPr lang="en-US" sz="1400" dirty="0"/>
          </a:p>
        </p:txBody>
      </p:sp>
      <p:sp>
        <p:nvSpPr>
          <p:cNvPr id="19" name="Text 17"/>
          <p:cNvSpPr/>
          <p:nvPr/>
        </p:nvSpPr>
        <p:spPr>
          <a:xfrm>
            <a:off x="9006840" y="2423160"/>
            <a:ext cx="2743200" cy="2743200"/>
          </a:xfrm>
          <a:prstGeom prst="rect">
            <a:avLst/>
          </a:prstGeom>
          <a:noFill/>
          <a:ln/>
        </p:spPr>
        <p:txBody>
          <a:bodyPr wrap="square" rtlCol="0" anchor="t"/>
          <a:lstStyle/>
          <a:p>
            <a:pPr marL="0" indent="0">
              <a:buNone/>
            </a:pPr>
            <a:r>
              <a:rPr lang="en-US" sz="1300" dirty="0">
                <a:solidFill>
                  <a:srgbClr val="1B1E28"/>
                </a:solidFill>
                <a:latin typeface="Calibri" pitchFamily="34" charset="0"/>
                <a:ea typeface="Calibri" pitchFamily="34" charset="-122"/>
                <a:cs typeface="Calibri" pitchFamily="34" charset="-120"/>
              </a:rPr>
              <a:t>On compare la signature de la photo aux signatures des produits du catalogue, et on renvoie les plus ressemblants (top‑N).</a:t>
            </a:r>
            <a:endParaRPr lang="en-US" sz="1300" dirty="0"/>
          </a:p>
        </p:txBody>
      </p:sp>
      <p:sp>
        <p:nvSpPr>
          <p:cNvPr id="20" name="Text 18"/>
          <p:cNvSpPr/>
          <p:nvPr/>
        </p:nvSpPr>
        <p:spPr>
          <a:xfrm>
            <a:off x="1097280" y="5715000"/>
            <a:ext cx="10058400" cy="54864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Définition utile : un ‘embedding’ est simplement une façon de résumer une image par une signature numérique. On ne cherche pas à reconnaître une personne, on cherche des ressemblances entre tenues.</a:t>
            </a:r>
            <a:endParaRPr lang="en-US" sz="1200" dirty="0"/>
          </a:p>
        </p:txBody>
      </p:sp>
      <p:sp>
        <p:nvSpPr>
          <p:cNvPr id="21" name="Shape 1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2" name="Text 2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3" name="Text 2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6/26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Backlog MVP et priorisation</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MoSCoW</a:t>
            </a:r>
            <a:endParaRPr lang="en-US" sz="1200" dirty="0"/>
          </a:p>
        </p:txBody>
      </p:sp>
      <p:sp>
        <p:nvSpPr>
          <p:cNvPr id="5" name="Shape 3"/>
          <p:cNvSpPr/>
          <p:nvPr/>
        </p:nvSpPr>
        <p:spPr>
          <a:xfrm>
            <a:off x="731520" y="1097280"/>
            <a:ext cx="566928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5120640" cy="32004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Règle simple</a:t>
            </a:r>
            <a:endParaRPr lang="en-US" sz="1800" dirty="0"/>
          </a:p>
        </p:txBody>
      </p:sp>
      <p:sp>
        <p:nvSpPr>
          <p:cNvPr id="7" name="Text 5"/>
          <p:cNvSpPr/>
          <p:nvPr/>
        </p:nvSpPr>
        <p:spPr>
          <a:xfrm>
            <a:off x="1097280" y="1737360"/>
            <a:ext cx="5120640" cy="1092200"/>
          </a:xfrm>
          <a:prstGeom prst="rect">
            <a:avLst/>
          </a:prstGeom>
          <a:noFill/>
          <a:ln/>
        </p:spPr>
        <p:txBody>
          <a:bodyPr wrap="square" rtlCol="0" anchor="t"/>
          <a:lstStyle/>
          <a:p>
            <a:pPr marL="0" indent="0">
              <a:buNone/>
            </a:pPr>
            <a:r>
              <a:rPr lang="en-US" sz="1400" dirty="0">
                <a:solidFill>
                  <a:srgbClr val="1B1E28"/>
                </a:solidFill>
                <a:latin typeface="Calibri" pitchFamily="34" charset="0"/>
                <a:ea typeface="Calibri" pitchFamily="34" charset="-122"/>
                <a:cs typeface="Calibri" pitchFamily="34" charset="-120"/>
              </a:rPr>
              <a:t>Pour tenir 8 semaines, on fixe un périmètre clair. Le MVP est défini comme : MUST + SHOULD. Si le temps manque, on protège d’abord MUST, et on décale le reste.</a:t>
            </a:r>
            <a:endParaRPr lang="en-US" sz="1400" dirty="0"/>
          </a:p>
        </p:txBody>
      </p:sp>
      <p:sp>
        <p:nvSpPr>
          <p:cNvPr id="8" name="Shape 6"/>
          <p:cNvSpPr/>
          <p:nvPr/>
        </p:nvSpPr>
        <p:spPr>
          <a:xfrm>
            <a:off x="1097280" y="3246120"/>
            <a:ext cx="5120640" cy="2697480"/>
          </a:xfrm>
          <a:prstGeom prst="roundRect">
            <a:avLst/>
          </a:prstGeom>
          <a:solidFill>
            <a:srgbClr val="F7F3EB"/>
          </a:solidFill>
          <a:ln w="12700">
            <a:solidFill>
              <a:srgbClr val="E6E0D6"/>
            </a:solidFill>
            <a:prstDash val="solid"/>
          </a:ln>
        </p:spPr>
        <p:txBody>
          <a:bodyPr/>
          <a:lstStyle/>
          <a:p>
            <a:endParaRPr/>
          </a:p>
        </p:txBody>
      </p:sp>
      <p:sp>
        <p:nvSpPr>
          <p:cNvPr id="9" name="Text 7"/>
          <p:cNvSpPr/>
          <p:nvPr/>
        </p:nvSpPr>
        <p:spPr>
          <a:xfrm>
            <a:off x="1325880" y="3429000"/>
            <a:ext cx="4663440" cy="27432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Définitions (MoSCoW)</a:t>
            </a:r>
            <a:endParaRPr lang="en-US" sz="1400" dirty="0"/>
          </a:p>
        </p:txBody>
      </p:sp>
      <p:sp>
        <p:nvSpPr>
          <p:cNvPr id="10" name="Text 8"/>
          <p:cNvSpPr/>
          <p:nvPr/>
        </p:nvSpPr>
        <p:spPr>
          <a:xfrm>
            <a:off x="1325880" y="3749040"/>
            <a:ext cx="4663440" cy="73152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MUST : indispensable • SHOULD : important • COULD : bonus • WON’T : pas maintenant</a:t>
            </a:r>
            <a:endParaRPr lang="en-US" sz="1200" dirty="0"/>
          </a:p>
        </p:txBody>
      </p:sp>
      <p:sp>
        <p:nvSpPr>
          <p:cNvPr id="11" name="Shape 9"/>
          <p:cNvSpPr/>
          <p:nvPr/>
        </p:nvSpPr>
        <p:spPr>
          <a:xfrm>
            <a:off x="6629400" y="1097280"/>
            <a:ext cx="484632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12" name="Text 10"/>
          <p:cNvSpPr/>
          <p:nvPr/>
        </p:nvSpPr>
        <p:spPr>
          <a:xfrm>
            <a:off x="6995160" y="1325880"/>
            <a:ext cx="4343400" cy="32004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Répartition du MVP</a:t>
            </a:r>
            <a:endParaRPr lang="en-US" sz="1800" dirty="0"/>
          </a:p>
        </p:txBody>
      </p:sp>
      <p:graphicFrame>
        <p:nvGraphicFramePr>
          <p:cNvPr id="13" name="Chart 0"/>
          <p:cNvGraphicFramePr/>
          <p:nvPr/>
        </p:nvGraphicFramePr>
        <p:xfrm>
          <a:off x="7086600" y="1783080"/>
          <a:ext cx="43891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6903720" y="4892040"/>
            <a:ext cx="22402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5" name="Shape 12"/>
          <p:cNvSpPr/>
          <p:nvPr/>
        </p:nvSpPr>
        <p:spPr>
          <a:xfrm>
            <a:off x="6903720" y="4892040"/>
            <a:ext cx="73152" cy="1234440"/>
          </a:xfrm>
          <a:prstGeom prst="rect">
            <a:avLst/>
          </a:prstGeom>
          <a:solidFill>
            <a:srgbClr val="C8A45D"/>
          </a:solidFill>
          <a:ln w="12700">
            <a:solidFill>
              <a:srgbClr val="C8A45D"/>
            </a:solidFill>
            <a:prstDash val="solid"/>
          </a:ln>
        </p:spPr>
        <p:txBody>
          <a:bodyPr/>
          <a:lstStyle/>
          <a:p>
            <a:endParaRPr/>
          </a:p>
        </p:txBody>
      </p:sp>
      <p:sp>
        <p:nvSpPr>
          <p:cNvPr id="16" name="Text 13"/>
          <p:cNvSpPr/>
          <p:nvPr/>
        </p:nvSpPr>
        <p:spPr>
          <a:xfrm>
            <a:off x="7068312" y="4983480"/>
            <a:ext cx="19202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Effort MVP</a:t>
            </a:r>
            <a:endParaRPr lang="en-US" sz="1200" dirty="0"/>
          </a:p>
        </p:txBody>
      </p:sp>
      <p:sp>
        <p:nvSpPr>
          <p:cNvPr id="17" name="Text 14"/>
          <p:cNvSpPr/>
          <p:nvPr/>
        </p:nvSpPr>
        <p:spPr>
          <a:xfrm>
            <a:off x="7068312" y="5193792"/>
            <a:ext cx="19202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115 SP</a:t>
            </a:r>
            <a:endParaRPr lang="en-US" sz="2800" dirty="0"/>
          </a:p>
        </p:txBody>
      </p:sp>
      <p:sp>
        <p:nvSpPr>
          <p:cNvPr id="18" name="Text 15"/>
          <p:cNvSpPr/>
          <p:nvPr/>
        </p:nvSpPr>
        <p:spPr>
          <a:xfrm>
            <a:off x="7068312" y="5833872"/>
            <a:ext cx="19202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 115 jours (sans marge)</a:t>
            </a:r>
            <a:endParaRPr lang="en-US" sz="1000" dirty="0"/>
          </a:p>
        </p:txBody>
      </p:sp>
      <p:sp>
        <p:nvSpPr>
          <p:cNvPr id="19" name="Shape 16"/>
          <p:cNvSpPr/>
          <p:nvPr/>
        </p:nvSpPr>
        <p:spPr>
          <a:xfrm>
            <a:off x="9235440" y="4892040"/>
            <a:ext cx="22402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20" name="Shape 17"/>
          <p:cNvSpPr/>
          <p:nvPr/>
        </p:nvSpPr>
        <p:spPr>
          <a:xfrm>
            <a:off x="9235440" y="4892040"/>
            <a:ext cx="73152" cy="1234440"/>
          </a:xfrm>
          <a:prstGeom prst="rect">
            <a:avLst/>
          </a:prstGeom>
          <a:solidFill>
            <a:srgbClr val="C8A45D"/>
          </a:solidFill>
          <a:ln w="12700">
            <a:solidFill>
              <a:srgbClr val="C8A45D"/>
            </a:solidFill>
            <a:prstDash val="solid"/>
          </a:ln>
        </p:spPr>
        <p:txBody>
          <a:bodyPr/>
          <a:lstStyle/>
          <a:p>
            <a:endParaRPr/>
          </a:p>
        </p:txBody>
      </p:sp>
      <p:sp>
        <p:nvSpPr>
          <p:cNvPr id="21" name="Text 18"/>
          <p:cNvSpPr/>
          <p:nvPr/>
        </p:nvSpPr>
        <p:spPr>
          <a:xfrm>
            <a:off x="9400032" y="4983480"/>
            <a:ext cx="19202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Planning</a:t>
            </a:r>
            <a:endParaRPr lang="en-US" sz="1200" dirty="0"/>
          </a:p>
        </p:txBody>
      </p:sp>
      <p:sp>
        <p:nvSpPr>
          <p:cNvPr id="22" name="Text 19"/>
          <p:cNvSpPr/>
          <p:nvPr/>
        </p:nvSpPr>
        <p:spPr>
          <a:xfrm>
            <a:off x="9400032" y="5193792"/>
            <a:ext cx="19202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4 sprints</a:t>
            </a:r>
            <a:endParaRPr lang="en-US" sz="2800" dirty="0"/>
          </a:p>
        </p:txBody>
      </p:sp>
      <p:sp>
        <p:nvSpPr>
          <p:cNvPr id="23" name="Text 20"/>
          <p:cNvSpPr/>
          <p:nvPr/>
        </p:nvSpPr>
        <p:spPr>
          <a:xfrm>
            <a:off x="9400032" y="5833872"/>
            <a:ext cx="19202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 8 semaines</a:t>
            </a:r>
            <a:endParaRPr lang="en-US" sz="1000" dirty="0"/>
          </a:p>
        </p:txBody>
      </p:sp>
      <p:sp>
        <p:nvSpPr>
          <p:cNvPr id="24" name="Shape 21"/>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5" name="Text 22"/>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6" name="Text 23"/>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7/26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5836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9728"/>
            <a:ext cx="8366760" cy="457200"/>
          </a:xfrm>
          <a:prstGeom prst="rect">
            <a:avLst/>
          </a:prstGeom>
          <a:noFill/>
        </p:spPr>
        <p:txBody>
          <a:bodyPr wrap="square">
            <a:spAutoFit/>
          </a:bodyPr>
          <a:lstStyle/>
          <a:p>
            <a:pPr algn="l"/>
            <a:r>
              <a:rPr sz="2200" b="1">
                <a:solidFill>
                  <a:srgbClr val="FFFFFF"/>
                </a:solidFill>
                <a:latin typeface="Calibri"/>
              </a:rPr>
              <a:t>Méthode MoSCoW : comment on priorise pour tenir le MVP</a:t>
            </a:r>
          </a:p>
        </p:txBody>
      </p:sp>
      <p:sp>
        <p:nvSpPr>
          <p:cNvPr id="4" name="TextBox 3"/>
          <p:cNvSpPr txBox="1"/>
          <p:nvPr/>
        </p:nvSpPr>
        <p:spPr>
          <a:xfrm>
            <a:off x="9098280" y="164592"/>
            <a:ext cx="2926080" cy="365760"/>
          </a:xfrm>
          <a:prstGeom prst="rect">
            <a:avLst/>
          </a:prstGeom>
          <a:noFill/>
        </p:spPr>
        <p:txBody>
          <a:bodyPr wrap="square">
            <a:spAutoFit/>
          </a:bodyPr>
          <a:lstStyle/>
          <a:p>
            <a:pPr algn="r"/>
            <a:r>
              <a:rPr sz="1200" b="0">
                <a:solidFill>
                  <a:srgbClr val="E3CF9A"/>
                </a:solidFill>
                <a:latin typeface="Calibri"/>
              </a:rPr>
              <a:t>Priorisation</a:t>
            </a:r>
          </a:p>
        </p:txBody>
      </p:sp>
      <p:sp>
        <p:nvSpPr>
          <p:cNvPr id="5" name="Rectangle 4"/>
          <p:cNvSpPr/>
          <p:nvPr/>
        </p:nvSpPr>
        <p:spPr>
          <a:xfrm>
            <a:off x="594360" y="886968"/>
            <a:ext cx="11003280" cy="914400"/>
          </a:xfrm>
          <a:prstGeom prst="rect">
            <a:avLst/>
          </a:prstGeom>
          <a:solidFill>
            <a:srgbClr val="FFFFFF"/>
          </a:solidFill>
          <a:ln w="12700">
            <a:solidFill>
              <a:srgbClr val="D9D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864349"/>
            <a:ext cx="10546080" cy="685800"/>
          </a:xfrm>
          <a:prstGeom prst="rect">
            <a:avLst/>
          </a:prstGeom>
          <a:noFill/>
        </p:spPr>
        <p:txBody>
          <a:bodyPr wrap="square">
            <a:spAutoFit/>
          </a:bodyPr>
          <a:lstStyle/>
          <a:p>
            <a:pPr algn="l"/>
            <a:r>
              <a:rPr sz="1400" b="0" dirty="0" err="1">
                <a:solidFill>
                  <a:srgbClr val="1B1E28"/>
                </a:solidFill>
                <a:latin typeface="Calibri"/>
              </a:rPr>
              <a:t>MoSCoW</a:t>
            </a:r>
            <a:r>
              <a:rPr sz="1400" b="0" dirty="0">
                <a:solidFill>
                  <a:srgbClr val="1B1E28"/>
                </a:solidFill>
                <a:latin typeface="Calibri"/>
              </a:rPr>
              <a:t> est </a:t>
            </a:r>
            <a:r>
              <a:rPr sz="1400" b="0" dirty="0" err="1">
                <a:solidFill>
                  <a:srgbClr val="1B1E28"/>
                </a:solidFill>
                <a:latin typeface="Calibri"/>
              </a:rPr>
              <a:t>une</a:t>
            </a:r>
            <a:r>
              <a:rPr sz="1400" b="0" dirty="0">
                <a:solidFill>
                  <a:srgbClr val="1B1E28"/>
                </a:solidFill>
                <a:latin typeface="Calibri"/>
              </a:rPr>
              <a:t> manière simple de classer le backlog. </a:t>
            </a:r>
            <a:r>
              <a:rPr sz="1400" b="0" dirty="0" err="1">
                <a:solidFill>
                  <a:srgbClr val="1B1E28"/>
                </a:solidFill>
                <a:latin typeface="Calibri"/>
              </a:rPr>
              <a:t>L’idée</a:t>
            </a:r>
            <a:r>
              <a:rPr sz="1400" b="0" dirty="0">
                <a:solidFill>
                  <a:srgbClr val="1B1E28"/>
                </a:solidFill>
                <a:latin typeface="Calibri"/>
              </a:rPr>
              <a:t> est de se </a:t>
            </a:r>
            <a:r>
              <a:rPr sz="1400" b="0" dirty="0" err="1">
                <a:solidFill>
                  <a:srgbClr val="1B1E28"/>
                </a:solidFill>
                <a:latin typeface="Calibri"/>
              </a:rPr>
              <a:t>mettre</a:t>
            </a:r>
            <a:r>
              <a:rPr sz="1400" b="0" dirty="0">
                <a:solidFill>
                  <a:srgbClr val="1B1E28"/>
                </a:solidFill>
                <a:latin typeface="Calibri"/>
              </a:rPr>
              <a:t> </a:t>
            </a:r>
            <a:r>
              <a:rPr sz="1400" b="0" dirty="0" err="1">
                <a:solidFill>
                  <a:srgbClr val="1B1E28"/>
                </a:solidFill>
                <a:latin typeface="Calibri"/>
              </a:rPr>
              <a:t>d’accord</a:t>
            </a:r>
            <a:r>
              <a:rPr sz="1400" b="0" dirty="0">
                <a:solidFill>
                  <a:srgbClr val="1B1E28"/>
                </a:solidFill>
                <a:latin typeface="Calibri"/>
              </a:rPr>
              <a:t> sur </a:t>
            </a:r>
            <a:r>
              <a:rPr sz="1400" b="0" dirty="0" err="1">
                <a:solidFill>
                  <a:srgbClr val="1B1E28"/>
                </a:solidFill>
                <a:latin typeface="Calibri"/>
              </a:rPr>
              <a:t>ce</a:t>
            </a:r>
            <a:r>
              <a:rPr sz="1400" b="0" dirty="0">
                <a:solidFill>
                  <a:srgbClr val="1B1E28"/>
                </a:solidFill>
                <a:latin typeface="Calibri"/>
              </a:rPr>
              <a:t> qui est indispensable pour tester le </a:t>
            </a:r>
            <a:r>
              <a:rPr sz="1400" b="0" dirty="0" err="1">
                <a:solidFill>
                  <a:srgbClr val="1B1E28"/>
                </a:solidFill>
                <a:latin typeface="Calibri"/>
              </a:rPr>
              <a:t>produit</a:t>
            </a:r>
            <a:r>
              <a:rPr sz="1400" b="0" dirty="0">
                <a:solidFill>
                  <a:srgbClr val="1B1E28"/>
                </a:solidFill>
                <a:latin typeface="Calibri"/>
              </a:rPr>
              <a:t> </a:t>
            </a:r>
            <a:r>
              <a:rPr sz="1400" b="0" dirty="0" err="1">
                <a:solidFill>
                  <a:srgbClr val="1B1E28"/>
                </a:solidFill>
                <a:latin typeface="Calibri"/>
              </a:rPr>
              <a:t>en</a:t>
            </a:r>
            <a:r>
              <a:rPr sz="1400" b="0" dirty="0">
                <a:solidFill>
                  <a:srgbClr val="1B1E28"/>
                </a:solidFill>
                <a:latin typeface="Calibri"/>
              </a:rPr>
              <a:t> 8 </a:t>
            </a:r>
            <a:r>
              <a:rPr sz="1400" b="0" dirty="0" err="1">
                <a:solidFill>
                  <a:srgbClr val="1B1E28"/>
                </a:solidFill>
                <a:latin typeface="Calibri"/>
              </a:rPr>
              <a:t>semaines</a:t>
            </a:r>
            <a:r>
              <a:rPr sz="1400" b="0" dirty="0">
                <a:solidFill>
                  <a:srgbClr val="1B1E28"/>
                </a:solidFill>
                <a:latin typeface="Calibri"/>
              </a:rPr>
              <a:t>, </a:t>
            </a:r>
            <a:r>
              <a:rPr sz="1400" b="0" dirty="0" err="1">
                <a:solidFill>
                  <a:srgbClr val="1B1E28"/>
                </a:solidFill>
                <a:latin typeface="Calibri"/>
              </a:rPr>
              <a:t>puis</a:t>
            </a:r>
            <a:r>
              <a:rPr sz="1400" b="0" dirty="0">
                <a:solidFill>
                  <a:srgbClr val="1B1E28"/>
                </a:solidFill>
                <a:latin typeface="Calibri"/>
              </a:rPr>
              <a:t> de </a:t>
            </a:r>
            <a:r>
              <a:rPr sz="1400" b="0" dirty="0" err="1">
                <a:solidFill>
                  <a:srgbClr val="1B1E28"/>
                </a:solidFill>
                <a:latin typeface="Calibri"/>
              </a:rPr>
              <a:t>garder</a:t>
            </a:r>
            <a:r>
              <a:rPr sz="1400" b="0" dirty="0">
                <a:solidFill>
                  <a:srgbClr val="1B1E28"/>
                </a:solidFill>
                <a:latin typeface="Calibri"/>
              </a:rPr>
              <a:t> le </a:t>
            </a:r>
            <a:r>
              <a:rPr sz="1400" b="0" dirty="0" err="1">
                <a:solidFill>
                  <a:srgbClr val="1B1E28"/>
                </a:solidFill>
                <a:latin typeface="Calibri"/>
              </a:rPr>
              <a:t>reste</a:t>
            </a:r>
            <a:r>
              <a:rPr sz="1400" b="0" dirty="0">
                <a:solidFill>
                  <a:srgbClr val="1B1E28"/>
                </a:solidFill>
                <a:latin typeface="Calibri"/>
              </a:rPr>
              <a:t> pour plus tard.
Dans </a:t>
            </a:r>
            <a:r>
              <a:rPr sz="1400" b="0" dirty="0" err="1">
                <a:solidFill>
                  <a:srgbClr val="1B1E28"/>
                </a:solidFill>
                <a:latin typeface="Calibri"/>
              </a:rPr>
              <a:t>ce</a:t>
            </a:r>
            <a:r>
              <a:rPr sz="1400" b="0" dirty="0">
                <a:solidFill>
                  <a:srgbClr val="1B1E28"/>
                </a:solidFill>
                <a:latin typeface="Calibri"/>
              </a:rPr>
              <a:t> </a:t>
            </a:r>
            <a:r>
              <a:rPr sz="1400" b="0" dirty="0" err="1">
                <a:solidFill>
                  <a:srgbClr val="1B1E28"/>
                </a:solidFill>
                <a:latin typeface="Calibri"/>
              </a:rPr>
              <a:t>projet</a:t>
            </a:r>
            <a:r>
              <a:rPr sz="1400" b="0" dirty="0">
                <a:solidFill>
                  <a:srgbClr val="1B1E28"/>
                </a:solidFill>
                <a:latin typeface="Calibri"/>
              </a:rPr>
              <a:t>, le MVP correspond à : MUST + SHOULD. </a:t>
            </a:r>
            <a:r>
              <a:rPr sz="1400" b="0" dirty="0" err="1">
                <a:solidFill>
                  <a:srgbClr val="1B1E28"/>
                </a:solidFill>
                <a:latin typeface="Calibri"/>
              </a:rPr>
              <a:t>Ici</a:t>
            </a:r>
            <a:r>
              <a:rPr sz="1400" b="0" dirty="0">
                <a:solidFill>
                  <a:srgbClr val="1B1E28"/>
                </a:solidFill>
                <a:latin typeface="Calibri"/>
              </a:rPr>
              <a:t>, les </a:t>
            </a:r>
            <a:r>
              <a:rPr sz="1400" b="0" dirty="0" err="1">
                <a:solidFill>
                  <a:srgbClr val="1B1E28"/>
                </a:solidFill>
                <a:latin typeface="Calibri"/>
              </a:rPr>
              <a:t>filtres</a:t>
            </a:r>
            <a:r>
              <a:rPr sz="1400" b="0" dirty="0">
                <a:solidFill>
                  <a:srgbClr val="1B1E28"/>
                </a:solidFill>
                <a:latin typeface="Calibri"/>
              </a:rPr>
              <a:t>, le feedback et la suppression </a:t>
            </a:r>
            <a:r>
              <a:rPr sz="1400" b="0" dirty="0" err="1">
                <a:solidFill>
                  <a:srgbClr val="1B1E28"/>
                </a:solidFill>
                <a:latin typeface="Calibri"/>
              </a:rPr>
              <a:t>restent</a:t>
            </a:r>
            <a:r>
              <a:rPr sz="1400" b="0" dirty="0">
                <a:solidFill>
                  <a:srgbClr val="1B1E28"/>
                </a:solidFill>
                <a:latin typeface="Calibri"/>
              </a:rPr>
              <a:t> dans MUST car </a:t>
            </a:r>
            <a:r>
              <a:rPr sz="1400" b="0" dirty="0" err="1">
                <a:solidFill>
                  <a:srgbClr val="1B1E28"/>
                </a:solidFill>
                <a:latin typeface="Calibri"/>
              </a:rPr>
              <a:t>ils</a:t>
            </a:r>
            <a:r>
              <a:rPr sz="1400" b="0" dirty="0">
                <a:solidFill>
                  <a:srgbClr val="1B1E28"/>
                </a:solidFill>
                <a:latin typeface="Calibri"/>
              </a:rPr>
              <a:t> font </a:t>
            </a:r>
            <a:r>
              <a:rPr sz="1400" b="0" dirty="0" err="1">
                <a:solidFill>
                  <a:srgbClr val="1B1E28"/>
                </a:solidFill>
                <a:latin typeface="Calibri"/>
              </a:rPr>
              <a:t>partie</a:t>
            </a:r>
            <a:r>
              <a:rPr sz="1400" b="0" dirty="0">
                <a:solidFill>
                  <a:srgbClr val="1B1E28"/>
                </a:solidFill>
                <a:latin typeface="Calibri"/>
              </a:rPr>
              <a:t> du </a:t>
            </a:r>
            <a:r>
              <a:rPr sz="1400" b="0" dirty="0" err="1">
                <a:solidFill>
                  <a:srgbClr val="1B1E28"/>
                </a:solidFill>
                <a:latin typeface="Calibri"/>
              </a:rPr>
              <a:t>parcours</a:t>
            </a:r>
            <a:r>
              <a:rPr sz="1400" b="0" dirty="0">
                <a:solidFill>
                  <a:srgbClr val="1B1E28"/>
                </a:solidFill>
                <a:latin typeface="Calibri"/>
              </a:rPr>
              <a:t> minimum </a:t>
            </a:r>
            <a:r>
              <a:rPr sz="1400" b="0" dirty="0" err="1">
                <a:solidFill>
                  <a:srgbClr val="1B1E28"/>
                </a:solidFill>
                <a:latin typeface="Calibri"/>
              </a:rPr>
              <a:t>retenu</a:t>
            </a:r>
            <a:r>
              <a:rPr sz="1400" b="0" dirty="0">
                <a:solidFill>
                  <a:srgbClr val="1B1E28"/>
                </a:solidFill>
                <a:latin typeface="Calibri"/>
              </a:rPr>
              <a:t>.</a:t>
            </a:r>
          </a:p>
        </p:txBody>
      </p:sp>
      <p:sp>
        <p:nvSpPr>
          <p:cNvPr id="7" name="Rectangle 6"/>
          <p:cNvSpPr/>
          <p:nvPr/>
        </p:nvSpPr>
        <p:spPr>
          <a:xfrm>
            <a:off x="594360" y="2029968"/>
            <a:ext cx="2579370" cy="2331720"/>
          </a:xfrm>
          <a:prstGeom prst="rect">
            <a:avLst/>
          </a:prstGeom>
          <a:solidFill>
            <a:srgbClr val="FFFFFF"/>
          </a:solidFill>
          <a:ln w="12700">
            <a:solidFill>
              <a:srgbClr val="D9D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2194560"/>
            <a:ext cx="2213610" cy="384048"/>
          </a:xfrm>
          <a:prstGeom prst="rect">
            <a:avLst/>
          </a:prstGeom>
          <a:solidFill>
            <a:srgbClr val="E3C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249424"/>
            <a:ext cx="1994154" cy="274320"/>
          </a:xfrm>
          <a:prstGeom prst="rect">
            <a:avLst/>
          </a:prstGeom>
          <a:noFill/>
        </p:spPr>
        <p:txBody>
          <a:bodyPr wrap="square">
            <a:spAutoFit/>
          </a:bodyPr>
          <a:lstStyle/>
          <a:p>
            <a:pPr algn="ctr"/>
            <a:r>
              <a:rPr sz="1400" b="1">
                <a:solidFill>
                  <a:srgbClr val="0B132B"/>
                </a:solidFill>
                <a:latin typeface="Calibri"/>
              </a:rPr>
              <a:t>MUST</a:t>
            </a:r>
          </a:p>
        </p:txBody>
      </p:sp>
      <p:sp>
        <p:nvSpPr>
          <p:cNvPr id="10" name="TextBox 9"/>
          <p:cNvSpPr txBox="1"/>
          <p:nvPr/>
        </p:nvSpPr>
        <p:spPr>
          <a:xfrm>
            <a:off x="777240" y="2688336"/>
            <a:ext cx="2213610" cy="1051560"/>
          </a:xfrm>
          <a:prstGeom prst="rect">
            <a:avLst/>
          </a:prstGeom>
          <a:noFill/>
        </p:spPr>
        <p:txBody>
          <a:bodyPr wrap="square">
            <a:spAutoFit/>
          </a:bodyPr>
          <a:lstStyle/>
          <a:p>
            <a:pPr algn="l"/>
            <a:r>
              <a:rPr sz="1200" b="0">
                <a:solidFill>
                  <a:srgbClr val="1B1E28"/>
                </a:solidFill>
                <a:latin typeface="Calibri"/>
              </a:rPr>
              <a:t>Indispensable pour que le MVP fonctionne.
Sans ce bloc, on ne peut pas tester l’idée (photo → reco).</a:t>
            </a:r>
          </a:p>
        </p:txBody>
      </p:sp>
      <p:sp>
        <p:nvSpPr>
          <p:cNvPr id="11" name="TextBox 10"/>
          <p:cNvSpPr txBox="1"/>
          <p:nvPr/>
        </p:nvSpPr>
        <p:spPr>
          <a:xfrm>
            <a:off x="758952" y="3611880"/>
            <a:ext cx="2213610" cy="914400"/>
          </a:xfrm>
          <a:prstGeom prst="rect">
            <a:avLst/>
          </a:prstGeom>
          <a:noFill/>
        </p:spPr>
        <p:txBody>
          <a:bodyPr wrap="square">
            <a:spAutoFit/>
          </a:bodyPr>
          <a:lstStyle/>
          <a:p>
            <a:pPr algn="l"/>
            <a:r>
              <a:rPr sz="1100" b="0" dirty="0" err="1">
                <a:solidFill>
                  <a:srgbClr val="44506A"/>
                </a:solidFill>
                <a:latin typeface="Calibri"/>
              </a:rPr>
              <a:t>Exemples</a:t>
            </a:r>
            <a:r>
              <a:rPr sz="1100" b="0" dirty="0">
                <a:solidFill>
                  <a:srgbClr val="44506A"/>
                </a:solidFill>
                <a:latin typeface="Calibri"/>
              </a:rPr>
              <a:t> </a:t>
            </a:r>
            <a:r>
              <a:rPr sz="1100" b="0" dirty="0" err="1">
                <a:solidFill>
                  <a:srgbClr val="44506A"/>
                </a:solidFill>
                <a:latin typeface="Calibri"/>
              </a:rPr>
              <a:t>ici</a:t>
            </a:r>
            <a:r>
              <a:rPr sz="1100" b="0" dirty="0">
                <a:solidFill>
                  <a:srgbClr val="44506A"/>
                </a:solidFill>
                <a:latin typeface="Calibri"/>
              </a:rPr>
              <a:t> : photo, </a:t>
            </a:r>
            <a:r>
              <a:rPr sz="1100" b="0" dirty="0" err="1">
                <a:solidFill>
                  <a:srgbClr val="44506A"/>
                </a:solidFill>
                <a:latin typeface="Calibri"/>
              </a:rPr>
              <a:t>qualité</a:t>
            </a:r>
            <a:r>
              <a:rPr sz="1100" b="0" dirty="0">
                <a:solidFill>
                  <a:srgbClr val="44506A"/>
                </a:solidFill>
                <a:latin typeface="Calibri"/>
              </a:rPr>
              <a:t>, </a:t>
            </a:r>
            <a:r>
              <a:rPr sz="1100" b="0" dirty="0" err="1">
                <a:solidFill>
                  <a:srgbClr val="44506A"/>
                </a:solidFill>
                <a:latin typeface="Calibri"/>
              </a:rPr>
              <a:t>analyse</a:t>
            </a:r>
            <a:r>
              <a:rPr sz="1100" b="0" dirty="0">
                <a:solidFill>
                  <a:srgbClr val="44506A"/>
                </a:solidFill>
                <a:latin typeface="Calibri"/>
              </a:rPr>
              <a:t>, </a:t>
            </a:r>
            <a:r>
              <a:rPr sz="1100" b="0" dirty="0" err="1">
                <a:solidFill>
                  <a:srgbClr val="44506A"/>
                </a:solidFill>
                <a:latin typeface="Calibri"/>
              </a:rPr>
              <a:t>recommandation</a:t>
            </a:r>
            <a:r>
              <a:rPr sz="1100" b="0" dirty="0">
                <a:solidFill>
                  <a:srgbClr val="44506A"/>
                </a:solidFill>
                <a:latin typeface="Calibri"/>
              </a:rPr>
              <a:t>, </a:t>
            </a:r>
            <a:r>
              <a:rPr sz="1100" b="0" dirty="0" err="1">
                <a:solidFill>
                  <a:srgbClr val="44506A"/>
                </a:solidFill>
                <a:latin typeface="Calibri"/>
              </a:rPr>
              <a:t>filtres</a:t>
            </a:r>
            <a:r>
              <a:rPr sz="1100" b="0" dirty="0">
                <a:solidFill>
                  <a:srgbClr val="44506A"/>
                </a:solidFill>
                <a:latin typeface="Calibri"/>
              </a:rPr>
              <a:t>, feedback, </a:t>
            </a:r>
            <a:r>
              <a:rPr sz="1100" b="0" dirty="0" err="1">
                <a:solidFill>
                  <a:srgbClr val="44506A"/>
                </a:solidFill>
                <a:latin typeface="Calibri"/>
              </a:rPr>
              <a:t>consentement</a:t>
            </a:r>
            <a:r>
              <a:rPr sz="1100" b="0" dirty="0">
                <a:solidFill>
                  <a:srgbClr val="44506A"/>
                </a:solidFill>
                <a:latin typeface="Calibri"/>
              </a:rPr>
              <a:t>, suppression.</a:t>
            </a:r>
          </a:p>
        </p:txBody>
      </p:sp>
      <p:sp>
        <p:nvSpPr>
          <p:cNvPr id="12" name="Rectangle 11"/>
          <p:cNvSpPr/>
          <p:nvPr/>
        </p:nvSpPr>
        <p:spPr>
          <a:xfrm>
            <a:off x="3402330" y="2029968"/>
            <a:ext cx="2579370" cy="2331720"/>
          </a:xfrm>
          <a:prstGeom prst="rect">
            <a:avLst/>
          </a:prstGeom>
          <a:solidFill>
            <a:srgbClr val="FFFFFF"/>
          </a:solidFill>
          <a:ln w="12700">
            <a:solidFill>
              <a:srgbClr val="D9D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85210" y="2194560"/>
            <a:ext cx="2213610" cy="384048"/>
          </a:xfrm>
          <a:prstGeom prst="rect">
            <a:avLst/>
          </a:prstGeom>
          <a:solidFill>
            <a:srgbClr val="F3E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94938" y="2249424"/>
            <a:ext cx="1994154" cy="274320"/>
          </a:xfrm>
          <a:prstGeom prst="rect">
            <a:avLst/>
          </a:prstGeom>
          <a:noFill/>
        </p:spPr>
        <p:txBody>
          <a:bodyPr wrap="square">
            <a:spAutoFit/>
          </a:bodyPr>
          <a:lstStyle/>
          <a:p>
            <a:pPr algn="ctr"/>
            <a:r>
              <a:rPr sz="1400" b="1">
                <a:solidFill>
                  <a:srgbClr val="0B132B"/>
                </a:solidFill>
                <a:latin typeface="Calibri"/>
              </a:rPr>
              <a:t>SHOULD</a:t>
            </a:r>
          </a:p>
        </p:txBody>
      </p:sp>
      <p:sp>
        <p:nvSpPr>
          <p:cNvPr id="15" name="TextBox 14"/>
          <p:cNvSpPr txBox="1"/>
          <p:nvPr/>
        </p:nvSpPr>
        <p:spPr>
          <a:xfrm>
            <a:off x="3585210" y="2688336"/>
            <a:ext cx="2213610" cy="1051560"/>
          </a:xfrm>
          <a:prstGeom prst="rect">
            <a:avLst/>
          </a:prstGeom>
          <a:noFill/>
        </p:spPr>
        <p:txBody>
          <a:bodyPr wrap="square">
            <a:spAutoFit/>
          </a:bodyPr>
          <a:lstStyle/>
          <a:p>
            <a:pPr algn="l"/>
            <a:r>
              <a:rPr sz="1200" b="0">
                <a:solidFill>
                  <a:srgbClr val="1B1E28"/>
                </a:solidFill>
                <a:latin typeface="Calibri"/>
              </a:rPr>
              <a:t>Très important, mais on peut le décaler si le temps manque.
Il améliore l’expérience ou la fiabilité.</a:t>
            </a:r>
          </a:p>
        </p:txBody>
      </p:sp>
      <p:sp>
        <p:nvSpPr>
          <p:cNvPr id="16" name="TextBox 15"/>
          <p:cNvSpPr txBox="1"/>
          <p:nvPr/>
        </p:nvSpPr>
        <p:spPr>
          <a:xfrm>
            <a:off x="3585210" y="3767328"/>
            <a:ext cx="2213610" cy="914400"/>
          </a:xfrm>
          <a:prstGeom prst="rect">
            <a:avLst/>
          </a:prstGeom>
          <a:noFill/>
        </p:spPr>
        <p:txBody>
          <a:bodyPr wrap="square">
            <a:spAutoFit/>
          </a:bodyPr>
          <a:lstStyle/>
          <a:p>
            <a:pPr algn="l"/>
            <a:r>
              <a:rPr sz="1100" b="0">
                <a:solidFill>
                  <a:srgbClr val="44506A"/>
                </a:solidFill>
                <a:latin typeface="Calibri"/>
              </a:rPr>
              <a:t>Exemples : préférences, reco sans photo, modération, tableau de bord.</a:t>
            </a:r>
          </a:p>
        </p:txBody>
      </p:sp>
      <p:sp>
        <p:nvSpPr>
          <p:cNvPr id="17" name="Rectangle 16"/>
          <p:cNvSpPr/>
          <p:nvPr/>
        </p:nvSpPr>
        <p:spPr>
          <a:xfrm>
            <a:off x="6210300" y="2029968"/>
            <a:ext cx="2579370" cy="2331720"/>
          </a:xfrm>
          <a:prstGeom prst="rect">
            <a:avLst/>
          </a:prstGeom>
          <a:solidFill>
            <a:srgbClr val="FFFFFF"/>
          </a:solidFill>
          <a:ln w="12700">
            <a:solidFill>
              <a:srgbClr val="D9D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93180" y="2194560"/>
            <a:ext cx="2213610" cy="384048"/>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2908" y="2249424"/>
            <a:ext cx="1994154" cy="274320"/>
          </a:xfrm>
          <a:prstGeom prst="rect">
            <a:avLst/>
          </a:prstGeom>
          <a:noFill/>
        </p:spPr>
        <p:txBody>
          <a:bodyPr wrap="square">
            <a:spAutoFit/>
          </a:bodyPr>
          <a:lstStyle/>
          <a:p>
            <a:pPr algn="ctr"/>
            <a:r>
              <a:rPr sz="1400" b="1">
                <a:solidFill>
                  <a:srgbClr val="0B132B"/>
                </a:solidFill>
                <a:latin typeface="Calibri"/>
              </a:rPr>
              <a:t>COULD</a:t>
            </a:r>
          </a:p>
        </p:txBody>
      </p:sp>
      <p:sp>
        <p:nvSpPr>
          <p:cNvPr id="20" name="TextBox 19"/>
          <p:cNvSpPr txBox="1"/>
          <p:nvPr/>
        </p:nvSpPr>
        <p:spPr>
          <a:xfrm>
            <a:off x="6393180" y="2688336"/>
            <a:ext cx="2213610" cy="1051560"/>
          </a:xfrm>
          <a:prstGeom prst="rect">
            <a:avLst/>
          </a:prstGeom>
          <a:noFill/>
        </p:spPr>
        <p:txBody>
          <a:bodyPr wrap="square">
            <a:spAutoFit/>
          </a:bodyPr>
          <a:lstStyle/>
          <a:p>
            <a:pPr algn="l"/>
            <a:r>
              <a:rPr sz="1200" b="0">
                <a:solidFill>
                  <a:srgbClr val="1B1E28"/>
                </a:solidFill>
                <a:latin typeface="Calibri"/>
              </a:rPr>
              <a:t>Bonus : utile, mais non nécessaire pour prouver la valeur.
On le fait seulement si tout se passe bien.</a:t>
            </a:r>
          </a:p>
        </p:txBody>
      </p:sp>
      <p:sp>
        <p:nvSpPr>
          <p:cNvPr id="21" name="TextBox 20"/>
          <p:cNvSpPr txBox="1"/>
          <p:nvPr/>
        </p:nvSpPr>
        <p:spPr>
          <a:xfrm>
            <a:off x="6393180" y="3767328"/>
            <a:ext cx="2213610" cy="914400"/>
          </a:xfrm>
          <a:prstGeom prst="rect">
            <a:avLst/>
          </a:prstGeom>
          <a:noFill/>
        </p:spPr>
        <p:txBody>
          <a:bodyPr wrap="square">
            <a:spAutoFit/>
          </a:bodyPr>
          <a:lstStyle/>
          <a:p>
            <a:pPr algn="l"/>
            <a:r>
              <a:rPr sz="1100" b="0">
                <a:solidFill>
                  <a:srgbClr val="44506A"/>
                </a:solidFill>
                <a:latin typeface="Calibri"/>
              </a:rPr>
              <a:t>Exemples : partage, recommandations “looks complets”.</a:t>
            </a:r>
          </a:p>
        </p:txBody>
      </p:sp>
      <p:sp>
        <p:nvSpPr>
          <p:cNvPr id="22" name="Rectangle 21"/>
          <p:cNvSpPr/>
          <p:nvPr/>
        </p:nvSpPr>
        <p:spPr>
          <a:xfrm>
            <a:off x="9018270" y="2029968"/>
            <a:ext cx="2579370" cy="2331720"/>
          </a:xfrm>
          <a:prstGeom prst="rect">
            <a:avLst/>
          </a:prstGeom>
          <a:solidFill>
            <a:srgbClr val="FFFFFF"/>
          </a:solidFill>
          <a:ln w="12700">
            <a:solidFill>
              <a:srgbClr val="D9D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01150" y="2194560"/>
            <a:ext cx="2213610" cy="38404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10878" y="2249424"/>
            <a:ext cx="1994154" cy="274320"/>
          </a:xfrm>
          <a:prstGeom prst="rect">
            <a:avLst/>
          </a:prstGeom>
          <a:noFill/>
        </p:spPr>
        <p:txBody>
          <a:bodyPr wrap="square">
            <a:spAutoFit/>
          </a:bodyPr>
          <a:lstStyle/>
          <a:p>
            <a:pPr algn="ctr"/>
            <a:r>
              <a:rPr sz="1400" b="1">
                <a:solidFill>
                  <a:srgbClr val="0B132B"/>
                </a:solidFill>
                <a:latin typeface="Calibri"/>
              </a:rPr>
              <a:t>WON’T</a:t>
            </a:r>
          </a:p>
        </p:txBody>
      </p:sp>
      <p:sp>
        <p:nvSpPr>
          <p:cNvPr id="25" name="TextBox 24"/>
          <p:cNvSpPr txBox="1"/>
          <p:nvPr/>
        </p:nvSpPr>
        <p:spPr>
          <a:xfrm>
            <a:off x="9201150" y="2688336"/>
            <a:ext cx="2213610" cy="1051560"/>
          </a:xfrm>
          <a:prstGeom prst="rect">
            <a:avLst/>
          </a:prstGeom>
          <a:noFill/>
        </p:spPr>
        <p:txBody>
          <a:bodyPr wrap="square">
            <a:spAutoFit/>
          </a:bodyPr>
          <a:lstStyle/>
          <a:p>
            <a:pPr algn="l"/>
            <a:r>
              <a:rPr sz="1200" b="0">
                <a:solidFill>
                  <a:srgbClr val="1B1E28"/>
                </a:solidFill>
                <a:latin typeface="Calibri"/>
              </a:rPr>
              <a:t>Pas maintenant : hors périmètre du MVP.
On le garde en réserve pour une V2/V3 si le MVP marche.</a:t>
            </a:r>
          </a:p>
        </p:txBody>
      </p:sp>
      <p:sp>
        <p:nvSpPr>
          <p:cNvPr id="26" name="TextBox 25"/>
          <p:cNvSpPr txBox="1"/>
          <p:nvPr/>
        </p:nvSpPr>
        <p:spPr>
          <a:xfrm>
            <a:off x="9201150" y="3767328"/>
            <a:ext cx="2213610" cy="914400"/>
          </a:xfrm>
          <a:prstGeom prst="rect">
            <a:avLst/>
          </a:prstGeom>
          <a:noFill/>
        </p:spPr>
        <p:txBody>
          <a:bodyPr wrap="square">
            <a:spAutoFit/>
          </a:bodyPr>
          <a:lstStyle/>
          <a:p>
            <a:pPr algn="l"/>
            <a:r>
              <a:rPr sz="1100" b="0">
                <a:solidFill>
                  <a:srgbClr val="44506A"/>
                </a:solidFill>
                <a:latin typeface="Calibri"/>
              </a:rPr>
              <a:t>Exemples : personnalisation avancée, AR/essai virtuel.</a:t>
            </a:r>
          </a:p>
        </p:txBody>
      </p:sp>
      <p:sp>
        <p:nvSpPr>
          <p:cNvPr id="27" name="Rectangle 26"/>
          <p:cNvSpPr/>
          <p:nvPr/>
        </p:nvSpPr>
        <p:spPr>
          <a:xfrm>
            <a:off x="594360" y="4590288"/>
            <a:ext cx="11003280" cy="9144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4727448"/>
            <a:ext cx="10546080" cy="731520"/>
          </a:xfrm>
          <a:prstGeom prst="rect">
            <a:avLst/>
          </a:prstGeom>
          <a:noFill/>
        </p:spPr>
        <p:txBody>
          <a:bodyPr wrap="square">
            <a:spAutoFit/>
          </a:bodyPr>
          <a:lstStyle/>
          <a:p>
            <a:pPr algn="l"/>
            <a:r>
              <a:rPr sz="1300" b="0">
                <a:solidFill>
                  <a:srgbClr val="FFFFFF"/>
                </a:solidFill>
                <a:latin typeface="Calibri"/>
              </a:rPr>
              <a:t>Si on prend du retard : 1) on enlève COULD, 2) on réduit SHOULD, 3) on protège MUST.
Comme ça, on termine un parcours complet et mesurable, plutôt qu’un produit “à moitié fini”.</a:t>
            </a:r>
          </a:p>
        </p:txBody>
      </p:sp>
      <p:sp>
        <p:nvSpPr>
          <p:cNvPr id="29" name="TextBox 28"/>
          <p:cNvSpPr txBox="1"/>
          <p:nvPr/>
        </p:nvSpPr>
        <p:spPr>
          <a:xfrm>
            <a:off x="594360" y="6537960"/>
            <a:ext cx="8229600" cy="228600"/>
          </a:xfrm>
          <a:prstGeom prst="rect">
            <a:avLst/>
          </a:prstGeom>
          <a:noFill/>
        </p:spPr>
        <p:txBody>
          <a:bodyPr wrap="square">
            <a:spAutoFit/>
          </a:bodyPr>
          <a:lstStyle/>
          <a:p>
            <a:pPr algn="l"/>
            <a:r>
              <a:rPr sz="1000" b="0">
                <a:solidFill>
                  <a:srgbClr val="44506A"/>
                </a:solidFill>
                <a:latin typeface="Calibri"/>
              </a:rPr>
              <a:t>Fashion-Insta • Application mobile de recommandation par photo</a:t>
            </a:r>
          </a:p>
        </p:txBody>
      </p:sp>
      <p:sp>
        <p:nvSpPr>
          <p:cNvPr id="30" name="TextBox 29"/>
          <p:cNvSpPr txBox="1"/>
          <p:nvPr/>
        </p:nvSpPr>
        <p:spPr>
          <a:xfrm>
            <a:off x="10698480" y="6537960"/>
            <a:ext cx="914400" cy="228600"/>
          </a:xfrm>
          <a:prstGeom prst="rect">
            <a:avLst/>
          </a:prstGeom>
          <a:noFill/>
        </p:spPr>
        <p:txBody>
          <a:bodyPr wrap="none">
            <a:spAutoFit/>
          </a:bodyPr>
          <a:lstStyle/>
          <a:p>
            <a:pPr algn="r"/>
            <a:r>
              <a:rPr sz="1000" b="0">
                <a:solidFill>
                  <a:srgbClr val="44506A"/>
                </a:solidFill>
                <a:latin typeface="Calibri"/>
              </a:rPr>
              <a:t>8/26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MVP : ce que l’on construit</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Les étapes indispensables</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32004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User stories (formulées simplement)</a:t>
            </a:r>
            <a:endParaRPr lang="en-US" sz="1800" dirty="0"/>
          </a:p>
        </p:txBody>
      </p:sp>
      <p:sp>
        <p:nvSpPr>
          <p:cNvPr id="7" name="Text 5"/>
          <p:cNvSpPr/>
          <p:nvPr/>
        </p:nvSpPr>
        <p:spPr>
          <a:xfrm>
            <a:off x="1097280" y="1700784"/>
            <a:ext cx="10058400" cy="45720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Une user story décrit ce que l’utilisateur veut faire, et pourquoi. Le but est de livrer un parcours complet et testable, pas une liste de ‘features’.</a:t>
            </a:r>
            <a:endParaRPr lang="en-US" sz="1200" dirty="0"/>
          </a:p>
        </p:txBody>
      </p:sp>
      <p:sp>
        <p:nvSpPr>
          <p:cNvPr id="8" name="Shape 6"/>
          <p:cNvSpPr/>
          <p:nvPr/>
        </p:nvSpPr>
        <p:spPr>
          <a:xfrm>
            <a:off x="1097280" y="2148840"/>
            <a:ext cx="10058400" cy="548640"/>
          </a:xfrm>
          <a:prstGeom prst="roundRect">
            <a:avLst/>
          </a:prstGeom>
          <a:solidFill>
            <a:srgbClr val="0B132B"/>
          </a:solidFill>
          <a:ln w="12700">
            <a:solidFill>
              <a:srgbClr val="0B132B"/>
            </a:solidFill>
            <a:prstDash val="solid"/>
          </a:ln>
        </p:spPr>
        <p:txBody>
          <a:bodyPr/>
          <a:lstStyle/>
          <a:p>
            <a:endParaRPr/>
          </a:p>
        </p:txBody>
      </p:sp>
      <p:sp>
        <p:nvSpPr>
          <p:cNvPr id="9" name="Text 7"/>
          <p:cNvSpPr/>
          <p:nvPr/>
        </p:nvSpPr>
        <p:spPr>
          <a:xfrm>
            <a:off x="1234440" y="2286000"/>
            <a:ext cx="214884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Bloc</a:t>
            </a:r>
            <a:endParaRPr lang="en-US" sz="1300" dirty="0"/>
          </a:p>
        </p:txBody>
      </p:sp>
      <p:sp>
        <p:nvSpPr>
          <p:cNvPr id="10" name="Text 8"/>
          <p:cNvSpPr/>
          <p:nvPr/>
        </p:nvSpPr>
        <p:spPr>
          <a:xfrm>
            <a:off x="3657600" y="2286000"/>
            <a:ext cx="73609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Ce que cela veut dire (en pratique)</a:t>
            </a:r>
            <a:endParaRPr lang="en-US" sz="1300" dirty="0"/>
          </a:p>
        </p:txBody>
      </p:sp>
      <p:sp>
        <p:nvSpPr>
          <p:cNvPr id="11" name="Shape 9"/>
          <p:cNvSpPr/>
          <p:nvPr/>
        </p:nvSpPr>
        <p:spPr>
          <a:xfrm>
            <a:off x="1097280" y="2697480"/>
            <a:ext cx="10058400" cy="594360"/>
          </a:xfrm>
          <a:prstGeom prst="rect">
            <a:avLst/>
          </a:prstGeom>
          <a:solidFill>
            <a:srgbClr val="FBFAF7"/>
          </a:solidFill>
          <a:ln w="12700">
            <a:solidFill>
              <a:srgbClr val="E6E0D6"/>
            </a:solidFill>
            <a:prstDash val="solid"/>
          </a:ln>
        </p:spPr>
        <p:txBody>
          <a:bodyPr/>
          <a:lstStyle/>
          <a:p>
            <a:endParaRPr/>
          </a:p>
        </p:txBody>
      </p:sp>
      <p:sp>
        <p:nvSpPr>
          <p:cNvPr id="12" name="Text 10"/>
          <p:cNvSpPr/>
          <p:nvPr/>
        </p:nvSpPr>
        <p:spPr>
          <a:xfrm>
            <a:off x="1234440" y="282549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Photo &amp; qualité</a:t>
            </a:r>
            <a:endParaRPr lang="en-US" sz="1300" dirty="0"/>
          </a:p>
        </p:txBody>
      </p:sp>
      <p:sp>
        <p:nvSpPr>
          <p:cNvPr id="13" name="Text 11"/>
          <p:cNvSpPr/>
          <p:nvPr/>
        </p:nvSpPr>
        <p:spPr>
          <a:xfrm>
            <a:off x="3657600" y="282549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Ajouter une photo, vérifier flou/lumière, guider l’utilisateur si la photo est mauvaise.</a:t>
            </a:r>
            <a:endParaRPr lang="en-US" sz="1300" dirty="0"/>
          </a:p>
        </p:txBody>
      </p:sp>
      <p:sp>
        <p:nvSpPr>
          <p:cNvPr id="14" name="Shape 12"/>
          <p:cNvSpPr/>
          <p:nvPr/>
        </p:nvSpPr>
        <p:spPr>
          <a:xfrm>
            <a:off x="1097280" y="3291840"/>
            <a:ext cx="10058400" cy="594360"/>
          </a:xfrm>
          <a:prstGeom prst="rect">
            <a:avLst/>
          </a:prstGeom>
          <a:solidFill>
            <a:srgbClr val="FFFFFF"/>
          </a:solidFill>
          <a:ln w="12700">
            <a:solidFill>
              <a:srgbClr val="E6E0D6"/>
            </a:solidFill>
            <a:prstDash val="solid"/>
          </a:ln>
        </p:spPr>
        <p:txBody>
          <a:bodyPr/>
          <a:lstStyle/>
          <a:p>
            <a:endParaRPr/>
          </a:p>
        </p:txBody>
      </p:sp>
      <p:sp>
        <p:nvSpPr>
          <p:cNvPr id="15" name="Text 13"/>
          <p:cNvSpPr/>
          <p:nvPr/>
        </p:nvSpPr>
        <p:spPr>
          <a:xfrm>
            <a:off x="1234440" y="341985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Analyse visuelle</a:t>
            </a:r>
            <a:endParaRPr lang="en-US" sz="1300" dirty="0"/>
          </a:p>
        </p:txBody>
      </p:sp>
      <p:sp>
        <p:nvSpPr>
          <p:cNvPr id="16" name="Text 14"/>
          <p:cNvSpPr/>
          <p:nvPr/>
        </p:nvSpPr>
        <p:spPr>
          <a:xfrm>
            <a:off x="3657600" y="341985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Identifier la catégorie (ex : veste) et les couleurs dominantes.</a:t>
            </a:r>
            <a:endParaRPr lang="en-US" sz="1300" dirty="0"/>
          </a:p>
        </p:txBody>
      </p:sp>
      <p:sp>
        <p:nvSpPr>
          <p:cNvPr id="17" name="Shape 15"/>
          <p:cNvSpPr/>
          <p:nvPr/>
        </p:nvSpPr>
        <p:spPr>
          <a:xfrm>
            <a:off x="1097280" y="3886200"/>
            <a:ext cx="10058400" cy="594360"/>
          </a:xfrm>
          <a:prstGeom prst="rect">
            <a:avLst/>
          </a:prstGeom>
          <a:solidFill>
            <a:srgbClr val="FBFAF7"/>
          </a:solidFill>
          <a:ln w="12700">
            <a:solidFill>
              <a:srgbClr val="E6E0D6"/>
            </a:solidFill>
            <a:prstDash val="solid"/>
          </a:ln>
        </p:spPr>
        <p:txBody>
          <a:bodyPr/>
          <a:lstStyle/>
          <a:p>
            <a:endParaRPr/>
          </a:p>
        </p:txBody>
      </p:sp>
      <p:sp>
        <p:nvSpPr>
          <p:cNvPr id="18" name="Text 16"/>
          <p:cNvSpPr/>
          <p:nvPr/>
        </p:nvSpPr>
        <p:spPr>
          <a:xfrm>
            <a:off x="1234440" y="401421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Reco</a:t>
            </a:r>
            <a:endParaRPr lang="en-US" sz="1300" dirty="0"/>
          </a:p>
        </p:txBody>
      </p:sp>
      <p:sp>
        <p:nvSpPr>
          <p:cNvPr id="19" name="Text 17"/>
          <p:cNvSpPr/>
          <p:nvPr/>
        </p:nvSpPr>
        <p:spPr>
          <a:xfrm>
            <a:off x="3657600" y="401421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Calculer une signature (embedding) et recommander les articles les plus proches du catalogue.</a:t>
            </a:r>
            <a:endParaRPr lang="en-US" sz="1300" dirty="0"/>
          </a:p>
        </p:txBody>
      </p:sp>
      <p:sp>
        <p:nvSpPr>
          <p:cNvPr id="20" name="Shape 18"/>
          <p:cNvSpPr/>
          <p:nvPr/>
        </p:nvSpPr>
        <p:spPr>
          <a:xfrm>
            <a:off x="1097280" y="4480560"/>
            <a:ext cx="10058400" cy="594360"/>
          </a:xfrm>
          <a:prstGeom prst="rect">
            <a:avLst/>
          </a:prstGeom>
          <a:solidFill>
            <a:srgbClr val="FFFFFF"/>
          </a:solidFill>
          <a:ln w="12700">
            <a:solidFill>
              <a:srgbClr val="E6E0D6"/>
            </a:solidFill>
            <a:prstDash val="solid"/>
          </a:ln>
        </p:spPr>
        <p:txBody>
          <a:bodyPr/>
          <a:lstStyle/>
          <a:p>
            <a:endParaRPr/>
          </a:p>
        </p:txBody>
      </p:sp>
      <p:sp>
        <p:nvSpPr>
          <p:cNvPr id="21" name="Text 19"/>
          <p:cNvSpPr/>
          <p:nvPr/>
        </p:nvSpPr>
        <p:spPr>
          <a:xfrm>
            <a:off x="1234440" y="460857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Expérience</a:t>
            </a:r>
            <a:endParaRPr lang="en-US" sz="1300" dirty="0"/>
          </a:p>
        </p:txBody>
      </p:sp>
      <p:sp>
        <p:nvSpPr>
          <p:cNvPr id="22" name="Text 20"/>
          <p:cNvSpPr/>
          <p:nvPr/>
        </p:nvSpPr>
        <p:spPr>
          <a:xfrm>
            <a:off x="3657600" y="460857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Afficher les résultats, appliquer des filtres simples, accéder à la fiche produit.</a:t>
            </a:r>
            <a:endParaRPr lang="en-US" sz="1300" dirty="0"/>
          </a:p>
        </p:txBody>
      </p:sp>
      <p:sp>
        <p:nvSpPr>
          <p:cNvPr id="23" name="Shape 21"/>
          <p:cNvSpPr/>
          <p:nvPr/>
        </p:nvSpPr>
        <p:spPr>
          <a:xfrm>
            <a:off x="1097280" y="5074920"/>
            <a:ext cx="10058400" cy="594360"/>
          </a:xfrm>
          <a:prstGeom prst="rect">
            <a:avLst/>
          </a:prstGeom>
          <a:solidFill>
            <a:srgbClr val="FBFAF7"/>
          </a:solidFill>
          <a:ln w="12700">
            <a:solidFill>
              <a:srgbClr val="E6E0D6"/>
            </a:solidFill>
            <a:prstDash val="solid"/>
          </a:ln>
        </p:spPr>
        <p:txBody>
          <a:bodyPr/>
          <a:lstStyle/>
          <a:p>
            <a:endParaRPr/>
          </a:p>
        </p:txBody>
      </p:sp>
      <p:sp>
        <p:nvSpPr>
          <p:cNvPr id="24" name="Text 22"/>
          <p:cNvSpPr/>
          <p:nvPr/>
        </p:nvSpPr>
        <p:spPr>
          <a:xfrm>
            <a:off x="1234440" y="520293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Amélioration</a:t>
            </a:r>
            <a:endParaRPr lang="en-US" sz="1300" dirty="0"/>
          </a:p>
        </p:txBody>
      </p:sp>
      <p:sp>
        <p:nvSpPr>
          <p:cNvPr id="25" name="Text 23"/>
          <p:cNvSpPr/>
          <p:nvPr/>
        </p:nvSpPr>
        <p:spPr>
          <a:xfrm>
            <a:off x="3657600" y="520293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Collecter un feedback “utile/pas utile” et suivre les KPI / incidents.</a:t>
            </a:r>
            <a:endParaRPr lang="en-US" sz="1300" dirty="0"/>
          </a:p>
        </p:txBody>
      </p:sp>
      <p:sp>
        <p:nvSpPr>
          <p:cNvPr id="26" name="Shape 24"/>
          <p:cNvSpPr/>
          <p:nvPr/>
        </p:nvSpPr>
        <p:spPr>
          <a:xfrm>
            <a:off x="1097280" y="5669280"/>
            <a:ext cx="10058400" cy="594360"/>
          </a:xfrm>
          <a:prstGeom prst="rect">
            <a:avLst/>
          </a:prstGeom>
          <a:solidFill>
            <a:srgbClr val="FFFFFF"/>
          </a:solidFill>
          <a:ln w="12700">
            <a:solidFill>
              <a:srgbClr val="E6E0D6"/>
            </a:solidFill>
            <a:prstDash val="solid"/>
          </a:ln>
        </p:spPr>
        <p:txBody>
          <a:bodyPr/>
          <a:lstStyle/>
          <a:p>
            <a:endParaRPr/>
          </a:p>
        </p:txBody>
      </p:sp>
      <p:sp>
        <p:nvSpPr>
          <p:cNvPr id="27" name="Text 25"/>
          <p:cNvSpPr/>
          <p:nvPr/>
        </p:nvSpPr>
        <p:spPr>
          <a:xfrm>
            <a:off x="1234440" y="5797296"/>
            <a:ext cx="2148840" cy="411480"/>
          </a:xfrm>
          <a:prstGeom prst="rect">
            <a:avLst/>
          </a:prstGeom>
          <a:noFill/>
          <a:ln/>
        </p:spPr>
        <p:txBody>
          <a:bodyPr wrap="square" rtlCol="0" anchor="ctr"/>
          <a:lstStyle/>
          <a:p>
            <a:pPr marL="0" indent="0">
              <a:buNone/>
            </a:pPr>
            <a:r>
              <a:rPr lang="en-US" sz="1300" b="1" dirty="0">
                <a:solidFill>
                  <a:srgbClr val="1B1E28"/>
                </a:solidFill>
                <a:latin typeface="Calibri" pitchFamily="34" charset="0"/>
                <a:ea typeface="Calibri" pitchFamily="34" charset="-122"/>
                <a:cs typeface="Calibri" pitchFamily="34" charset="-120"/>
              </a:rPr>
              <a:t>RGPD</a:t>
            </a:r>
            <a:endParaRPr lang="en-US" sz="1300" dirty="0"/>
          </a:p>
        </p:txBody>
      </p:sp>
      <p:sp>
        <p:nvSpPr>
          <p:cNvPr id="28" name="Text 26"/>
          <p:cNvSpPr/>
          <p:nvPr/>
        </p:nvSpPr>
        <p:spPr>
          <a:xfrm>
            <a:off x="3657600" y="5797296"/>
            <a:ext cx="7360920" cy="4114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Demander le consentement, proposer le floutage du visage, permettre la suppression.</a:t>
            </a:r>
            <a:endParaRPr lang="en-US" sz="1300" dirty="0"/>
          </a:p>
        </p:txBody>
      </p:sp>
      <p:sp>
        <p:nvSpPr>
          <p:cNvPr id="29" name="Shape 27"/>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0" name="Text 28"/>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1" name="Text 29"/>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9/26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Estimation : comment on passe du backlog au budget</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Définitions</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Les 4 mots à connaître</a:t>
            </a:r>
            <a:endParaRPr lang="en-US" sz="1800" dirty="0"/>
          </a:p>
        </p:txBody>
      </p:sp>
      <p:sp>
        <p:nvSpPr>
          <p:cNvPr id="7" name="Shape 5"/>
          <p:cNvSpPr/>
          <p:nvPr/>
        </p:nvSpPr>
        <p:spPr>
          <a:xfrm>
            <a:off x="1097280" y="1874520"/>
            <a:ext cx="10058400" cy="841248"/>
          </a:xfrm>
          <a:prstGeom prst="roundRect">
            <a:avLst/>
          </a:prstGeom>
          <a:solidFill>
            <a:srgbClr val="FBFAF7"/>
          </a:solidFill>
          <a:ln w="12700">
            <a:solidFill>
              <a:srgbClr val="E6E0D6"/>
            </a:solidFill>
            <a:prstDash val="solid"/>
          </a:ln>
        </p:spPr>
        <p:txBody>
          <a:bodyPr/>
          <a:lstStyle/>
          <a:p>
            <a:endParaRPr/>
          </a:p>
        </p:txBody>
      </p:sp>
      <p:sp>
        <p:nvSpPr>
          <p:cNvPr id="8" name="Text 6"/>
          <p:cNvSpPr/>
          <p:nvPr/>
        </p:nvSpPr>
        <p:spPr>
          <a:xfrm>
            <a:off x="1325880" y="2039112"/>
            <a:ext cx="292608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SP (Story Points)</a:t>
            </a:r>
            <a:endParaRPr lang="en-US" sz="1400" dirty="0"/>
          </a:p>
        </p:txBody>
      </p:sp>
      <p:sp>
        <p:nvSpPr>
          <p:cNvPr id="9" name="Text 7"/>
          <p:cNvSpPr/>
          <p:nvPr/>
        </p:nvSpPr>
        <p:spPr>
          <a:xfrm>
            <a:off x="4343400" y="2039112"/>
            <a:ext cx="6583680" cy="6400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Une unité pour estimer l’effort. Ici, on fait simple : 1 SP ≈ 1 jour‑homme.</a:t>
            </a:r>
            <a:endParaRPr lang="en-US" sz="1300" dirty="0"/>
          </a:p>
        </p:txBody>
      </p:sp>
      <p:sp>
        <p:nvSpPr>
          <p:cNvPr id="10" name="Shape 8"/>
          <p:cNvSpPr/>
          <p:nvPr/>
        </p:nvSpPr>
        <p:spPr>
          <a:xfrm>
            <a:off x="1097280" y="2825496"/>
            <a:ext cx="10058400" cy="841248"/>
          </a:xfrm>
          <a:prstGeom prst="roundRect">
            <a:avLst/>
          </a:prstGeom>
          <a:solidFill>
            <a:srgbClr val="FBFAF7"/>
          </a:solidFill>
          <a:ln w="12700">
            <a:solidFill>
              <a:srgbClr val="E6E0D6"/>
            </a:solidFill>
            <a:prstDash val="solid"/>
          </a:ln>
        </p:spPr>
        <p:txBody>
          <a:bodyPr/>
          <a:lstStyle/>
          <a:p>
            <a:endParaRPr/>
          </a:p>
        </p:txBody>
      </p:sp>
      <p:sp>
        <p:nvSpPr>
          <p:cNvPr id="11" name="Text 9"/>
          <p:cNvSpPr/>
          <p:nvPr/>
        </p:nvSpPr>
        <p:spPr>
          <a:xfrm>
            <a:off x="1325880" y="2990088"/>
            <a:ext cx="292608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JH (Jour‑Homme)</a:t>
            </a:r>
            <a:endParaRPr lang="en-US" sz="1400" dirty="0"/>
          </a:p>
        </p:txBody>
      </p:sp>
      <p:sp>
        <p:nvSpPr>
          <p:cNvPr id="12" name="Text 10"/>
          <p:cNvSpPr/>
          <p:nvPr/>
        </p:nvSpPr>
        <p:spPr>
          <a:xfrm>
            <a:off x="4343400" y="2990088"/>
            <a:ext cx="6583680" cy="6400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1 personne × 1 jour de travail. Exemple : 10 JH = 10 jours d’une personne.</a:t>
            </a:r>
            <a:endParaRPr lang="en-US" sz="1300" dirty="0"/>
          </a:p>
        </p:txBody>
      </p:sp>
      <p:sp>
        <p:nvSpPr>
          <p:cNvPr id="13" name="Shape 11"/>
          <p:cNvSpPr/>
          <p:nvPr/>
        </p:nvSpPr>
        <p:spPr>
          <a:xfrm>
            <a:off x="1097280" y="3776472"/>
            <a:ext cx="10058400" cy="841248"/>
          </a:xfrm>
          <a:prstGeom prst="roundRect">
            <a:avLst/>
          </a:prstGeom>
          <a:solidFill>
            <a:srgbClr val="FBFAF7"/>
          </a:solidFill>
          <a:ln w="12700">
            <a:solidFill>
              <a:srgbClr val="E6E0D6"/>
            </a:solidFill>
            <a:prstDash val="solid"/>
          </a:ln>
        </p:spPr>
        <p:txBody>
          <a:bodyPr/>
          <a:lstStyle/>
          <a:p>
            <a:endParaRPr/>
          </a:p>
        </p:txBody>
      </p:sp>
      <p:sp>
        <p:nvSpPr>
          <p:cNvPr id="14" name="Text 12"/>
          <p:cNvSpPr/>
          <p:nvPr/>
        </p:nvSpPr>
        <p:spPr>
          <a:xfrm>
            <a:off x="1325880" y="3941064"/>
            <a:ext cx="292608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TJM</a:t>
            </a:r>
            <a:endParaRPr lang="en-US" sz="1400" dirty="0"/>
          </a:p>
        </p:txBody>
      </p:sp>
      <p:sp>
        <p:nvSpPr>
          <p:cNvPr id="15" name="Text 13"/>
          <p:cNvSpPr/>
          <p:nvPr/>
        </p:nvSpPr>
        <p:spPr>
          <a:xfrm>
            <a:off x="4343400" y="3941064"/>
            <a:ext cx="6583680" cy="6400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Coût moyen d’une journée de travail (en €) selon le profil (Dev/DS, PO, QA…).</a:t>
            </a:r>
            <a:endParaRPr lang="en-US" sz="1300" dirty="0"/>
          </a:p>
        </p:txBody>
      </p:sp>
      <p:sp>
        <p:nvSpPr>
          <p:cNvPr id="16" name="Shape 14"/>
          <p:cNvSpPr/>
          <p:nvPr/>
        </p:nvSpPr>
        <p:spPr>
          <a:xfrm>
            <a:off x="1097280" y="4727448"/>
            <a:ext cx="10058400" cy="841248"/>
          </a:xfrm>
          <a:prstGeom prst="roundRect">
            <a:avLst/>
          </a:prstGeom>
          <a:solidFill>
            <a:srgbClr val="FBFAF7"/>
          </a:solidFill>
          <a:ln w="12700">
            <a:solidFill>
              <a:srgbClr val="E6E0D6"/>
            </a:solidFill>
            <a:prstDash val="solid"/>
          </a:ln>
        </p:spPr>
        <p:txBody>
          <a:bodyPr/>
          <a:lstStyle/>
          <a:p>
            <a:endParaRPr/>
          </a:p>
        </p:txBody>
      </p:sp>
      <p:sp>
        <p:nvSpPr>
          <p:cNvPr id="17" name="Text 15"/>
          <p:cNvSpPr/>
          <p:nvPr/>
        </p:nvSpPr>
        <p:spPr>
          <a:xfrm>
            <a:off x="1325880" y="4892040"/>
            <a:ext cx="292608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Buffer (+15%)</a:t>
            </a:r>
            <a:endParaRPr lang="en-US" sz="1400" dirty="0"/>
          </a:p>
        </p:txBody>
      </p:sp>
      <p:sp>
        <p:nvSpPr>
          <p:cNvPr id="18" name="Text 16"/>
          <p:cNvSpPr/>
          <p:nvPr/>
        </p:nvSpPr>
        <p:spPr>
          <a:xfrm>
            <a:off x="4343400" y="4892040"/>
            <a:ext cx="6583680" cy="640080"/>
          </a:xfrm>
          <a:prstGeom prst="rect">
            <a:avLst/>
          </a:prstGeom>
          <a:noFill/>
          <a:ln/>
        </p:spPr>
        <p:txBody>
          <a:bodyPr wrap="square" rtlCol="0" anchor="ctr"/>
          <a:lstStyle/>
          <a:p>
            <a:pPr marL="0" indent="0">
              <a:buNone/>
            </a:pPr>
            <a:r>
              <a:rPr lang="en-US" sz="1300" dirty="0">
                <a:solidFill>
                  <a:srgbClr val="1B1E28"/>
                </a:solidFill>
                <a:latin typeface="Calibri" pitchFamily="34" charset="0"/>
                <a:ea typeface="Calibri" pitchFamily="34" charset="-122"/>
                <a:cs typeface="Calibri" pitchFamily="34" charset="-120"/>
              </a:rPr>
              <a:t>Une marge pour les imprévus (bugs, coordination, ajustements) afin d’éviter un planning trop optimiste.</a:t>
            </a:r>
            <a:endParaRPr lang="en-US" sz="1300" dirty="0"/>
          </a:p>
        </p:txBody>
      </p:sp>
      <p:sp>
        <p:nvSpPr>
          <p:cNvPr id="19" name="Shape 17"/>
          <p:cNvSpPr/>
          <p:nvPr/>
        </p:nvSpPr>
        <p:spPr>
          <a:xfrm>
            <a:off x="1097280" y="5742432"/>
            <a:ext cx="10058400" cy="658368"/>
          </a:xfrm>
          <a:prstGeom prst="roundRect">
            <a:avLst/>
          </a:prstGeom>
          <a:solidFill>
            <a:srgbClr val="0B132B"/>
          </a:solidFill>
          <a:ln w="12700">
            <a:solidFill>
              <a:srgbClr val="0B132B"/>
            </a:solidFill>
            <a:prstDash val="solid"/>
          </a:ln>
        </p:spPr>
        <p:txBody>
          <a:bodyPr/>
          <a:lstStyle/>
          <a:p>
            <a:endParaRPr/>
          </a:p>
        </p:txBody>
      </p:sp>
      <p:sp>
        <p:nvSpPr>
          <p:cNvPr id="20" name="Text 18"/>
          <p:cNvSpPr/>
          <p:nvPr/>
        </p:nvSpPr>
        <p:spPr>
          <a:xfrm>
            <a:off x="1325880" y="5870448"/>
            <a:ext cx="96012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Exemple : 115 SP → 115 JH (sans marge) → ~132 JH (avec +15%) → budget estimé en appliquant les TJM par profil.</a:t>
            </a:r>
            <a:endParaRPr lang="en-US" sz="1300" dirty="0"/>
          </a:p>
        </p:txBody>
      </p:sp>
      <p:sp>
        <p:nvSpPr>
          <p:cNvPr id="21" name="Shape 1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2" name="Text 2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3" name="Text 2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Méthode : Scrum</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Ce que l’équipe fait, semaine après semaine</a:t>
            </a:r>
            <a:endParaRPr lang="en-US" sz="1200" dirty="0"/>
          </a:p>
        </p:txBody>
      </p:sp>
      <p:sp>
        <p:nvSpPr>
          <p:cNvPr id="5" name="Shape 3"/>
          <p:cNvSpPr/>
          <p:nvPr/>
        </p:nvSpPr>
        <p:spPr>
          <a:xfrm>
            <a:off x="731520" y="1097280"/>
            <a:ext cx="534924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475488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Rôles</a:t>
            </a:r>
            <a:endParaRPr lang="en-US" sz="1800" dirty="0"/>
          </a:p>
        </p:txBody>
      </p:sp>
      <p:sp>
        <p:nvSpPr>
          <p:cNvPr id="7" name="Text 5"/>
          <p:cNvSpPr/>
          <p:nvPr/>
        </p:nvSpPr>
        <p:spPr>
          <a:xfrm>
            <a:off x="1097280" y="1783080"/>
            <a:ext cx="4754880" cy="118364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Product Owner (PO) : clarifie le besoin et priorise le backlog.</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Scrum Master (SM) : aide l’équipe à tenir la méthode et enlève les obstacles.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Équipe (Dev/DS/ML) : construit, teste et livre le produit.</a:t>
            </a:r>
            <a:endParaRPr lang="en-US" sz="1400" dirty="0"/>
          </a:p>
        </p:txBody>
      </p:sp>
      <p:sp>
        <p:nvSpPr>
          <p:cNvPr id="8" name="Shape 6"/>
          <p:cNvSpPr/>
          <p:nvPr/>
        </p:nvSpPr>
        <p:spPr>
          <a:xfrm>
            <a:off x="6446520" y="1097280"/>
            <a:ext cx="5029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9" name="Text 7"/>
          <p:cNvSpPr/>
          <p:nvPr/>
        </p:nvSpPr>
        <p:spPr>
          <a:xfrm>
            <a:off x="6812280" y="1325880"/>
            <a:ext cx="448056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Rituels</a:t>
            </a:r>
            <a:endParaRPr lang="en-US" sz="1800" dirty="0"/>
          </a:p>
        </p:txBody>
      </p:sp>
      <p:sp>
        <p:nvSpPr>
          <p:cNvPr id="10" name="Text 8"/>
          <p:cNvSpPr/>
          <p:nvPr/>
        </p:nvSpPr>
        <p:spPr>
          <a:xfrm>
            <a:off x="6812280" y="1783080"/>
            <a:ext cx="448056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Sprint Planning : on choisit les stories du sprint (2 semaines).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Daily (15 min) : point rapide pour éviter les blocages.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Sprint Review : démonstration au métier, retour immédiat.</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Rétrospective : on améliore la façon de travailler.</a:t>
            </a:r>
            <a:endParaRPr lang="en-US" sz="1400" dirty="0"/>
          </a:p>
        </p:txBody>
      </p:sp>
      <p:sp>
        <p:nvSpPr>
          <p:cNvPr id="11" name="Text 9"/>
          <p:cNvSpPr/>
          <p:nvPr/>
        </p:nvSpPr>
        <p:spPr>
          <a:xfrm>
            <a:off x="822960" y="6172200"/>
            <a:ext cx="11064240" cy="32004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Scrum est utile ici car on peut montrer quelque chose de concret toutes les deux semaines, mesurer l’usage, et ajuster rapidement ce qui ne marche pas.</a:t>
            </a:r>
            <a:endParaRPr lang="en-US" sz="1200" dirty="0"/>
          </a:p>
        </p:txBody>
      </p:sp>
      <p:sp>
        <p:nvSpPr>
          <p:cNvPr id="12" name="Shape 1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3" name="Text 1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4" name="Text 1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11/26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Planning du MVP : 4 sprints</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8 semaines</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Shape 4"/>
          <p:cNvSpPr/>
          <p:nvPr/>
        </p:nvSpPr>
        <p:spPr>
          <a:xfrm>
            <a:off x="1097280" y="2423160"/>
            <a:ext cx="9966960" cy="164592"/>
          </a:xfrm>
          <a:prstGeom prst="rect">
            <a:avLst/>
          </a:prstGeom>
          <a:solidFill>
            <a:srgbClr val="E6E0D6"/>
          </a:solidFill>
          <a:ln w="12700">
            <a:solidFill>
              <a:srgbClr val="E6E0D6"/>
            </a:solidFill>
            <a:prstDash val="solid"/>
          </a:ln>
        </p:spPr>
        <p:txBody>
          <a:bodyPr/>
          <a:lstStyle/>
          <a:p>
            <a:endParaRPr/>
          </a:p>
        </p:txBody>
      </p:sp>
      <p:sp>
        <p:nvSpPr>
          <p:cNvPr id="7" name="Shape 5"/>
          <p:cNvSpPr/>
          <p:nvPr/>
        </p:nvSpPr>
        <p:spPr>
          <a:xfrm>
            <a:off x="1097280" y="1691640"/>
            <a:ext cx="2354580" cy="4251960"/>
          </a:xfrm>
          <a:prstGeom prst="roundRect">
            <a:avLst/>
          </a:prstGeom>
          <a:solidFill>
            <a:srgbClr val="FBFAF7"/>
          </a:solidFill>
          <a:ln w="12700">
            <a:solidFill>
              <a:srgbClr val="E6E0D6"/>
            </a:solidFill>
            <a:prstDash val="solid"/>
          </a:ln>
        </p:spPr>
        <p:txBody>
          <a:bodyPr/>
          <a:lstStyle/>
          <a:p>
            <a:endParaRPr/>
          </a:p>
        </p:txBody>
      </p:sp>
      <p:sp>
        <p:nvSpPr>
          <p:cNvPr id="8" name="Shape 6"/>
          <p:cNvSpPr/>
          <p:nvPr/>
        </p:nvSpPr>
        <p:spPr>
          <a:xfrm>
            <a:off x="1280160" y="1920240"/>
            <a:ext cx="1988820" cy="502920"/>
          </a:xfrm>
          <a:prstGeom prst="roundRect">
            <a:avLst/>
          </a:prstGeom>
          <a:solidFill>
            <a:srgbClr val="0B132B"/>
          </a:solidFill>
          <a:ln w="12700">
            <a:solidFill>
              <a:srgbClr val="0B132B"/>
            </a:solidFill>
            <a:prstDash val="solid"/>
          </a:ln>
        </p:spPr>
        <p:txBody>
          <a:bodyPr/>
          <a:lstStyle/>
          <a:p>
            <a:endParaRPr/>
          </a:p>
        </p:txBody>
      </p:sp>
      <p:sp>
        <p:nvSpPr>
          <p:cNvPr id="9" name="Text 7"/>
          <p:cNvSpPr/>
          <p:nvPr/>
        </p:nvSpPr>
        <p:spPr>
          <a:xfrm>
            <a:off x="1280160" y="2002536"/>
            <a:ext cx="19888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Sprint 1</a:t>
            </a:r>
            <a:endParaRPr lang="en-US" sz="1200" dirty="0"/>
          </a:p>
        </p:txBody>
      </p:sp>
      <p:sp>
        <p:nvSpPr>
          <p:cNvPr id="10" name="Text 8"/>
          <p:cNvSpPr/>
          <p:nvPr/>
        </p:nvSpPr>
        <p:spPr>
          <a:xfrm>
            <a:off x="1417320" y="2560320"/>
            <a:ext cx="1714500" cy="502920"/>
          </a:xfrm>
          <a:prstGeom prst="rect">
            <a:avLst/>
          </a:prstGeom>
          <a:noFill/>
          <a:ln/>
        </p:spPr>
        <p:txBody>
          <a:bodyPr wrap="square" rtlCol="0" anchor="t"/>
          <a:lstStyle/>
          <a:p>
            <a:pPr marL="0" indent="0">
              <a:buNone/>
            </a:pPr>
            <a:r>
              <a:rPr lang="en-US" sz="1400" b="1" dirty="0">
                <a:solidFill>
                  <a:srgbClr val="1B1E28"/>
                </a:solidFill>
                <a:latin typeface="Calibri" pitchFamily="34" charset="0"/>
                <a:ea typeface="Calibri" pitchFamily="34" charset="-122"/>
                <a:cs typeface="Calibri" pitchFamily="34" charset="-120"/>
              </a:rPr>
              <a:t>Photo + qualité + consentement</a:t>
            </a:r>
            <a:endParaRPr lang="en-US" sz="1400" dirty="0"/>
          </a:p>
        </p:txBody>
      </p:sp>
      <p:sp>
        <p:nvSpPr>
          <p:cNvPr id="11" name="Text 9"/>
          <p:cNvSpPr/>
          <p:nvPr/>
        </p:nvSpPr>
        <p:spPr>
          <a:xfrm>
            <a:off x="1417320" y="3108960"/>
            <a:ext cx="1714500" cy="246888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Prise/import, contrôle flou/lumière, option floutage visage, base technique.</a:t>
            </a:r>
            <a:endParaRPr lang="en-US" sz="1250" dirty="0"/>
          </a:p>
        </p:txBody>
      </p:sp>
      <p:sp>
        <p:nvSpPr>
          <p:cNvPr id="12" name="Shape 10"/>
          <p:cNvSpPr/>
          <p:nvPr/>
        </p:nvSpPr>
        <p:spPr>
          <a:xfrm>
            <a:off x="2164842" y="2276856"/>
            <a:ext cx="219456" cy="219456"/>
          </a:xfrm>
          <a:prstGeom prst="ellipse">
            <a:avLst/>
          </a:prstGeom>
          <a:solidFill>
            <a:srgbClr val="C8A45D"/>
          </a:solidFill>
          <a:ln w="12700">
            <a:solidFill>
              <a:srgbClr val="C8A45D"/>
            </a:solidFill>
            <a:prstDash val="solid"/>
          </a:ln>
        </p:spPr>
        <p:txBody>
          <a:bodyPr/>
          <a:lstStyle/>
          <a:p>
            <a:endParaRPr/>
          </a:p>
        </p:txBody>
      </p:sp>
      <p:sp>
        <p:nvSpPr>
          <p:cNvPr id="13" name="Shape 11"/>
          <p:cNvSpPr/>
          <p:nvPr/>
        </p:nvSpPr>
        <p:spPr>
          <a:xfrm>
            <a:off x="3589020" y="1691640"/>
            <a:ext cx="2354580" cy="4251960"/>
          </a:xfrm>
          <a:prstGeom prst="roundRect">
            <a:avLst/>
          </a:prstGeom>
          <a:solidFill>
            <a:srgbClr val="FBFAF7"/>
          </a:solidFill>
          <a:ln w="12700">
            <a:solidFill>
              <a:srgbClr val="E6E0D6"/>
            </a:solidFill>
            <a:prstDash val="solid"/>
          </a:ln>
        </p:spPr>
        <p:txBody>
          <a:bodyPr/>
          <a:lstStyle/>
          <a:p>
            <a:endParaRPr/>
          </a:p>
        </p:txBody>
      </p:sp>
      <p:sp>
        <p:nvSpPr>
          <p:cNvPr id="14" name="Shape 12"/>
          <p:cNvSpPr/>
          <p:nvPr/>
        </p:nvSpPr>
        <p:spPr>
          <a:xfrm>
            <a:off x="3771900" y="1920240"/>
            <a:ext cx="1988820" cy="502920"/>
          </a:xfrm>
          <a:prstGeom prst="roundRect">
            <a:avLst/>
          </a:prstGeom>
          <a:solidFill>
            <a:srgbClr val="0B132B"/>
          </a:solidFill>
          <a:ln w="12700">
            <a:solidFill>
              <a:srgbClr val="0B132B"/>
            </a:solidFill>
            <a:prstDash val="solid"/>
          </a:ln>
        </p:spPr>
        <p:txBody>
          <a:bodyPr/>
          <a:lstStyle/>
          <a:p>
            <a:endParaRPr/>
          </a:p>
        </p:txBody>
      </p:sp>
      <p:sp>
        <p:nvSpPr>
          <p:cNvPr id="15" name="Text 13"/>
          <p:cNvSpPr/>
          <p:nvPr/>
        </p:nvSpPr>
        <p:spPr>
          <a:xfrm>
            <a:off x="3771900" y="2002536"/>
            <a:ext cx="19888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Sprint 2</a:t>
            </a:r>
            <a:endParaRPr lang="en-US" sz="1200" dirty="0"/>
          </a:p>
        </p:txBody>
      </p:sp>
      <p:sp>
        <p:nvSpPr>
          <p:cNvPr id="16" name="Text 14"/>
          <p:cNvSpPr/>
          <p:nvPr/>
        </p:nvSpPr>
        <p:spPr>
          <a:xfrm>
            <a:off x="3909060" y="2560320"/>
            <a:ext cx="1714500" cy="502920"/>
          </a:xfrm>
          <a:prstGeom prst="rect">
            <a:avLst/>
          </a:prstGeom>
          <a:noFill/>
          <a:ln/>
        </p:spPr>
        <p:txBody>
          <a:bodyPr wrap="square" rtlCol="0" anchor="t"/>
          <a:lstStyle/>
          <a:p>
            <a:pPr marL="0" indent="0">
              <a:buNone/>
            </a:pPr>
            <a:r>
              <a:rPr lang="en-US" sz="1400" b="1" dirty="0">
                <a:solidFill>
                  <a:srgbClr val="1B1E28"/>
                </a:solidFill>
                <a:latin typeface="Calibri" pitchFamily="34" charset="0"/>
                <a:ea typeface="Calibri" pitchFamily="34" charset="-122"/>
                <a:cs typeface="Calibri" pitchFamily="34" charset="-120"/>
              </a:rPr>
              <a:t>Analyse + signature (embedding)</a:t>
            </a:r>
            <a:endParaRPr lang="en-US" sz="1400" dirty="0"/>
          </a:p>
        </p:txBody>
      </p:sp>
      <p:sp>
        <p:nvSpPr>
          <p:cNvPr id="17" name="Text 15"/>
          <p:cNvSpPr/>
          <p:nvPr/>
        </p:nvSpPr>
        <p:spPr>
          <a:xfrm>
            <a:off x="3909060" y="3108960"/>
            <a:ext cx="1714500" cy="246888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Catégorie, couleurs dominantes, génération et stockage des signatures produits.</a:t>
            </a:r>
            <a:endParaRPr lang="en-US" sz="1250" dirty="0"/>
          </a:p>
        </p:txBody>
      </p:sp>
      <p:sp>
        <p:nvSpPr>
          <p:cNvPr id="18" name="Shape 16"/>
          <p:cNvSpPr/>
          <p:nvPr/>
        </p:nvSpPr>
        <p:spPr>
          <a:xfrm>
            <a:off x="4656582" y="2276856"/>
            <a:ext cx="219456" cy="219456"/>
          </a:xfrm>
          <a:prstGeom prst="ellipse">
            <a:avLst/>
          </a:prstGeom>
          <a:solidFill>
            <a:srgbClr val="C8A45D"/>
          </a:solidFill>
          <a:ln w="12700">
            <a:solidFill>
              <a:srgbClr val="C8A45D"/>
            </a:solidFill>
            <a:prstDash val="solid"/>
          </a:ln>
        </p:spPr>
        <p:txBody>
          <a:bodyPr/>
          <a:lstStyle/>
          <a:p>
            <a:endParaRPr/>
          </a:p>
        </p:txBody>
      </p:sp>
      <p:sp>
        <p:nvSpPr>
          <p:cNvPr id="19" name="Shape 17"/>
          <p:cNvSpPr/>
          <p:nvPr/>
        </p:nvSpPr>
        <p:spPr>
          <a:xfrm>
            <a:off x="6080760" y="1691640"/>
            <a:ext cx="2354580" cy="4251960"/>
          </a:xfrm>
          <a:prstGeom prst="roundRect">
            <a:avLst/>
          </a:prstGeom>
          <a:solidFill>
            <a:srgbClr val="FBFAF7"/>
          </a:solidFill>
          <a:ln w="12700">
            <a:solidFill>
              <a:srgbClr val="E6E0D6"/>
            </a:solidFill>
            <a:prstDash val="solid"/>
          </a:ln>
        </p:spPr>
        <p:txBody>
          <a:bodyPr/>
          <a:lstStyle/>
          <a:p>
            <a:endParaRPr/>
          </a:p>
        </p:txBody>
      </p:sp>
      <p:sp>
        <p:nvSpPr>
          <p:cNvPr id="20" name="Shape 18"/>
          <p:cNvSpPr/>
          <p:nvPr/>
        </p:nvSpPr>
        <p:spPr>
          <a:xfrm>
            <a:off x="6263640" y="1920240"/>
            <a:ext cx="1988820" cy="502920"/>
          </a:xfrm>
          <a:prstGeom prst="roundRect">
            <a:avLst/>
          </a:prstGeom>
          <a:solidFill>
            <a:srgbClr val="0B132B"/>
          </a:solidFill>
          <a:ln w="12700">
            <a:solidFill>
              <a:srgbClr val="0B132B"/>
            </a:solidFill>
            <a:prstDash val="solid"/>
          </a:ln>
        </p:spPr>
        <p:txBody>
          <a:bodyPr/>
          <a:lstStyle/>
          <a:p>
            <a:endParaRPr/>
          </a:p>
        </p:txBody>
      </p:sp>
      <p:sp>
        <p:nvSpPr>
          <p:cNvPr id="21" name="Text 19"/>
          <p:cNvSpPr/>
          <p:nvPr/>
        </p:nvSpPr>
        <p:spPr>
          <a:xfrm>
            <a:off x="6263640" y="2002536"/>
            <a:ext cx="19888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Sprint 3</a:t>
            </a:r>
            <a:endParaRPr lang="en-US" sz="1200" dirty="0"/>
          </a:p>
        </p:txBody>
      </p:sp>
      <p:sp>
        <p:nvSpPr>
          <p:cNvPr id="22" name="Text 20"/>
          <p:cNvSpPr/>
          <p:nvPr/>
        </p:nvSpPr>
        <p:spPr>
          <a:xfrm>
            <a:off x="6400800" y="2560320"/>
            <a:ext cx="1714500" cy="502920"/>
          </a:xfrm>
          <a:prstGeom prst="rect">
            <a:avLst/>
          </a:prstGeom>
          <a:noFill/>
          <a:ln/>
        </p:spPr>
        <p:txBody>
          <a:bodyPr wrap="square" rtlCol="0" anchor="t"/>
          <a:lstStyle/>
          <a:p>
            <a:pPr marL="0" indent="0">
              <a:buNone/>
            </a:pPr>
            <a:r>
              <a:rPr lang="en-US" sz="1400" b="1" dirty="0">
                <a:solidFill>
                  <a:srgbClr val="1B1E28"/>
                </a:solidFill>
                <a:latin typeface="Calibri" pitchFamily="34" charset="0"/>
                <a:ea typeface="Calibri" pitchFamily="34" charset="-122"/>
                <a:cs typeface="Calibri" pitchFamily="34" charset="-120"/>
              </a:rPr>
              <a:t>Recommandation + affichage</a:t>
            </a:r>
            <a:endParaRPr lang="en-US" sz="1400" dirty="0"/>
          </a:p>
        </p:txBody>
      </p:sp>
      <p:sp>
        <p:nvSpPr>
          <p:cNvPr id="23" name="Text 21"/>
          <p:cNvSpPr/>
          <p:nvPr/>
        </p:nvSpPr>
        <p:spPr>
          <a:xfrm>
            <a:off x="6400800" y="3108960"/>
            <a:ext cx="1714500" cy="246888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Top‑N résultats, filtres, fiche produit, plan B si l’IA est indisponible.</a:t>
            </a:r>
            <a:endParaRPr lang="en-US" sz="1250" dirty="0"/>
          </a:p>
        </p:txBody>
      </p:sp>
      <p:sp>
        <p:nvSpPr>
          <p:cNvPr id="24" name="Shape 22"/>
          <p:cNvSpPr/>
          <p:nvPr/>
        </p:nvSpPr>
        <p:spPr>
          <a:xfrm>
            <a:off x="7148322" y="2276856"/>
            <a:ext cx="219456" cy="219456"/>
          </a:xfrm>
          <a:prstGeom prst="ellipse">
            <a:avLst/>
          </a:prstGeom>
          <a:solidFill>
            <a:srgbClr val="C8A45D"/>
          </a:solidFill>
          <a:ln w="12700">
            <a:solidFill>
              <a:srgbClr val="C8A45D"/>
            </a:solidFill>
            <a:prstDash val="solid"/>
          </a:ln>
        </p:spPr>
        <p:txBody>
          <a:bodyPr/>
          <a:lstStyle/>
          <a:p>
            <a:endParaRPr/>
          </a:p>
        </p:txBody>
      </p:sp>
      <p:sp>
        <p:nvSpPr>
          <p:cNvPr id="25" name="Shape 23"/>
          <p:cNvSpPr/>
          <p:nvPr/>
        </p:nvSpPr>
        <p:spPr>
          <a:xfrm>
            <a:off x="8572500" y="1691640"/>
            <a:ext cx="2354580" cy="4251960"/>
          </a:xfrm>
          <a:prstGeom prst="roundRect">
            <a:avLst/>
          </a:prstGeom>
          <a:solidFill>
            <a:srgbClr val="FBFAF7"/>
          </a:solidFill>
          <a:ln w="12700">
            <a:solidFill>
              <a:srgbClr val="E6E0D6"/>
            </a:solidFill>
            <a:prstDash val="solid"/>
          </a:ln>
        </p:spPr>
        <p:txBody>
          <a:bodyPr/>
          <a:lstStyle/>
          <a:p>
            <a:endParaRPr/>
          </a:p>
        </p:txBody>
      </p:sp>
      <p:sp>
        <p:nvSpPr>
          <p:cNvPr id="26" name="Shape 24"/>
          <p:cNvSpPr/>
          <p:nvPr/>
        </p:nvSpPr>
        <p:spPr>
          <a:xfrm>
            <a:off x="8755380" y="1920240"/>
            <a:ext cx="1988820" cy="502920"/>
          </a:xfrm>
          <a:prstGeom prst="roundRect">
            <a:avLst/>
          </a:prstGeom>
          <a:solidFill>
            <a:srgbClr val="0B132B"/>
          </a:solidFill>
          <a:ln w="12700">
            <a:solidFill>
              <a:srgbClr val="0B132B"/>
            </a:solidFill>
            <a:prstDash val="solid"/>
          </a:ln>
        </p:spPr>
        <p:txBody>
          <a:bodyPr/>
          <a:lstStyle/>
          <a:p>
            <a:endParaRPr/>
          </a:p>
        </p:txBody>
      </p:sp>
      <p:sp>
        <p:nvSpPr>
          <p:cNvPr id="27" name="Text 25"/>
          <p:cNvSpPr/>
          <p:nvPr/>
        </p:nvSpPr>
        <p:spPr>
          <a:xfrm>
            <a:off x="8755380" y="2002536"/>
            <a:ext cx="19888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Sprint 4</a:t>
            </a:r>
            <a:endParaRPr lang="en-US" sz="1200" dirty="0"/>
          </a:p>
        </p:txBody>
      </p:sp>
      <p:sp>
        <p:nvSpPr>
          <p:cNvPr id="28" name="Text 26"/>
          <p:cNvSpPr/>
          <p:nvPr/>
        </p:nvSpPr>
        <p:spPr>
          <a:xfrm>
            <a:off x="8892540" y="2560320"/>
            <a:ext cx="1714500" cy="502920"/>
          </a:xfrm>
          <a:prstGeom prst="rect">
            <a:avLst/>
          </a:prstGeom>
          <a:noFill/>
          <a:ln/>
        </p:spPr>
        <p:txBody>
          <a:bodyPr wrap="square" rtlCol="0" anchor="t"/>
          <a:lstStyle/>
          <a:p>
            <a:pPr marL="0" indent="0">
              <a:buNone/>
            </a:pPr>
            <a:r>
              <a:rPr lang="en-US" sz="1400" b="1" dirty="0">
                <a:solidFill>
                  <a:srgbClr val="1B1E28"/>
                </a:solidFill>
                <a:latin typeface="Calibri" pitchFamily="34" charset="0"/>
                <a:ea typeface="Calibri" pitchFamily="34" charset="-122"/>
                <a:cs typeface="Calibri" pitchFamily="34" charset="-120"/>
              </a:rPr>
              <a:t>Finalisation MVP + pilotage</a:t>
            </a:r>
            <a:endParaRPr lang="en-US" sz="1400" dirty="0"/>
          </a:p>
        </p:txBody>
      </p:sp>
      <p:sp>
        <p:nvSpPr>
          <p:cNvPr id="29" name="Text 27"/>
          <p:cNvSpPr/>
          <p:nvPr/>
        </p:nvSpPr>
        <p:spPr>
          <a:xfrm>
            <a:off x="8892540" y="3108960"/>
            <a:ext cx="1714500" cy="246888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Feedback utile/pas utile, préférences simples, reco sans photo, modération, KPI, logs, tests finaux et préparation lancement.</a:t>
            </a:r>
            <a:endParaRPr lang="en-US" sz="1250" dirty="0"/>
          </a:p>
        </p:txBody>
      </p:sp>
      <p:sp>
        <p:nvSpPr>
          <p:cNvPr id="30" name="Shape 28"/>
          <p:cNvSpPr/>
          <p:nvPr/>
        </p:nvSpPr>
        <p:spPr>
          <a:xfrm>
            <a:off x="9640062" y="2276856"/>
            <a:ext cx="219456" cy="219456"/>
          </a:xfrm>
          <a:prstGeom prst="ellipse">
            <a:avLst/>
          </a:prstGeom>
          <a:solidFill>
            <a:srgbClr val="C8A45D"/>
          </a:solidFill>
          <a:ln w="12700">
            <a:solidFill>
              <a:srgbClr val="C8A45D"/>
            </a:solidFill>
            <a:prstDash val="solid"/>
          </a:ln>
        </p:spPr>
        <p:txBody>
          <a:bodyPr/>
          <a:lstStyle/>
          <a:p>
            <a:endParaRPr/>
          </a:p>
        </p:txBody>
      </p:sp>
      <p:sp>
        <p:nvSpPr>
          <p:cNvPr id="31" name="Text 29"/>
          <p:cNvSpPr/>
          <p:nvPr/>
        </p:nvSpPr>
        <p:spPr>
          <a:xfrm>
            <a:off x="1097280" y="6080760"/>
            <a:ext cx="10058400" cy="41148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Point de suivi à chaque sprint : avancement (US livrées), indicateurs (KPI), risques, coûts Azure, décisions “on continue / on ajuste”.</a:t>
            </a:r>
            <a:endParaRPr lang="en-US" sz="1200" dirty="0"/>
          </a:p>
        </p:txBody>
      </p:sp>
      <p:sp>
        <p:nvSpPr>
          <p:cNvPr id="32" name="Shape 3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3" name="Text 3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4" name="Text 3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12/26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Ressources nécessaires</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Humain + technique</a:t>
            </a:r>
            <a:endParaRPr lang="en-US" sz="1200" dirty="0"/>
          </a:p>
        </p:txBody>
      </p:sp>
      <p:sp>
        <p:nvSpPr>
          <p:cNvPr id="5" name="Shape 3"/>
          <p:cNvSpPr/>
          <p:nvPr/>
        </p:nvSpPr>
        <p:spPr>
          <a:xfrm>
            <a:off x="731520" y="1097280"/>
            <a:ext cx="566928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512064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Équipe type (MVP)</a:t>
            </a:r>
            <a:endParaRPr lang="en-US" sz="1800" dirty="0"/>
          </a:p>
        </p:txBody>
      </p:sp>
      <p:sp>
        <p:nvSpPr>
          <p:cNvPr id="7" name="Text 5"/>
          <p:cNvSpPr/>
          <p:nvPr/>
        </p:nvSpPr>
        <p:spPr>
          <a:xfrm>
            <a:off x="1097280" y="1783080"/>
            <a:ext cx="512064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1 Product Owner : besoin, priorisation, KPI.</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1 Scrum Master : rythme, coordination, obstacles.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2 Dev/DS : backend, intégration IA, data, qualité.</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1 QA/Test (part‑time) : tests, validation, non‑régression.</a:t>
            </a:r>
            <a:endParaRPr lang="en-US" sz="1400" dirty="0"/>
          </a:p>
        </p:txBody>
      </p:sp>
      <p:sp>
        <p:nvSpPr>
          <p:cNvPr id="8" name="Shape 6"/>
          <p:cNvSpPr/>
          <p:nvPr/>
        </p:nvSpPr>
        <p:spPr>
          <a:xfrm>
            <a:off x="1097280" y="5166360"/>
            <a:ext cx="251460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9" name="Shape 7"/>
          <p:cNvSpPr/>
          <p:nvPr/>
        </p:nvSpPr>
        <p:spPr>
          <a:xfrm>
            <a:off x="1097280" y="5166360"/>
            <a:ext cx="73152" cy="1234440"/>
          </a:xfrm>
          <a:prstGeom prst="rect">
            <a:avLst/>
          </a:prstGeom>
          <a:solidFill>
            <a:srgbClr val="C8A45D"/>
          </a:solidFill>
          <a:ln w="12700">
            <a:solidFill>
              <a:srgbClr val="C8A45D"/>
            </a:solidFill>
            <a:prstDash val="solid"/>
          </a:ln>
        </p:spPr>
        <p:txBody>
          <a:bodyPr/>
          <a:lstStyle/>
          <a:p>
            <a:endParaRPr/>
          </a:p>
        </p:txBody>
      </p:sp>
      <p:sp>
        <p:nvSpPr>
          <p:cNvPr id="10" name="Text 8"/>
          <p:cNvSpPr/>
          <p:nvPr/>
        </p:nvSpPr>
        <p:spPr>
          <a:xfrm>
            <a:off x="1261872" y="5257800"/>
            <a:ext cx="219456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Charge estimée</a:t>
            </a:r>
            <a:endParaRPr lang="en-US" sz="1200" dirty="0"/>
          </a:p>
        </p:txBody>
      </p:sp>
      <p:sp>
        <p:nvSpPr>
          <p:cNvPr id="11" name="Text 9"/>
          <p:cNvSpPr/>
          <p:nvPr/>
        </p:nvSpPr>
        <p:spPr>
          <a:xfrm>
            <a:off x="1261872" y="5468112"/>
            <a:ext cx="219456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~132 JH</a:t>
            </a:r>
            <a:endParaRPr lang="en-US" sz="2800" dirty="0"/>
          </a:p>
        </p:txBody>
      </p:sp>
      <p:sp>
        <p:nvSpPr>
          <p:cNvPr id="12" name="Text 10"/>
          <p:cNvSpPr/>
          <p:nvPr/>
        </p:nvSpPr>
        <p:spPr>
          <a:xfrm>
            <a:off x="1261872" y="6108192"/>
            <a:ext cx="219456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inclut +15% de marge</a:t>
            </a:r>
            <a:endParaRPr lang="en-US" sz="1000" dirty="0"/>
          </a:p>
        </p:txBody>
      </p:sp>
      <p:sp>
        <p:nvSpPr>
          <p:cNvPr id="13" name="Shape 11"/>
          <p:cNvSpPr/>
          <p:nvPr/>
        </p:nvSpPr>
        <p:spPr>
          <a:xfrm>
            <a:off x="3749040" y="5166360"/>
            <a:ext cx="26974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4" name="Shape 12"/>
          <p:cNvSpPr/>
          <p:nvPr/>
        </p:nvSpPr>
        <p:spPr>
          <a:xfrm>
            <a:off x="3749040" y="5166360"/>
            <a:ext cx="73152" cy="1234440"/>
          </a:xfrm>
          <a:prstGeom prst="rect">
            <a:avLst/>
          </a:prstGeom>
          <a:solidFill>
            <a:srgbClr val="C8A45D"/>
          </a:solidFill>
          <a:ln w="12700">
            <a:solidFill>
              <a:srgbClr val="C8A45D"/>
            </a:solidFill>
            <a:prstDash val="solid"/>
          </a:ln>
        </p:spPr>
        <p:txBody>
          <a:bodyPr/>
          <a:lstStyle/>
          <a:p>
            <a:endParaRPr/>
          </a:p>
        </p:txBody>
      </p:sp>
      <p:sp>
        <p:nvSpPr>
          <p:cNvPr id="15" name="Text 13"/>
          <p:cNvSpPr/>
          <p:nvPr/>
        </p:nvSpPr>
        <p:spPr>
          <a:xfrm>
            <a:off x="3913632" y="5257800"/>
            <a:ext cx="23774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Cadence</a:t>
            </a:r>
            <a:endParaRPr lang="en-US" sz="1200" dirty="0"/>
          </a:p>
        </p:txBody>
      </p:sp>
      <p:sp>
        <p:nvSpPr>
          <p:cNvPr id="16" name="Text 14"/>
          <p:cNvSpPr/>
          <p:nvPr/>
        </p:nvSpPr>
        <p:spPr>
          <a:xfrm>
            <a:off x="3913632" y="5468112"/>
            <a:ext cx="23774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2 semaines</a:t>
            </a:r>
            <a:endParaRPr lang="en-US" sz="2800" dirty="0"/>
          </a:p>
        </p:txBody>
      </p:sp>
      <p:sp>
        <p:nvSpPr>
          <p:cNvPr id="17" name="Text 15"/>
          <p:cNvSpPr/>
          <p:nvPr/>
        </p:nvSpPr>
        <p:spPr>
          <a:xfrm>
            <a:off x="3913632" y="6108192"/>
            <a:ext cx="23774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1 livraison / sprint</a:t>
            </a:r>
            <a:endParaRPr lang="en-US" sz="1000" dirty="0"/>
          </a:p>
        </p:txBody>
      </p:sp>
      <p:sp>
        <p:nvSpPr>
          <p:cNvPr id="18" name="Shape 16"/>
          <p:cNvSpPr/>
          <p:nvPr/>
        </p:nvSpPr>
        <p:spPr>
          <a:xfrm>
            <a:off x="6629400" y="1097280"/>
            <a:ext cx="484632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19" name="Text 17"/>
          <p:cNvSpPr/>
          <p:nvPr/>
        </p:nvSpPr>
        <p:spPr>
          <a:xfrm>
            <a:off x="6995160" y="1325880"/>
            <a:ext cx="434340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Outils Azure (simple)</a:t>
            </a:r>
            <a:endParaRPr lang="en-US" sz="1800" dirty="0"/>
          </a:p>
        </p:txBody>
      </p:sp>
      <p:sp>
        <p:nvSpPr>
          <p:cNvPr id="20" name="Text 18"/>
          <p:cNvSpPr/>
          <p:nvPr/>
        </p:nvSpPr>
        <p:spPr>
          <a:xfrm>
            <a:off x="6995160" y="1783080"/>
            <a:ext cx="4343400" cy="159258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Stockage images : Azure Blob Storage.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Backend API : App Service ou Functions.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Services IA : extraction de features + embeddings.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Logs &amp; monitoring : Azure Monitor.</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Sécurité : contrôle d’accès, chiffrement, traçabilité.</a:t>
            </a:r>
            <a:endParaRPr lang="en-US" sz="1400" dirty="0"/>
          </a:p>
        </p:txBody>
      </p:sp>
      <p:sp>
        <p:nvSpPr>
          <p:cNvPr id="21" name="Shape 1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2" name="Text 2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3" name="Text 2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13/26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Architecture (vue simple)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Cloud + IA</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Shape 4"/>
          <p:cNvSpPr/>
          <p:nvPr/>
        </p:nvSpPr>
        <p:spPr>
          <a:xfrm>
            <a:off x="1097280" y="1600200"/>
            <a:ext cx="3108960" cy="1371600"/>
          </a:xfrm>
          <a:prstGeom prst="roundRect">
            <a:avLst/>
          </a:prstGeom>
          <a:solidFill>
            <a:srgbClr val="FBFAF7"/>
          </a:solidFill>
          <a:ln w="12700">
            <a:solidFill>
              <a:srgbClr val="E6E0D6"/>
            </a:solidFill>
            <a:prstDash val="solid"/>
          </a:ln>
        </p:spPr>
        <p:txBody>
          <a:bodyPr/>
          <a:lstStyle/>
          <a:p>
            <a:endParaRPr/>
          </a:p>
        </p:txBody>
      </p:sp>
      <p:sp>
        <p:nvSpPr>
          <p:cNvPr id="7" name="Text 5"/>
          <p:cNvSpPr/>
          <p:nvPr/>
        </p:nvSpPr>
        <p:spPr>
          <a:xfrm>
            <a:off x="1280160" y="1737360"/>
            <a:ext cx="274320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App mobile</a:t>
            </a:r>
            <a:endParaRPr lang="en-US" sz="1400" dirty="0"/>
          </a:p>
        </p:txBody>
      </p:sp>
      <p:sp>
        <p:nvSpPr>
          <p:cNvPr id="8" name="Text 6"/>
          <p:cNvSpPr/>
          <p:nvPr/>
        </p:nvSpPr>
        <p:spPr>
          <a:xfrm>
            <a:off x="1280160" y="2103120"/>
            <a:ext cx="274320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Photo + consentement</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Affichage reco + filtres</a:t>
            </a:r>
            <a:endParaRPr lang="en-US" sz="1200" dirty="0"/>
          </a:p>
        </p:txBody>
      </p:sp>
      <p:sp>
        <p:nvSpPr>
          <p:cNvPr id="9" name="Shape 7"/>
          <p:cNvSpPr/>
          <p:nvPr/>
        </p:nvSpPr>
        <p:spPr>
          <a:xfrm>
            <a:off x="4572000" y="1600200"/>
            <a:ext cx="3108960" cy="1371600"/>
          </a:xfrm>
          <a:prstGeom prst="roundRect">
            <a:avLst/>
          </a:prstGeom>
          <a:solidFill>
            <a:srgbClr val="FBFAF7"/>
          </a:solidFill>
          <a:ln w="12700">
            <a:solidFill>
              <a:srgbClr val="E6E0D6"/>
            </a:solidFill>
            <a:prstDash val="solid"/>
          </a:ln>
        </p:spPr>
        <p:txBody>
          <a:bodyPr/>
          <a:lstStyle/>
          <a:p>
            <a:endParaRPr/>
          </a:p>
        </p:txBody>
      </p:sp>
      <p:sp>
        <p:nvSpPr>
          <p:cNvPr id="10" name="Text 8"/>
          <p:cNvSpPr/>
          <p:nvPr/>
        </p:nvSpPr>
        <p:spPr>
          <a:xfrm>
            <a:off x="4754880" y="1737360"/>
            <a:ext cx="274320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API Reco (Backend)</a:t>
            </a:r>
            <a:endParaRPr lang="en-US" sz="1400" dirty="0"/>
          </a:p>
        </p:txBody>
      </p:sp>
      <p:sp>
        <p:nvSpPr>
          <p:cNvPr id="11" name="Text 9"/>
          <p:cNvSpPr/>
          <p:nvPr/>
        </p:nvSpPr>
        <p:spPr>
          <a:xfrm>
            <a:off x="4754880" y="2103120"/>
            <a:ext cx="274320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Orchestration</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Sécurité + règles</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Appel services IA</a:t>
            </a:r>
            <a:endParaRPr lang="en-US" sz="1200" dirty="0"/>
          </a:p>
        </p:txBody>
      </p:sp>
      <p:sp>
        <p:nvSpPr>
          <p:cNvPr id="12" name="Shape 10"/>
          <p:cNvSpPr/>
          <p:nvPr/>
        </p:nvSpPr>
        <p:spPr>
          <a:xfrm>
            <a:off x="8046720" y="1600200"/>
            <a:ext cx="2926080" cy="1371600"/>
          </a:xfrm>
          <a:prstGeom prst="roundRect">
            <a:avLst/>
          </a:prstGeom>
          <a:solidFill>
            <a:srgbClr val="FBFAF7"/>
          </a:solidFill>
          <a:ln w="12700">
            <a:solidFill>
              <a:srgbClr val="E6E0D6"/>
            </a:solidFill>
            <a:prstDash val="solid"/>
          </a:ln>
        </p:spPr>
        <p:txBody>
          <a:bodyPr/>
          <a:lstStyle/>
          <a:p>
            <a:endParaRPr/>
          </a:p>
        </p:txBody>
      </p:sp>
      <p:sp>
        <p:nvSpPr>
          <p:cNvPr id="13" name="Text 11"/>
          <p:cNvSpPr/>
          <p:nvPr/>
        </p:nvSpPr>
        <p:spPr>
          <a:xfrm>
            <a:off x="8229600" y="1737360"/>
            <a:ext cx="256032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Catalogue</a:t>
            </a:r>
            <a:endParaRPr lang="en-US" sz="1400" dirty="0"/>
          </a:p>
        </p:txBody>
      </p:sp>
      <p:sp>
        <p:nvSpPr>
          <p:cNvPr id="14" name="Text 12"/>
          <p:cNvSpPr/>
          <p:nvPr/>
        </p:nvSpPr>
        <p:spPr>
          <a:xfrm>
            <a:off x="8229600" y="2103120"/>
            <a:ext cx="256032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Produits</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Images produits</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Stocks/prix</a:t>
            </a:r>
            <a:endParaRPr lang="en-US" sz="1200" dirty="0"/>
          </a:p>
        </p:txBody>
      </p:sp>
      <p:sp>
        <p:nvSpPr>
          <p:cNvPr id="15" name="Shape 13"/>
          <p:cNvSpPr/>
          <p:nvPr/>
        </p:nvSpPr>
        <p:spPr>
          <a:xfrm>
            <a:off x="1097280" y="3703320"/>
            <a:ext cx="3108960" cy="1371600"/>
          </a:xfrm>
          <a:prstGeom prst="roundRect">
            <a:avLst/>
          </a:prstGeom>
          <a:solidFill>
            <a:srgbClr val="FBFAF7"/>
          </a:solidFill>
          <a:ln w="12700">
            <a:solidFill>
              <a:srgbClr val="E6E0D6"/>
            </a:solidFill>
            <a:prstDash val="solid"/>
          </a:ln>
        </p:spPr>
        <p:txBody>
          <a:bodyPr/>
          <a:lstStyle/>
          <a:p>
            <a:endParaRPr/>
          </a:p>
        </p:txBody>
      </p:sp>
      <p:sp>
        <p:nvSpPr>
          <p:cNvPr id="16" name="Text 14"/>
          <p:cNvSpPr/>
          <p:nvPr/>
        </p:nvSpPr>
        <p:spPr>
          <a:xfrm>
            <a:off x="1280160" y="3840480"/>
            <a:ext cx="274320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Blob Storage</a:t>
            </a:r>
            <a:endParaRPr lang="en-US" sz="1400" dirty="0"/>
          </a:p>
        </p:txBody>
      </p:sp>
      <p:sp>
        <p:nvSpPr>
          <p:cNvPr id="17" name="Text 15"/>
          <p:cNvSpPr/>
          <p:nvPr/>
        </p:nvSpPr>
        <p:spPr>
          <a:xfrm>
            <a:off x="1280160" y="4206240"/>
            <a:ext cx="274320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Images (durée limitée)</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Version traitée pour garde‑robe</a:t>
            </a:r>
            <a:endParaRPr lang="en-US" sz="1200" dirty="0"/>
          </a:p>
        </p:txBody>
      </p:sp>
      <p:sp>
        <p:nvSpPr>
          <p:cNvPr id="18" name="Shape 16"/>
          <p:cNvSpPr/>
          <p:nvPr/>
        </p:nvSpPr>
        <p:spPr>
          <a:xfrm>
            <a:off x="4572000" y="3703320"/>
            <a:ext cx="3108960" cy="1371600"/>
          </a:xfrm>
          <a:prstGeom prst="roundRect">
            <a:avLst/>
          </a:prstGeom>
          <a:solidFill>
            <a:srgbClr val="FBFAF7"/>
          </a:solidFill>
          <a:ln w="12700">
            <a:solidFill>
              <a:srgbClr val="E6E0D6"/>
            </a:solidFill>
            <a:prstDash val="solid"/>
          </a:ln>
        </p:spPr>
        <p:txBody>
          <a:bodyPr/>
          <a:lstStyle/>
          <a:p>
            <a:endParaRPr/>
          </a:p>
        </p:txBody>
      </p:sp>
      <p:sp>
        <p:nvSpPr>
          <p:cNvPr id="19" name="Text 17"/>
          <p:cNvSpPr/>
          <p:nvPr/>
        </p:nvSpPr>
        <p:spPr>
          <a:xfrm>
            <a:off x="4754880" y="3840480"/>
            <a:ext cx="274320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Service IA</a:t>
            </a:r>
            <a:endParaRPr lang="en-US" sz="1400" dirty="0"/>
          </a:p>
        </p:txBody>
      </p:sp>
      <p:sp>
        <p:nvSpPr>
          <p:cNvPr id="20" name="Text 18"/>
          <p:cNvSpPr/>
          <p:nvPr/>
        </p:nvSpPr>
        <p:spPr>
          <a:xfrm>
            <a:off x="4754880" y="4206240"/>
            <a:ext cx="274320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Features + embeddings</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Similarité (top‑N)</a:t>
            </a:r>
            <a:endParaRPr lang="en-US" sz="1200" dirty="0"/>
          </a:p>
        </p:txBody>
      </p:sp>
      <p:sp>
        <p:nvSpPr>
          <p:cNvPr id="21" name="Shape 19"/>
          <p:cNvSpPr/>
          <p:nvPr/>
        </p:nvSpPr>
        <p:spPr>
          <a:xfrm>
            <a:off x="8046720" y="3703320"/>
            <a:ext cx="2926080" cy="1371600"/>
          </a:xfrm>
          <a:prstGeom prst="roundRect">
            <a:avLst/>
          </a:prstGeom>
          <a:solidFill>
            <a:srgbClr val="FBFAF7"/>
          </a:solidFill>
          <a:ln w="12700">
            <a:solidFill>
              <a:srgbClr val="E6E0D6"/>
            </a:solidFill>
            <a:prstDash val="solid"/>
          </a:ln>
        </p:spPr>
        <p:txBody>
          <a:bodyPr/>
          <a:lstStyle/>
          <a:p>
            <a:endParaRPr/>
          </a:p>
        </p:txBody>
      </p:sp>
      <p:sp>
        <p:nvSpPr>
          <p:cNvPr id="22" name="Text 20"/>
          <p:cNvSpPr/>
          <p:nvPr/>
        </p:nvSpPr>
        <p:spPr>
          <a:xfrm>
            <a:off x="8229600" y="3840480"/>
            <a:ext cx="2560320" cy="320040"/>
          </a:xfrm>
          <a:prstGeom prst="rect">
            <a:avLst/>
          </a:prstGeom>
          <a:noFill/>
          <a:ln/>
        </p:spPr>
        <p:txBody>
          <a:bodyPr wrap="square" rtlCol="0" anchor="ctr"/>
          <a:lstStyle/>
          <a:p>
            <a:pPr marL="0" indent="0">
              <a:buNone/>
            </a:pPr>
            <a:r>
              <a:rPr lang="en-US" sz="1400" b="1" dirty="0">
                <a:solidFill>
                  <a:srgbClr val="0B132B"/>
                </a:solidFill>
                <a:latin typeface="Calibri" pitchFamily="34" charset="0"/>
                <a:ea typeface="Calibri" pitchFamily="34" charset="-122"/>
                <a:cs typeface="Calibri" pitchFamily="34" charset="-120"/>
              </a:rPr>
              <a:t>Monitoring</a:t>
            </a:r>
            <a:endParaRPr lang="en-US" sz="1400" dirty="0"/>
          </a:p>
        </p:txBody>
      </p:sp>
      <p:sp>
        <p:nvSpPr>
          <p:cNvPr id="23" name="Text 21"/>
          <p:cNvSpPr/>
          <p:nvPr/>
        </p:nvSpPr>
        <p:spPr>
          <a:xfrm>
            <a:off x="8229600" y="4206240"/>
            <a:ext cx="2560320" cy="731520"/>
          </a:xfrm>
          <a:prstGeom prst="rect">
            <a:avLst/>
          </a:prstGeom>
          <a:noFill/>
          <a:ln/>
        </p:spPr>
        <p:txBody>
          <a:bodyPr wrap="square" rtlCol="0" anchor="t"/>
          <a:lstStyle/>
          <a:p>
            <a:pPr marL="0" indent="0">
              <a:buNone/>
            </a:pPr>
            <a:r>
              <a:rPr lang="en-US" sz="1200" dirty="0">
                <a:solidFill>
                  <a:srgbClr val="1B1E28"/>
                </a:solidFill>
                <a:latin typeface="Calibri" pitchFamily="34" charset="0"/>
                <a:ea typeface="Calibri" pitchFamily="34" charset="-122"/>
                <a:cs typeface="Calibri" pitchFamily="34" charset="-120"/>
              </a:rPr>
              <a:t>Logs + alertes</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Coûts Azure</a:t>
            </a:r>
            <a:endParaRPr lang="en-US" sz="1200" dirty="0"/>
          </a:p>
          <a:p>
            <a:pPr marL="0" indent="0">
              <a:buNone/>
            </a:pPr>
            <a:r>
              <a:rPr lang="en-US" sz="1200" dirty="0">
                <a:solidFill>
                  <a:srgbClr val="1B1E28"/>
                </a:solidFill>
                <a:latin typeface="Calibri" pitchFamily="34" charset="0"/>
                <a:ea typeface="Calibri" pitchFamily="34" charset="-122"/>
                <a:cs typeface="Calibri" pitchFamily="34" charset="-120"/>
              </a:rPr>
              <a:t>Latence</a:t>
            </a:r>
            <a:endParaRPr lang="en-US" sz="1200" dirty="0"/>
          </a:p>
        </p:txBody>
      </p:sp>
      <p:sp>
        <p:nvSpPr>
          <p:cNvPr id="24" name="Shape 22"/>
          <p:cNvSpPr/>
          <p:nvPr/>
        </p:nvSpPr>
        <p:spPr>
          <a:xfrm>
            <a:off x="4251960" y="2148840"/>
            <a:ext cx="274320" cy="320040"/>
          </a:xfrm>
          <a:prstGeom prst="rightArrow">
            <a:avLst/>
          </a:prstGeom>
          <a:solidFill>
            <a:srgbClr val="C8A45D"/>
          </a:solidFill>
          <a:ln w="12700">
            <a:solidFill>
              <a:srgbClr val="C8A45D"/>
            </a:solidFill>
            <a:prstDash val="solid"/>
          </a:ln>
        </p:spPr>
        <p:txBody>
          <a:bodyPr/>
          <a:lstStyle/>
          <a:p>
            <a:endParaRPr/>
          </a:p>
        </p:txBody>
      </p:sp>
      <p:sp>
        <p:nvSpPr>
          <p:cNvPr id="25" name="Shape 23"/>
          <p:cNvSpPr/>
          <p:nvPr/>
        </p:nvSpPr>
        <p:spPr>
          <a:xfrm>
            <a:off x="7726680" y="2148840"/>
            <a:ext cx="274320" cy="320040"/>
          </a:xfrm>
          <a:prstGeom prst="rightArrow">
            <a:avLst/>
          </a:prstGeom>
          <a:solidFill>
            <a:srgbClr val="C8A45D"/>
          </a:solidFill>
          <a:ln w="12700">
            <a:solidFill>
              <a:srgbClr val="C8A45D"/>
            </a:solidFill>
            <a:prstDash val="solid"/>
          </a:ln>
        </p:spPr>
        <p:txBody>
          <a:bodyPr/>
          <a:lstStyle/>
          <a:p>
            <a:endParaRPr/>
          </a:p>
        </p:txBody>
      </p:sp>
      <p:sp>
        <p:nvSpPr>
          <p:cNvPr id="26" name="Shape 24"/>
          <p:cNvSpPr/>
          <p:nvPr/>
        </p:nvSpPr>
        <p:spPr>
          <a:xfrm>
            <a:off x="4251960" y="4251960"/>
            <a:ext cx="274320" cy="320040"/>
          </a:xfrm>
          <a:prstGeom prst="rightArrow">
            <a:avLst/>
          </a:prstGeom>
          <a:solidFill>
            <a:srgbClr val="C8A45D"/>
          </a:solidFill>
          <a:ln w="12700">
            <a:solidFill>
              <a:srgbClr val="C8A45D"/>
            </a:solidFill>
            <a:prstDash val="solid"/>
          </a:ln>
        </p:spPr>
        <p:txBody>
          <a:bodyPr/>
          <a:lstStyle/>
          <a:p>
            <a:endParaRPr/>
          </a:p>
        </p:txBody>
      </p:sp>
      <p:sp>
        <p:nvSpPr>
          <p:cNvPr id="27" name="Shape 25"/>
          <p:cNvSpPr/>
          <p:nvPr/>
        </p:nvSpPr>
        <p:spPr>
          <a:xfrm>
            <a:off x="7726680" y="4251960"/>
            <a:ext cx="274320" cy="320040"/>
          </a:xfrm>
          <a:prstGeom prst="rightArrow">
            <a:avLst/>
          </a:prstGeom>
          <a:solidFill>
            <a:srgbClr val="C8A45D"/>
          </a:solidFill>
          <a:ln w="12700">
            <a:solidFill>
              <a:srgbClr val="C8A45D"/>
            </a:solidFill>
            <a:prstDash val="solid"/>
          </a:ln>
        </p:spPr>
        <p:txBody>
          <a:bodyPr/>
          <a:lstStyle/>
          <a:p>
            <a:endParaRPr/>
          </a:p>
        </p:txBody>
      </p:sp>
      <p:sp>
        <p:nvSpPr>
          <p:cNvPr id="28" name="Shape 26"/>
          <p:cNvSpPr/>
          <p:nvPr/>
        </p:nvSpPr>
        <p:spPr>
          <a:xfrm>
            <a:off x="2560320" y="2999232"/>
            <a:ext cx="320040" cy="502920"/>
          </a:xfrm>
          <a:prstGeom prst="downArrow">
            <a:avLst/>
          </a:prstGeom>
          <a:solidFill>
            <a:srgbClr val="C8A45D"/>
          </a:solidFill>
          <a:ln w="12700">
            <a:solidFill>
              <a:srgbClr val="C8A45D"/>
            </a:solidFill>
            <a:prstDash val="solid"/>
          </a:ln>
        </p:spPr>
        <p:txBody>
          <a:bodyPr/>
          <a:lstStyle/>
          <a:p>
            <a:endParaRPr/>
          </a:p>
        </p:txBody>
      </p:sp>
      <p:sp>
        <p:nvSpPr>
          <p:cNvPr id="29" name="Shape 27"/>
          <p:cNvSpPr/>
          <p:nvPr/>
        </p:nvSpPr>
        <p:spPr>
          <a:xfrm>
            <a:off x="6035040" y="2999232"/>
            <a:ext cx="320040" cy="502920"/>
          </a:xfrm>
          <a:prstGeom prst="downArrow">
            <a:avLst/>
          </a:prstGeom>
          <a:solidFill>
            <a:srgbClr val="C8A45D"/>
          </a:solidFill>
          <a:ln w="12700">
            <a:solidFill>
              <a:srgbClr val="C8A45D"/>
            </a:solidFill>
            <a:prstDash val="solid"/>
          </a:ln>
        </p:spPr>
        <p:txBody>
          <a:bodyPr/>
          <a:lstStyle/>
          <a:p>
            <a:endParaRPr/>
          </a:p>
        </p:txBody>
      </p:sp>
      <p:sp>
        <p:nvSpPr>
          <p:cNvPr id="30" name="Shape 28"/>
          <p:cNvSpPr/>
          <p:nvPr/>
        </p:nvSpPr>
        <p:spPr>
          <a:xfrm>
            <a:off x="9281160" y="2999232"/>
            <a:ext cx="320040" cy="502920"/>
          </a:xfrm>
          <a:prstGeom prst="downArrow">
            <a:avLst/>
          </a:prstGeom>
          <a:solidFill>
            <a:srgbClr val="C8A45D"/>
          </a:solidFill>
          <a:ln w="12700">
            <a:solidFill>
              <a:srgbClr val="C8A45D"/>
            </a:solidFill>
            <a:prstDash val="solid"/>
          </a:ln>
        </p:spPr>
        <p:txBody>
          <a:bodyPr/>
          <a:lstStyle/>
          <a:p>
            <a:endParaRPr/>
          </a:p>
        </p:txBody>
      </p:sp>
      <p:sp>
        <p:nvSpPr>
          <p:cNvPr id="31" name="Text 29"/>
          <p:cNvSpPr/>
          <p:nvPr/>
        </p:nvSpPr>
        <p:spPr>
          <a:xfrm>
            <a:off x="1097280" y="6080760"/>
            <a:ext cx="10058400" cy="36576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Sécurité (MVP) : chiffrement au repos, accès restreint, journalisation, et suppression à la demande.</a:t>
            </a:r>
            <a:endParaRPr lang="en-US" sz="1200" dirty="0"/>
          </a:p>
        </p:txBody>
      </p:sp>
      <p:sp>
        <p:nvSpPr>
          <p:cNvPr id="32" name="Shape 3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3" name="Text 3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4" name="Text 3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14/26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Budget : investissement initial </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Construction du MVP</a:t>
            </a:r>
            <a:endParaRPr lang="en-US" sz="1200" dirty="0"/>
          </a:p>
        </p:txBody>
      </p:sp>
      <p:sp>
        <p:nvSpPr>
          <p:cNvPr id="5" name="Shape 3"/>
          <p:cNvSpPr/>
          <p:nvPr/>
        </p:nvSpPr>
        <p:spPr>
          <a:xfrm>
            <a:off x="822960" y="1005840"/>
            <a:ext cx="297180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6" name="Shape 4"/>
          <p:cNvSpPr/>
          <p:nvPr/>
        </p:nvSpPr>
        <p:spPr>
          <a:xfrm>
            <a:off x="822960" y="1005840"/>
            <a:ext cx="73152" cy="1234440"/>
          </a:xfrm>
          <a:prstGeom prst="rect">
            <a:avLst/>
          </a:prstGeom>
          <a:solidFill>
            <a:srgbClr val="C8A45D"/>
          </a:solidFill>
          <a:ln w="12700">
            <a:solidFill>
              <a:srgbClr val="C8A45D"/>
            </a:solidFill>
            <a:prstDash val="solid"/>
          </a:ln>
        </p:spPr>
        <p:txBody>
          <a:bodyPr/>
          <a:lstStyle/>
          <a:p>
            <a:endParaRPr/>
          </a:p>
        </p:txBody>
      </p:sp>
      <p:sp>
        <p:nvSpPr>
          <p:cNvPr id="7" name="Text 5"/>
          <p:cNvSpPr/>
          <p:nvPr/>
        </p:nvSpPr>
        <p:spPr>
          <a:xfrm>
            <a:off x="987552" y="1097280"/>
            <a:ext cx="265176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Investissement total</a:t>
            </a:r>
            <a:endParaRPr lang="en-US" sz="1200" dirty="0"/>
          </a:p>
        </p:txBody>
      </p:sp>
      <p:sp>
        <p:nvSpPr>
          <p:cNvPr id="8" name="Text 6"/>
          <p:cNvSpPr/>
          <p:nvPr/>
        </p:nvSpPr>
        <p:spPr>
          <a:xfrm>
            <a:off x="987552" y="1307592"/>
            <a:ext cx="265176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70 885 €</a:t>
            </a:r>
            <a:endParaRPr lang="en-US" sz="2800" dirty="0"/>
          </a:p>
        </p:txBody>
      </p:sp>
      <p:sp>
        <p:nvSpPr>
          <p:cNvPr id="9" name="Text 7"/>
          <p:cNvSpPr/>
          <p:nvPr/>
        </p:nvSpPr>
        <p:spPr>
          <a:xfrm>
            <a:off x="987552" y="1947672"/>
            <a:ext cx="265176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estimation MVP (ordre de grandeur)</a:t>
            </a:r>
            <a:endParaRPr lang="en-US" sz="1000" dirty="0"/>
          </a:p>
        </p:txBody>
      </p:sp>
      <p:sp>
        <p:nvSpPr>
          <p:cNvPr id="10" name="Shape 8"/>
          <p:cNvSpPr/>
          <p:nvPr/>
        </p:nvSpPr>
        <p:spPr>
          <a:xfrm>
            <a:off x="3931920" y="1005840"/>
            <a:ext cx="297180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1" name="Shape 9"/>
          <p:cNvSpPr/>
          <p:nvPr/>
        </p:nvSpPr>
        <p:spPr>
          <a:xfrm>
            <a:off x="3931920" y="1005840"/>
            <a:ext cx="73152" cy="1234440"/>
          </a:xfrm>
          <a:prstGeom prst="rect">
            <a:avLst/>
          </a:prstGeom>
          <a:solidFill>
            <a:srgbClr val="C8A45D"/>
          </a:solidFill>
          <a:ln w="12700">
            <a:solidFill>
              <a:srgbClr val="C8A45D"/>
            </a:solidFill>
            <a:prstDash val="solid"/>
          </a:ln>
        </p:spPr>
        <p:txBody>
          <a:bodyPr/>
          <a:lstStyle/>
          <a:p>
            <a:endParaRPr/>
          </a:p>
        </p:txBody>
      </p:sp>
      <p:sp>
        <p:nvSpPr>
          <p:cNvPr id="12" name="Text 10"/>
          <p:cNvSpPr/>
          <p:nvPr/>
        </p:nvSpPr>
        <p:spPr>
          <a:xfrm>
            <a:off x="4096512" y="1097280"/>
            <a:ext cx="265176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Effort</a:t>
            </a:r>
            <a:endParaRPr lang="en-US" sz="1200" dirty="0"/>
          </a:p>
        </p:txBody>
      </p:sp>
      <p:sp>
        <p:nvSpPr>
          <p:cNvPr id="13" name="Text 11"/>
          <p:cNvSpPr/>
          <p:nvPr/>
        </p:nvSpPr>
        <p:spPr>
          <a:xfrm>
            <a:off x="4096512" y="1307592"/>
            <a:ext cx="265176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~132 JH</a:t>
            </a:r>
            <a:endParaRPr lang="en-US" sz="2800" dirty="0"/>
          </a:p>
        </p:txBody>
      </p:sp>
      <p:sp>
        <p:nvSpPr>
          <p:cNvPr id="14" name="Text 12"/>
          <p:cNvSpPr/>
          <p:nvPr/>
        </p:nvSpPr>
        <p:spPr>
          <a:xfrm>
            <a:off x="4096512" y="1947672"/>
            <a:ext cx="265176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+15% marge incluse</a:t>
            </a:r>
            <a:endParaRPr lang="en-US" sz="1000" dirty="0"/>
          </a:p>
        </p:txBody>
      </p:sp>
      <p:sp>
        <p:nvSpPr>
          <p:cNvPr id="15" name="Shape 13"/>
          <p:cNvSpPr/>
          <p:nvPr/>
        </p:nvSpPr>
        <p:spPr>
          <a:xfrm>
            <a:off x="7040880" y="1005840"/>
            <a:ext cx="425196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6" name="Shape 14"/>
          <p:cNvSpPr/>
          <p:nvPr/>
        </p:nvSpPr>
        <p:spPr>
          <a:xfrm>
            <a:off x="7040880" y="1005840"/>
            <a:ext cx="73152" cy="1234440"/>
          </a:xfrm>
          <a:prstGeom prst="rect">
            <a:avLst/>
          </a:prstGeom>
          <a:solidFill>
            <a:srgbClr val="C8A45D"/>
          </a:solidFill>
          <a:ln w="12700">
            <a:solidFill>
              <a:srgbClr val="C8A45D"/>
            </a:solidFill>
            <a:prstDash val="solid"/>
          </a:ln>
        </p:spPr>
        <p:txBody>
          <a:bodyPr/>
          <a:lstStyle/>
          <a:p>
            <a:endParaRPr/>
          </a:p>
        </p:txBody>
      </p:sp>
      <p:sp>
        <p:nvSpPr>
          <p:cNvPr id="17" name="Text 15"/>
          <p:cNvSpPr/>
          <p:nvPr/>
        </p:nvSpPr>
        <p:spPr>
          <a:xfrm>
            <a:off x="7205472" y="1097280"/>
            <a:ext cx="393192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Ce que ça couvre</a:t>
            </a:r>
            <a:endParaRPr lang="en-US" sz="1200" dirty="0"/>
          </a:p>
        </p:txBody>
      </p:sp>
      <p:sp>
        <p:nvSpPr>
          <p:cNvPr id="18" name="Text 16"/>
          <p:cNvSpPr/>
          <p:nvPr/>
        </p:nvSpPr>
        <p:spPr>
          <a:xfrm>
            <a:off x="7205472" y="1307592"/>
            <a:ext cx="393192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Dev + IA</a:t>
            </a:r>
            <a:endParaRPr lang="en-US" sz="2800" dirty="0"/>
          </a:p>
        </p:txBody>
      </p:sp>
      <p:sp>
        <p:nvSpPr>
          <p:cNvPr id="19" name="Text 17"/>
          <p:cNvSpPr/>
          <p:nvPr/>
        </p:nvSpPr>
        <p:spPr>
          <a:xfrm>
            <a:off x="7205472" y="1947672"/>
            <a:ext cx="393192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PO/SM/QA, support, RGPD, tests</a:t>
            </a:r>
            <a:endParaRPr lang="en-US" sz="1000" dirty="0"/>
          </a:p>
        </p:txBody>
      </p:sp>
      <p:sp>
        <p:nvSpPr>
          <p:cNvPr id="20" name="Shape 18"/>
          <p:cNvSpPr/>
          <p:nvPr/>
        </p:nvSpPr>
        <p:spPr>
          <a:xfrm>
            <a:off x="731520" y="2423160"/>
            <a:ext cx="10744200" cy="402336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21" name="Text 19"/>
          <p:cNvSpPr/>
          <p:nvPr/>
        </p:nvSpPr>
        <p:spPr>
          <a:xfrm>
            <a:off x="1097280" y="2651760"/>
            <a:ext cx="10058400" cy="32004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Répartition (estimation)</a:t>
            </a:r>
            <a:endParaRPr lang="en-US" sz="1600" dirty="0"/>
          </a:p>
        </p:txBody>
      </p:sp>
      <p:graphicFrame>
        <p:nvGraphicFramePr>
          <p:cNvPr id="22" name="Chart 0"/>
          <p:cNvGraphicFramePr/>
          <p:nvPr/>
        </p:nvGraphicFramePr>
        <p:xfrm>
          <a:off x="1005840" y="3063240"/>
          <a:ext cx="64922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7635240" y="3063240"/>
            <a:ext cx="3749040" cy="3246120"/>
          </a:xfrm>
          <a:prstGeom prst="roundRect">
            <a:avLst/>
          </a:prstGeom>
          <a:solidFill>
            <a:srgbClr val="FBFAF7"/>
          </a:solidFill>
          <a:ln w="12700">
            <a:solidFill>
              <a:srgbClr val="E6E0D6"/>
            </a:solidFill>
            <a:prstDash val="solid"/>
          </a:ln>
        </p:spPr>
        <p:txBody>
          <a:bodyPr/>
          <a:lstStyle/>
          <a:p>
            <a:endParaRPr/>
          </a:p>
        </p:txBody>
      </p:sp>
      <p:sp>
        <p:nvSpPr>
          <p:cNvPr id="24" name="Text 21"/>
          <p:cNvSpPr/>
          <p:nvPr/>
        </p:nvSpPr>
        <p:spPr>
          <a:xfrm>
            <a:off x="7863840" y="3246120"/>
            <a:ext cx="3291840" cy="27432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Lecture rapide</a:t>
            </a:r>
            <a:endParaRPr lang="en-US" sz="1400" dirty="0"/>
          </a:p>
        </p:txBody>
      </p:sp>
      <p:sp>
        <p:nvSpPr>
          <p:cNvPr id="25" name="Text 22"/>
          <p:cNvSpPr/>
          <p:nvPr/>
        </p:nvSpPr>
        <p:spPr>
          <a:xfrm>
            <a:off x="7863840" y="3566160"/>
            <a:ext cx="3291840" cy="265176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L’essentiel du coût vient de la construction (Dev/DS) car il faut intégrer l’IA, l’API et la qualité. Les lignes ‘RGPD’ et ‘tests’ sont petites en € mais importantes pour sécuriser le lancement.</a:t>
            </a:r>
            <a:endParaRPr lang="en-US" sz="1250" dirty="0"/>
          </a:p>
        </p:txBody>
      </p:sp>
      <p:sp>
        <p:nvSpPr>
          <p:cNvPr id="26" name="Shape 23"/>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7" name="Text 24"/>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8" name="Text 25"/>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15/26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Budget : coûts récurrents (mensuels)</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Après lancement</a:t>
            </a:r>
            <a:endParaRPr lang="en-US" sz="1200" dirty="0"/>
          </a:p>
        </p:txBody>
      </p:sp>
      <p:sp>
        <p:nvSpPr>
          <p:cNvPr id="5" name="Shape 3"/>
          <p:cNvSpPr/>
          <p:nvPr/>
        </p:nvSpPr>
        <p:spPr>
          <a:xfrm>
            <a:off x="822960" y="1005840"/>
            <a:ext cx="329184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6" name="Shape 4"/>
          <p:cNvSpPr/>
          <p:nvPr/>
        </p:nvSpPr>
        <p:spPr>
          <a:xfrm>
            <a:off x="822960" y="1005840"/>
            <a:ext cx="73152" cy="1234440"/>
          </a:xfrm>
          <a:prstGeom prst="rect">
            <a:avLst/>
          </a:prstGeom>
          <a:solidFill>
            <a:srgbClr val="C8A45D"/>
          </a:solidFill>
          <a:ln w="12700">
            <a:solidFill>
              <a:srgbClr val="C8A45D"/>
            </a:solidFill>
            <a:prstDash val="solid"/>
          </a:ln>
        </p:spPr>
        <p:txBody>
          <a:bodyPr/>
          <a:lstStyle/>
          <a:p>
            <a:endParaRPr/>
          </a:p>
        </p:txBody>
      </p:sp>
      <p:sp>
        <p:nvSpPr>
          <p:cNvPr id="7" name="Text 5"/>
          <p:cNvSpPr/>
          <p:nvPr/>
        </p:nvSpPr>
        <p:spPr>
          <a:xfrm>
            <a:off x="987552" y="1097280"/>
            <a:ext cx="297180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Coût mensuel total</a:t>
            </a:r>
            <a:endParaRPr lang="en-US" sz="1200" dirty="0"/>
          </a:p>
        </p:txBody>
      </p:sp>
      <p:sp>
        <p:nvSpPr>
          <p:cNvPr id="8" name="Text 6"/>
          <p:cNvSpPr/>
          <p:nvPr/>
        </p:nvSpPr>
        <p:spPr>
          <a:xfrm>
            <a:off x="987552" y="1307592"/>
            <a:ext cx="297180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5 210 €</a:t>
            </a:r>
            <a:endParaRPr lang="en-US" sz="2800" dirty="0"/>
          </a:p>
        </p:txBody>
      </p:sp>
      <p:sp>
        <p:nvSpPr>
          <p:cNvPr id="9" name="Text 7"/>
          <p:cNvSpPr/>
          <p:nvPr/>
        </p:nvSpPr>
        <p:spPr>
          <a:xfrm>
            <a:off x="987552" y="1947672"/>
            <a:ext cx="297180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cloud + exploitation + maintenance</a:t>
            </a:r>
            <a:endParaRPr lang="en-US" sz="1000" dirty="0"/>
          </a:p>
        </p:txBody>
      </p:sp>
      <p:sp>
        <p:nvSpPr>
          <p:cNvPr id="10" name="Shape 8"/>
          <p:cNvSpPr/>
          <p:nvPr/>
        </p:nvSpPr>
        <p:spPr>
          <a:xfrm>
            <a:off x="4251960" y="1005840"/>
            <a:ext cx="329184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1" name="Shape 9"/>
          <p:cNvSpPr/>
          <p:nvPr/>
        </p:nvSpPr>
        <p:spPr>
          <a:xfrm>
            <a:off x="4251960" y="1005840"/>
            <a:ext cx="73152" cy="1234440"/>
          </a:xfrm>
          <a:prstGeom prst="rect">
            <a:avLst/>
          </a:prstGeom>
          <a:solidFill>
            <a:srgbClr val="C8A45D"/>
          </a:solidFill>
          <a:ln w="12700">
            <a:solidFill>
              <a:srgbClr val="C8A45D"/>
            </a:solidFill>
            <a:prstDash val="solid"/>
          </a:ln>
        </p:spPr>
        <p:txBody>
          <a:bodyPr/>
          <a:lstStyle/>
          <a:p>
            <a:endParaRPr/>
          </a:p>
        </p:txBody>
      </p:sp>
      <p:sp>
        <p:nvSpPr>
          <p:cNvPr id="12" name="Text 10"/>
          <p:cNvSpPr/>
          <p:nvPr/>
        </p:nvSpPr>
        <p:spPr>
          <a:xfrm>
            <a:off x="4416552" y="1097280"/>
            <a:ext cx="297180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Poste principal</a:t>
            </a:r>
            <a:endParaRPr lang="en-US" sz="1200" dirty="0"/>
          </a:p>
        </p:txBody>
      </p:sp>
      <p:sp>
        <p:nvSpPr>
          <p:cNvPr id="13" name="Text 11"/>
          <p:cNvSpPr/>
          <p:nvPr/>
        </p:nvSpPr>
        <p:spPr>
          <a:xfrm>
            <a:off x="4416552" y="1307592"/>
            <a:ext cx="297180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Maintenance</a:t>
            </a:r>
            <a:endParaRPr lang="en-US" sz="2800" dirty="0"/>
          </a:p>
        </p:txBody>
      </p:sp>
      <p:sp>
        <p:nvSpPr>
          <p:cNvPr id="14" name="Text 12"/>
          <p:cNvSpPr/>
          <p:nvPr/>
        </p:nvSpPr>
        <p:spPr>
          <a:xfrm>
            <a:off x="4416552" y="1947672"/>
            <a:ext cx="297180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10 JH/mois (amélioration + support)</a:t>
            </a:r>
            <a:endParaRPr lang="en-US" sz="1000" dirty="0"/>
          </a:p>
        </p:txBody>
      </p:sp>
      <p:sp>
        <p:nvSpPr>
          <p:cNvPr id="15" name="Shape 13"/>
          <p:cNvSpPr/>
          <p:nvPr/>
        </p:nvSpPr>
        <p:spPr>
          <a:xfrm>
            <a:off x="7680960" y="1005840"/>
            <a:ext cx="36118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6" name="Shape 14"/>
          <p:cNvSpPr/>
          <p:nvPr/>
        </p:nvSpPr>
        <p:spPr>
          <a:xfrm>
            <a:off x="7680960" y="1005840"/>
            <a:ext cx="73152" cy="1234440"/>
          </a:xfrm>
          <a:prstGeom prst="rect">
            <a:avLst/>
          </a:prstGeom>
          <a:solidFill>
            <a:srgbClr val="C8A45D"/>
          </a:solidFill>
          <a:ln w="12700">
            <a:solidFill>
              <a:srgbClr val="C8A45D"/>
            </a:solidFill>
            <a:prstDash val="solid"/>
          </a:ln>
        </p:spPr>
        <p:txBody>
          <a:bodyPr/>
          <a:lstStyle/>
          <a:p>
            <a:endParaRPr/>
          </a:p>
        </p:txBody>
      </p:sp>
      <p:sp>
        <p:nvSpPr>
          <p:cNvPr id="17" name="Text 15"/>
          <p:cNvSpPr/>
          <p:nvPr/>
        </p:nvSpPr>
        <p:spPr>
          <a:xfrm>
            <a:off x="7845552" y="1097280"/>
            <a:ext cx="32918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Cloud</a:t>
            </a:r>
            <a:endParaRPr lang="en-US" sz="1200" dirty="0"/>
          </a:p>
        </p:txBody>
      </p:sp>
      <p:sp>
        <p:nvSpPr>
          <p:cNvPr id="18" name="Text 16"/>
          <p:cNvSpPr/>
          <p:nvPr/>
        </p:nvSpPr>
        <p:spPr>
          <a:xfrm>
            <a:off x="7845552" y="1307592"/>
            <a:ext cx="32918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~710 €</a:t>
            </a:r>
            <a:endParaRPr lang="en-US" sz="2800" dirty="0"/>
          </a:p>
        </p:txBody>
      </p:sp>
      <p:sp>
        <p:nvSpPr>
          <p:cNvPr id="19" name="Text 17"/>
          <p:cNvSpPr/>
          <p:nvPr/>
        </p:nvSpPr>
        <p:spPr>
          <a:xfrm>
            <a:off x="7845552" y="1947672"/>
            <a:ext cx="32918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vision + hébergement + logs</a:t>
            </a:r>
            <a:endParaRPr lang="en-US" sz="1000" dirty="0"/>
          </a:p>
        </p:txBody>
      </p:sp>
      <p:sp>
        <p:nvSpPr>
          <p:cNvPr id="20" name="Shape 18"/>
          <p:cNvSpPr/>
          <p:nvPr/>
        </p:nvSpPr>
        <p:spPr>
          <a:xfrm>
            <a:off x="731520" y="2423160"/>
            <a:ext cx="10744200" cy="402336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21" name="Text 19"/>
          <p:cNvSpPr/>
          <p:nvPr/>
        </p:nvSpPr>
        <p:spPr>
          <a:xfrm>
            <a:off x="1097280" y="2651760"/>
            <a:ext cx="10058400" cy="32004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Détail (estimation)</a:t>
            </a:r>
            <a:endParaRPr lang="en-US" sz="1600" dirty="0"/>
          </a:p>
        </p:txBody>
      </p:sp>
      <p:graphicFrame>
        <p:nvGraphicFramePr>
          <p:cNvPr id="22" name="Chart 0"/>
          <p:cNvGraphicFramePr/>
          <p:nvPr/>
        </p:nvGraphicFramePr>
        <p:xfrm>
          <a:off x="1005840" y="3063240"/>
          <a:ext cx="64922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7635240" y="3063240"/>
            <a:ext cx="3749040" cy="3246120"/>
          </a:xfrm>
          <a:prstGeom prst="roundRect">
            <a:avLst/>
          </a:prstGeom>
          <a:solidFill>
            <a:srgbClr val="FBFAF7"/>
          </a:solidFill>
          <a:ln w="12700">
            <a:solidFill>
              <a:srgbClr val="E6E0D6"/>
            </a:solidFill>
            <a:prstDash val="solid"/>
          </a:ln>
        </p:spPr>
        <p:txBody>
          <a:bodyPr/>
          <a:lstStyle/>
          <a:p>
            <a:endParaRPr/>
          </a:p>
        </p:txBody>
      </p:sp>
      <p:sp>
        <p:nvSpPr>
          <p:cNvPr id="24" name="Text 21"/>
          <p:cNvSpPr/>
          <p:nvPr/>
        </p:nvSpPr>
        <p:spPr>
          <a:xfrm>
            <a:off x="7863840" y="3246120"/>
            <a:ext cx="3291840" cy="27432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Pourquoi c’est important</a:t>
            </a:r>
            <a:endParaRPr lang="en-US" sz="1400" dirty="0"/>
          </a:p>
        </p:txBody>
      </p:sp>
      <p:sp>
        <p:nvSpPr>
          <p:cNvPr id="25" name="Text 22"/>
          <p:cNvSpPr/>
          <p:nvPr/>
        </p:nvSpPr>
        <p:spPr>
          <a:xfrm>
            <a:off x="7863840" y="3566160"/>
            <a:ext cx="3291840" cy="265176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Après lancement, le vrai sujet est de maintenir la qualité : corriger, améliorer, surveiller les coûts cloud et éviter les incidents. C’est pour cela que la maintenance représente la majorité du récurrent.</a:t>
            </a:r>
            <a:endParaRPr lang="en-US" sz="1250" dirty="0"/>
          </a:p>
        </p:txBody>
      </p:sp>
      <p:sp>
        <p:nvSpPr>
          <p:cNvPr id="26" name="Shape 23"/>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7" name="Text 24"/>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8" name="Text 25"/>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16/26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Rentabilité : les hypothèses à comprendre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Mini glossaire</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On mesure un “gain en plus” grâce à la recommandation</a:t>
            </a:r>
            <a:endParaRPr lang="en-US" sz="1800" dirty="0"/>
          </a:p>
        </p:txBody>
      </p:sp>
      <p:sp>
        <p:nvSpPr>
          <p:cNvPr id="7" name="Text 5"/>
          <p:cNvSpPr/>
          <p:nvPr/>
        </p:nvSpPr>
        <p:spPr>
          <a:xfrm>
            <a:off x="1097280" y="1737360"/>
            <a:ext cx="10058400" cy="41148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Le ROI dépend surtout de l’adoption et de l’efficacité de la recommandation. Les mots ci‑dessous sont ceux que l’on suit après le lancement.</a:t>
            </a:r>
            <a:endParaRPr lang="en-US" sz="1200" dirty="0"/>
          </a:p>
        </p:txBody>
      </p:sp>
      <p:sp>
        <p:nvSpPr>
          <p:cNvPr id="8" name="Shape 6"/>
          <p:cNvSpPr/>
          <p:nvPr/>
        </p:nvSpPr>
        <p:spPr>
          <a:xfrm>
            <a:off x="1097280" y="2377440"/>
            <a:ext cx="4937760" cy="1234440"/>
          </a:xfrm>
          <a:prstGeom prst="roundRect">
            <a:avLst/>
          </a:prstGeom>
          <a:solidFill>
            <a:srgbClr val="FBFAF7"/>
          </a:solidFill>
          <a:ln w="12700">
            <a:solidFill>
              <a:srgbClr val="E6E0D6"/>
            </a:solidFill>
            <a:prstDash val="solid"/>
          </a:ln>
        </p:spPr>
        <p:txBody>
          <a:bodyPr/>
          <a:lstStyle/>
          <a:p>
            <a:endParaRPr/>
          </a:p>
        </p:txBody>
      </p:sp>
      <p:sp>
        <p:nvSpPr>
          <p:cNvPr id="9" name="Shape 7"/>
          <p:cNvSpPr/>
          <p:nvPr/>
        </p:nvSpPr>
        <p:spPr>
          <a:xfrm>
            <a:off x="1280160" y="2578608"/>
            <a:ext cx="1234440" cy="822960"/>
          </a:xfrm>
          <a:prstGeom prst="roundRect">
            <a:avLst/>
          </a:prstGeom>
          <a:solidFill>
            <a:srgbClr val="0B132B"/>
          </a:solidFill>
          <a:ln w="12700">
            <a:solidFill>
              <a:srgbClr val="0B132B"/>
            </a:solidFill>
            <a:prstDash val="solid"/>
          </a:ln>
        </p:spPr>
        <p:txBody>
          <a:bodyPr/>
          <a:lstStyle/>
          <a:p>
            <a:endParaRPr/>
          </a:p>
        </p:txBody>
      </p:sp>
      <p:sp>
        <p:nvSpPr>
          <p:cNvPr id="10" name="Text 8"/>
          <p:cNvSpPr/>
          <p:nvPr/>
        </p:nvSpPr>
        <p:spPr>
          <a:xfrm>
            <a:off x="1280160" y="278892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MAU</a:t>
            </a:r>
            <a:endParaRPr lang="en-US" sz="1400" dirty="0"/>
          </a:p>
        </p:txBody>
      </p:sp>
      <p:sp>
        <p:nvSpPr>
          <p:cNvPr id="11" name="Text 9"/>
          <p:cNvSpPr/>
          <p:nvPr/>
        </p:nvSpPr>
        <p:spPr>
          <a:xfrm>
            <a:off x="2697480" y="260604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Utilisateurs actifs par mois (combien de personnes utilisent vraiment la feature).</a:t>
            </a:r>
            <a:endParaRPr lang="en-US" sz="1250" dirty="0"/>
          </a:p>
        </p:txBody>
      </p:sp>
      <p:sp>
        <p:nvSpPr>
          <p:cNvPr id="12" name="Shape 10"/>
          <p:cNvSpPr/>
          <p:nvPr/>
        </p:nvSpPr>
        <p:spPr>
          <a:xfrm>
            <a:off x="6217920" y="2377440"/>
            <a:ext cx="4937760" cy="1234440"/>
          </a:xfrm>
          <a:prstGeom prst="roundRect">
            <a:avLst/>
          </a:prstGeom>
          <a:solidFill>
            <a:srgbClr val="FBFAF7"/>
          </a:solidFill>
          <a:ln w="12700">
            <a:solidFill>
              <a:srgbClr val="E6E0D6"/>
            </a:solidFill>
            <a:prstDash val="solid"/>
          </a:ln>
        </p:spPr>
        <p:txBody>
          <a:bodyPr/>
          <a:lstStyle/>
          <a:p>
            <a:endParaRPr/>
          </a:p>
        </p:txBody>
      </p:sp>
      <p:sp>
        <p:nvSpPr>
          <p:cNvPr id="13" name="Shape 11"/>
          <p:cNvSpPr/>
          <p:nvPr/>
        </p:nvSpPr>
        <p:spPr>
          <a:xfrm>
            <a:off x="6400800" y="2578608"/>
            <a:ext cx="1234440" cy="822960"/>
          </a:xfrm>
          <a:prstGeom prst="roundRect">
            <a:avLst/>
          </a:prstGeom>
          <a:solidFill>
            <a:srgbClr val="0B132B"/>
          </a:solidFill>
          <a:ln w="12700">
            <a:solidFill>
              <a:srgbClr val="0B132B"/>
            </a:solidFill>
            <a:prstDash val="solid"/>
          </a:ln>
        </p:spPr>
        <p:txBody>
          <a:bodyPr/>
          <a:lstStyle/>
          <a:p>
            <a:endParaRPr/>
          </a:p>
        </p:txBody>
      </p:sp>
      <p:sp>
        <p:nvSpPr>
          <p:cNvPr id="14" name="Text 12"/>
          <p:cNvSpPr/>
          <p:nvPr/>
        </p:nvSpPr>
        <p:spPr>
          <a:xfrm>
            <a:off x="6400800" y="278892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orders/user</a:t>
            </a:r>
            <a:endParaRPr lang="en-US" sz="1400" dirty="0"/>
          </a:p>
        </p:txBody>
      </p:sp>
      <p:sp>
        <p:nvSpPr>
          <p:cNvPr id="15" name="Text 13"/>
          <p:cNvSpPr/>
          <p:nvPr/>
        </p:nvSpPr>
        <p:spPr>
          <a:xfrm>
            <a:off x="7818120" y="260604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Nombre moyen de commandes par utilisateur et par mois.</a:t>
            </a:r>
            <a:endParaRPr lang="en-US" sz="1250" dirty="0"/>
          </a:p>
        </p:txBody>
      </p:sp>
      <p:sp>
        <p:nvSpPr>
          <p:cNvPr id="16" name="Shape 14"/>
          <p:cNvSpPr/>
          <p:nvPr/>
        </p:nvSpPr>
        <p:spPr>
          <a:xfrm>
            <a:off x="1097280" y="3840480"/>
            <a:ext cx="4937760" cy="1234440"/>
          </a:xfrm>
          <a:prstGeom prst="roundRect">
            <a:avLst/>
          </a:prstGeom>
          <a:solidFill>
            <a:srgbClr val="FBFAF7"/>
          </a:solidFill>
          <a:ln w="12700">
            <a:solidFill>
              <a:srgbClr val="E6E0D6"/>
            </a:solidFill>
            <a:prstDash val="solid"/>
          </a:ln>
        </p:spPr>
        <p:txBody>
          <a:bodyPr/>
          <a:lstStyle/>
          <a:p>
            <a:endParaRPr/>
          </a:p>
        </p:txBody>
      </p:sp>
      <p:sp>
        <p:nvSpPr>
          <p:cNvPr id="17" name="Shape 15"/>
          <p:cNvSpPr/>
          <p:nvPr/>
        </p:nvSpPr>
        <p:spPr>
          <a:xfrm>
            <a:off x="1280160" y="4041648"/>
            <a:ext cx="1234440" cy="822960"/>
          </a:xfrm>
          <a:prstGeom prst="roundRect">
            <a:avLst/>
          </a:prstGeom>
          <a:solidFill>
            <a:srgbClr val="0B132B"/>
          </a:solidFill>
          <a:ln w="12700">
            <a:solidFill>
              <a:srgbClr val="0B132B"/>
            </a:solidFill>
            <a:prstDash val="solid"/>
          </a:ln>
        </p:spPr>
        <p:txBody>
          <a:bodyPr/>
          <a:lstStyle/>
          <a:p>
            <a:endParaRPr/>
          </a:p>
        </p:txBody>
      </p:sp>
      <p:sp>
        <p:nvSpPr>
          <p:cNvPr id="18" name="Text 16"/>
          <p:cNvSpPr/>
          <p:nvPr/>
        </p:nvSpPr>
        <p:spPr>
          <a:xfrm>
            <a:off x="1280160" y="425196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uplift</a:t>
            </a:r>
            <a:endParaRPr lang="en-US" sz="1400" dirty="0"/>
          </a:p>
        </p:txBody>
      </p:sp>
      <p:sp>
        <p:nvSpPr>
          <p:cNvPr id="19" name="Text 17"/>
          <p:cNvSpPr/>
          <p:nvPr/>
        </p:nvSpPr>
        <p:spPr>
          <a:xfrm>
            <a:off x="2697480" y="406908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Gain relatif dû à la reco (ex : +10% de commandes).</a:t>
            </a:r>
            <a:endParaRPr lang="en-US" sz="1250" dirty="0"/>
          </a:p>
        </p:txBody>
      </p:sp>
      <p:sp>
        <p:nvSpPr>
          <p:cNvPr id="20" name="Shape 18"/>
          <p:cNvSpPr/>
          <p:nvPr/>
        </p:nvSpPr>
        <p:spPr>
          <a:xfrm>
            <a:off x="6217920" y="3840480"/>
            <a:ext cx="4937760" cy="1234440"/>
          </a:xfrm>
          <a:prstGeom prst="roundRect">
            <a:avLst/>
          </a:prstGeom>
          <a:solidFill>
            <a:srgbClr val="FBFAF7"/>
          </a:solidFill>
          <a:ln w="12700">
            <a:solidFill>
              <a:srgbClr val="E6E0D6"/>
            </a:solidFill>
            <a:prstDash val="solid"/>
          </a:ln>
        </p:spPr>
        <p:txBody>
          <a:bodyPr/>
          <a:lstStyle/>
          <a:p>
            <a:endParaRPr/>
          </a:p>
        </p:txBody>
      </p:sp>
      <p:sp>
        <p:nvSpPr>
          <p:cNvPr id="21" name="Shape 19"/>
          <p:cNvSpPr/>
          <p:nvPr/>
        </p:nvSpPr>
        <p:spPr>
          <a:xfrm>
            <a:off x="6400800" y="4041648"/>
            <a:ext cx="1234440" cy="822960"/>
          </a:xfrm>
          <a:prstGeom prst="roundRect">
            <a:avLst/>
          </a:prstGeom>
          <a:solidFill>
            <a:srgbClr val="0B132B"/>
          </a:solidFill>
          <a:ln w="12700">
            <a:solidFill>
              <a:srgbClr val="0B132B"/>
            </a:solidFill>
            <a:prstDash val="solid"/>
          </a:ln>
        </p:spPr>
        <p:txBody>
          <a:bodyPr/>
          <a:lstStyle/>
          <a:p>
            <a:endParaRPr/>
          </a:p>
        </p:txBody>
      </p:sp>
      <p:sp>
        <p:nvSpPr>
          <p:cNvPr id="22" name="Text 20"/>
          <p:cNvSpPr/>
          <p:nvPr/>
        </p:nvSpPr>
        <p:spPr>
          <a:xfrm>
            <a:off x="6400800" y="425196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AOV</a:t>
            </a:r>
            <a:endParaRPr lang="en-US" sz="1400" dirty="0"/>
          </a:p>
        </p:txBody>
      </p:sp>
      <p:sp>
        <p:nvSpPr>
          <p:cNvPr id="23" name="Text 21"/>
          <p:cNvSpPr/>
          <p:nvPr/>
        </p:nvSpPr>
        <p:spPr>
          <a:xfrm>
            <a:off x="7818120" y="406908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Panier moyen (montant moyen d’une commande).</a:t>
            </a:r>
            <a:endParaRPr lang="en-US" sz="1250" dirty="0"/>
          </a:p>
        </p:txBody>
      </p:sp>
      <p:sp>
        <p:nvSpPr>
          <p:cNvPr id="24" name="Shape 22"/>
          <p:cNvSpPr/>
          <p:nvPr/>
        </p:nvSpPr>
        <p:spPr>
          <a:xfrm>
            <a:off x="1097280" y="5303520"/>
            <a:ext cx="4937760" cy="1067201"/>
          </a:xfrm>
          <a:prstGeom prst="roundRect">
            <a:avLst/>
          </a:prstGeom>
          <a:solidFill>
            <a:srgbClr val="FBFAF7"/>
          </a:solidFill>
          <a:ln w="12700">
            <a:solidFill>
              <a:srgbClr val="E6E0D6"/>
            </a:solidFill>
            <a:prstDash val="solid"/>
          </a:ln>
        </p:spPr>
        <p:txBody>
          <a:bodyPr/>
          <a:lstStyle/>
          <a:p>
            <a:endParaRPr/>
          </a:p>
        </p:txBody>
      </p:sp>
      <p:sp>
        <p:nvSpPr>
          <p:cNvPr id="25" name="Shape 23"/>
          <p:cNvSpPr/>
          <p:nvPr/>
        </p:nvSpPr>
        <p:spPr>
          <a:xfrm>
            <a:off x="1280160" y="5504688"/>
            <a:ext cx="1234440" cy="822960"/>
          </a:xfrm>
          <a:prstGeom prst="roundRect">
            <a:avLst/>
          </a:prstGeom>
          <a:solidFill>
            <a:srgbClr val="0B132B"/>
          </a:solidFill>
          <a:ln w="12700">
            <a:solidFill>
              <a:srgbClr val="0B132B"/>
            </a:solidFill>
            <a:prstDash val="solid"/>
          </a:ln>
        </p:spPr>
        <p:txBody>
          <a:bodyPr/>
          <a:lstStyle/>
          <a:p>
            <a:endParaRPr/>
          </a:p>
        </p:txBody>
      </p:sp>
      <p:sp>
        <p:nvSpPr>
          <p:cNvPr id="26" name="Text 24"/>
          <p:cNvSpPr/>
          <p:nvPr/>
        </p:nvSpPr>
        <p:spPr>
          <a:xfrm>
            <a:off x="1280160" y="571500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marge</a:t>
            </a:r>
            <a:endParaRPr lang="en-US" sz="1400" dirty="0"/>
          </a:p>
        </p:txBody>
      </p:sp>
      <p:sp>
        <p:nvSpPr>
          <p:cNvPr id="27" name="Text 25"/>
          <p:cNvSpPr/>
          <p:nvPr/>
        </p:nvSpPr>
        <p:spPr>
          <a:xfrm>
            <a:off x="2697480" y="553212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Part du chiffre d’affaires conservée (marge brute).</a:t>
            </a:r>
            <a:endParaRPr lang="en-US" sz="1250" dirty="0"/>
          </a:p>
        </p:txBody>
      </p:sp>
      <p:sp>
        <p:nvSpPr>
          <p:cNvPr id="28" name="Shape 26"/>
          <p:cNvSpPr/>
          <p:nvPr/>
        </p:nvSpPr>
        <p:spPr>
          <a:xfrm>
            <a:off x="6217920" y="5303520"/>
            <a:ext cx="4937760" cy="1067201"/>
          </a:xfrm>
          <a:prstGeom prst="roundRect">
            <a:avLst/>
          </a:prstGeom>
          <a:solidFill>
            <a:srgbClr val="FBFAF7"/>
          </a:solidFill>
          <a:ln w="12700">
            <a:solidFill>
              <a:srgbClr val="E6E0D6"/>
            </a:solidFill>
            <a:prstDash val="solid"/>
          </a:ln>
        </p:spPr>
        <p:txBody>
          <a:bodyPr/>
          <a:lstStyle/>
          <a:p>
            <a:endParaRPr/>
          </a:p>
        </p:txBody>
      </p:sp>
      <p:sp>
        <p:nvSpPr>
          <p:cNvPr id="29" name="Shape 27"/>
          <p:cNvSpPr/>
          <p:nvPr/>
        </p:nvSpPr>
        <p:spPr>
          <a:xfrm>
            <a:off x="6400800" y="5504688"/>
            <a:ext cx="1234440" cy="822960"/>
          </a:xfrm>
          <a:prstGeom prst="roundRect">
            <a:avLst/>
          </a:prstGeom>
          <a:solidFill>
            <a:srgbClr val="0B132B"/>
          </a:solidFill>
          <a:ln w="12700">
            <a:solidFill>
              <a:srgbClr val="0B132B"/>
            </a:solidFill>
            <a:prstDash val="solid"/>
          </a:ln>
        </p:spPr>
        <p:txBody>
          <a:bodyPr/>
          <a:lstStyle/>
          <a:p>
            <a:endParaRPr/>
          </a:p>
        </p:txBody>
      </p:sp>
      <p:sp>
        <p:nvSpPr>
          <p:cNvPr id="30" name="Text 28"/>
          <p:cNvSpPr/>
          <p:nvPr/>
        </p:nvSpPr>
        <p:spPr>
          <a:xfrm>
            <a:off x="6400800" y="5715000"/>
            <a:ext cx="1234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net mensuel</a:t>
            </a:r>
            <a:endParaRPr lang="en-US" sz="1400" dirty="0"/>
          </a:p>
        </p:txBody>
      </p:sp>
      <p:sp>
        <p:nvSpPr>
          <p:cNvPr id="31" name="Text 29"/>
          <p:cNvSpPr/>
          <p:nvPr/>
        </p:nvSpPr>
        <p:spPr>
          <a:xfrm>
            <a:off x="7818120" y="5532120"/>
            <a:ext cx="3108960" cy="91440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Gain “en plus” − coûts récurrents (cloud + maintenance).</a:t>
            </a:r>
            <a:endParaRPr lang="en-US" sz="1250" dirty="0"/>
          </a:p>
        </p:txBody>
      </p:sp>
      <p:sp>
        <p:nvSpPr>
          <p:cNvPr id="32" name="Shape 30"/>
          <p:cNvSpPr/>
          <p:nvPr/>
        </p:nvSpPr>
        <p:spPr>
          <a:xfrm>
            <a:off x="1531620" y="648502"/>
            <a:ext cx="9334500" cy="502920"/>
          </a:xfrm>
          <a:prstGeom prst="roundRect">
            <a:avLst/>
          </a:prstGeom>
          <a:solidFill>
            <a:srgbClr val="0B132B"/>
          </a:solidFill>
          <a:ln w="28575">
            <a:solidFill>
              <a:srgbClr val="FFFF00"/>
            </a:solidFill>
            <a:prstDash val="solid"/>
          </a:ln>
        </p:spPr>
        <p:txBody>
          <a:bodyPr/>
          <a:lstStyle/>
          <a:p>
            <a:endParaRPr/>
          </a:p>
        </p:txBody>
      </p:sp>
      <p:sp>
        <p:nvSpPr>
          <p:cNvPr id="33" name="Text 31"/>
          <p:cNvSpPr/>
          <p:nvPr/>
        </p:nvSpPr>
        <p:spPr>
          <a:xfrm>
            <a:off x="2423160" y="758952"/>
            <a:ext cx="9601200" cy="2743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Formule simple : bénéfice net mensuel ≈ (MAU × orders/user × uplift × AOV × marge) − coûts récurrents</a:t>
            </a:r>
            <a:endParaRPr lang="en-US" sz="1250" dirty="0"/>
          </a:p>
        </p:txBody>
      </p:sp>
      <p:sp>
        <p:nvSpPr>
          <p:cNvPr id="34" name="Shape 32"/>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5" name="Text 33"/>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6" name="Text 34"/>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17/26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Rentabilité : 2 scénarios (ordre de grandeur)</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Optimiste vs pessimiste</a:t>
            </a:r>
            <a:endParaRPr lang="en-US" sz="1200" dirty="0"/>
          </a:p>
        </p:txBody>
      </p:sp>
      <p:sp>
        <p:nvSpPr>
          <p:cNvPr id="5" name="Shape 3"/>
          <p:cNvSpPr/>
          <p:nvPr/>
        </p:nvSpPr>
        <p:spPr>
          <a:xfrm>
            <a:off x="822960" y="1005840"/>
            <a:ext cx="379476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6" name="Shape 4"/>
          <p:cNvSpPr/>
          <p:nvPr/>
        </p:nvSpPr>
        <p:spPr>
          <a:xfrm>
            <a:off x="822960" y="1005840"/>
            <a:ext cx="73152" cy="1234440"/>
          </a:xfrm>
          <a:prstGeom prst="rect">
            <a:avLst/>
          </a:prstGeom>
          <a:solidFill>
            <a:srgbClr val="C8A45D"/>
          </a:solidFill>
          <a:ln w="12700">
            <a:solidFill>
              <a:srgbClr val="C8A45D"/>
            </a:solidFill>
            <a:prstDash val="solid"/>
          </a:ln>
        </p:spPr>
        <p:txBody>
          <a:bodyPr/>
          <a:lstStyle/>
          <a:p>
            <a:endParaRPr/>
          </a:p>
        </p:txBody>
      </p:sp>
      <p:sp>
        <p:nvSpPr>
          <p:cNvPr id="7" name="Text 5"/>
          <p:cNvSpPr/>
          <p:nvPr/>
        </p:nvSpPr>
        <p:spPr>
          <a:xfrm>
            <a:off x="987552" y="1097280"/>
            <a:ext cx="347472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Point mort (optimiste)</a:t>
            </a:r>
            <a:endParaRPr lang="en-US" sz="1200" dirty="0"/>
          </a:p>
        </p:txBody>
      </p:sp>
      <p:sp>
        <p:nvSpPr>
          <p:cNvPr id="8" name="Text 6"/>
          <p:cNvSpPr/>
          <p:nvPr/>
        </p:nvSpPr>
        <p:spPr>
          <a:xfrm>
            <a:off x="987552" y="1307592"/>
            <a:ext cx="347472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~5.2 mois</a:t>
            </a:r>
            <a:endParaRPr lang="en-US" sz="2800" dirty="0"/>
          </a:p>
        </p:txBody>
      </p:sp>
      <p:sp>
        <p:nvSpPr>
          <p:cNvPr id="9" name="Text 7"/>
          <p:cNvSpPr/>
          <p:nvPr/>
        </p:nvSpPr>
        <p:spPr>
          <a:xfrm>
            <a:off x="987552" y="1947672"/>
            <a:ext cx="347472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si adoption + uplift au rendez‑vous</a:t>
            </a:r>
            <a:endParaRPr lang="en-US" sz="1000" dirty="0"/>
          </a:p>
        </p:txBody>
      </p:sp>
      <p:sp>
        <p:nvSpPr>
          <p:cNvPr id="10" name="Shape 8"/>
          <p:cNvSpPr/>
          <p:nvPr/>
        </p:nvSpPr>
        <p:spPr>
          <a:xfrm>
            <a:off x="4754880" y="1005840"/>
            <a:ext cx="324612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1" name="Shape 9"/>
          <p:cNvSpPr/>
          <p:nvPr/>
        </p:nvSpPr>
        <p:spPr>
          <a:xfrm>
            <a:off x="4754880" y="1005840"/>
            <a:ext cx="73152" cy="1234440"/>
          </a:xfrm>
          <a:prstGeom prst="rect">
            <a:avLst/>
          </a:prstGeom>
          <a:solidFill>
            <a:srgbClr val="1E8449"/>
          </a:solidFill>
          <a:ln w="12700">
            <a:solidFill>
              <a:srgbClr val="1E8449"/>
            </a:solidFill>
            <a:prstDash val="solid"/>
          </a:ln>
        </p:spPr>
        <p:txBody>
          <a:bodyPr/>
          <a:lstStyle/>
          <a:p>
            <a:endParaRPr/>
          </a:p>
        </p:txBody>
      </p:sp>
      <p:sp>
        <p:nvSpPr>
          <p:cNvPr id="12" name="Text 10"/>
          <p:cNvSpPr/>
          <p:nvPr/>
        </p:nvSpPr>
        <p:spPr>
          <a:xfrm>
            <a:off x="4919472" y="1097280"/>
            <a:ext cx="292608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Net mensuel (opt.)</a:t>
            </a:r>
            <a:endParaRPr lang="en-US" sz="1200" dirty="0"/>
          </a:p>
        </p:txBody>
      </p:sp>
      <p:sp>
        <p:nvSpPr>
          <p:cNvPr id="13" name="Text 11"/>
          <p:cNvSpPr/>
          <p:nvPr/>
        </p:nvSpPr>
        <p:spPr>
          <a:xfrm>
            <a:off x="4919472" y="1307592"/>
            <a:ext cx="292608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+13 690 €</a:t>
            </a:r>
            <a:endParaRPr lang="en-US" sz="2800" dirty="0"/>
          </a:p>
        </p:txBody>
      </p:sp>
      <p:sp>
        <p:nvSpPr>
          <p:cNvPr id="14" name="Text 12"/>
          <p:cNvSpPr/>
          <p:nvPr/>
        </p:nvSpPr>
        <p:spPr>
          <a:xfrm>
            <a:off x="4919472" y="1947672"/>
            <a:ext cx="292608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après coûts récurrents</a:t>
            </a:r>
            <a:endParaRPr lang="en-US" sz="1000" dirty="0"/>
          </a:p>
        </p:txBody>
      </p:sp>
      <p:sp>
        <p:nvSpPr>
          <p:cNvPr id="15" name="Shape 13"/>
          <p:cNvSpPr/>
          <p:nvPr/>
        </p:nvSpPr>
        <p:spPr>
          <a:xfrm>
            <a:off x="8138160" y="1005840"/>
            <a:ext cx="31546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6" name="Shape 14"/>
          <p:cNvSpPr/>
          <p:nvPr/>
        </p:nvSpPr>
        <p:spPr>
          <a:xfrm>
            <a:off x="8138160" y="1005840"/>
            <a:ext cx="73152" cy="1234440"/>
          </a:xfrm>
          <a:prstGeom prst="rect">
            <a:avLst/>
          </a:prstGeom>
          <a:solidFill>
            <a:srgbClr val="C0392B"/>
          </a:solidFill>
          <a:ln w="12700">
            <a:solidFill>
              <a:srgbClr val="C0392B"/>
            </a:solidFill>
            <a:prstDash val="solid"/>
          </a:ln>
        </p:spPr>
        <p:txBody>
          <a:bodyPr/>
          <a:lstStyle/>
          <a:p>
            <a:endParaRPr/>
          </a:p>
        </p:txBody>
      </p:sp>
      <p:sp>
        <p:nvSpPr>
          <p:cNvPr id="17" name="Text 15"/>
          <p:cNvSpPr/>
          <p:nvPr/>
        </p:nvSpPr>
        <p:spPr>
          <a:xfrm>
            <a:off x="8302752" y="1097280"/>
            <a:ext cx="28346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Net mensuel (pess.)</a:t>
            </a:r>
            <a:endParaRPr lang="en-US" sz="1200" dirty="0"/>
          </a:p>
        </p:txBody>
      </p:sp>
      <p:sp>
        <p:nvSpPr>
          <p:cNvPr id="18" name="Text 16"/>
          <p:cNvSpPr/>
          <p:nvPr/>
        </p:nvSpPr>
        <p:spPr>
          <a:xfrm>
            <a:off x="8302752" y="1307592"/>
            <a:ext cx="28346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-4 634 €</a:t>
            </a:r>
            <a:endParaRPr lang="en-US" sz="2800" dirty="0"/>
          </a:p>
        </p:txBody>
      </p:sp>
      <p:sp>
        <p:nvSpPr>
          <p:cNvPr id="19" name="Text 17"/>
          <p:cNvSpPr/>
          <p:nvPr/>
        </p:nvSpPr>
        <p:spPr>
          <a:xfrm>
            <a:off x="8302752" y="1947672"/>
            <a:ext cx="28346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si adoption faible</a:t>
            </a:r>
            <a:endParaRPr lang="en-US" sz="1000" dirty="0"/>
          </a:p>
        </p:txBody>
      </p:sp>
      <p:sp>
        <p:nvSpPr>
          <p:cNvPr id="20" name="Shape 18"/>
          <p:cNvSpPr/>
          <p:nvPr/>
        </p:nvSpPr>
        <p:spPr>
          <a:xfrm>
            <a:off x="731520" y="2423160"/>
            <a:ext cx="10744200" cy="402336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21" name="Text 19"/>
          <p:cNvSpPr/>
          <p:nvPr/>
        </p:nvSpPr>
        <p:spPr>
          <a:xfrm>
            <a:off x="1097280" y="2651760"/>
            <a:ext cx="10058400" cy="32004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Bénéfice net mensuel : comparaison</a:t>
            </a:r>
            <a:endParaRPr lang="en-US" sz="1600" dirty="0"/>
          </a:p>
        </p:txBody>
      </p:sp>
      <p:graphicFrame>
        <p:nvGraphicFramePr>
          <p:cNvPr id="22" name="Chart 0"/>
          <p:cNvGraphicFramePr/>
          <p:nvPr/>
        </p:nvGraphicFramePr>
        <p:xfrm>
          <a:off x="1005840" y="3063240"/>
          <a:ext cx="64922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7635240" y="3063240"/>
            <a:ext cx="3749040" cy="3246120"/>
          </a:xfrm>
          <a:prstGeom prst="roundRect">
            <a:avLst/>
          </a:prstGeom>
          <a:solidFill>
            <a:srgbClr val="FBFAF7"/>
          </a:solidFill>
          <a:ln w="12700">
            <a:solidFill>
              <a:srgbClr val="E6E0D6"/>
            </a:solidFill>
            <a:prstDash val="solid"/>
          </a:ln>
        </p:spPr>
        <p:txBody>
          <a:bodyPr/>
          <a:lstStyle/>
          <a:p>
            <a:endParaRPr/>
          </a:p>
        </p:txBody>
      </p:sp>
      <p:sp>
        <p:nvSpPr>
          <p:cNvPr id="24" name="Text 21"/>
          <p:cNvSpPr/>
          <p:nvPr/>
        </p:nvSpPr>
        <p:spPr>
          <a:xfrm>
            <a:off x="7863840" y="3246120"/>
            <a:ext cx="3291840" cy="27432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Lecture</a:t>
            </a:r>
            <a:endParaRPr lang="en-US" sz="1400" dirty="0"/>
          </a:p>
        </p:txBody>
      </p:sp>
      <p:sp>
        <p:nvSpPr>
          <p:cNvPr id="25" name="Text 22"/>
          <p:cNvSpPr/>
          <p:nvPr/>
        </p:nvSpPr>
        <p:spPr>
          <a:xfrm>
            <a:off x="7863840" y="3566160"/>
            <a:ext cx="3291840" cy="265176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Le MVP sert à mesurer rapidement. Si l’adoption est au rendez‑vous, on voit la rentabilité en quelques mois. Si l’usage reste faible, on ne ‘pousse’ pas : on analyse, on améliore, ou on arrête.</a:t>
            </a:r>
            <a:endParaRPr lang="en-US" sz="1250" dirty="0"/>
          </a:p>
        </p:txBody>
      </p:sp>
      <p:sp>
        <p:nvSpPr>
          <p:cNvPr id="26" name="Shape 23"/>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7" name="Text 24"/>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8" name="Text 25"/>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18/26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Rentabilité (optimiste) : courbe de point mort</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Cumul des gains vs investissement</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548640"/>
          </a:xfrm>
          <a:prstGeom prst="rect">
            <a:avLst/>
          </a:prstGeom>
          <a:noFill/>
          <a:ln/>
        </p:spPr>
        <p:txBody>
          <a:bodyPr wrap="square" rtlCol="0" anchor="ctr"/>
          <a:lstStyle/>
          <a:p>
            <a:pPr marL="0" indent="0">
              <a:buNone/>
            </a:pPr>
            <a:r>
              <a:rPr lang="en-US" sz="1250" dirty="0">
                <a:solidFill>
                  <a:srgbClr val="44506A"/>
                </a:solidFill>
                <a:latin typeface="Calibri" pitchFamily="34" charset="0"/>
                <a:ea typeface="Calibri" pitchFamily="34" charset="-122"/>
                <a:cs typeface="Calibri" pitchFamily="34" charset="-120"/>
              </a:rPr>
              <a:t>On part d’un investissement initial de 70 885 €. Ensuite, si le bénéfice net est d’environ 13 690 €/mois, le cumul redevient positif autour de 5.2 mois.</a:t>
            </a:r>
            <a:endParaRPr lang="en-US" sz="1250" dirty="0"/>
          </a:p>
        </p:txBody>
      </p:sp>
      <p:graphicFrame>
        <p:nvGraphicFramePr>
          <p:cNvPr id="7" name="Chart 0"/>
          <p:cNvGraphicFramePr/>
          <p:nvPr/>
        </p:nvGraphicFramePr>
        <p:xfrm>
          <a:off x="1005840" y="2148840"/>
          <a:ext cx="101498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8503920" y="2377440"/>
            <a:ext cx="2651760" cy="640080"/>
          </a:xfrm>
          <a:prstGeom prst="roundRect">
            <a:avLst/>
          </a:prstGeom>
          <a:solidFill>
            <a:srgbClr val="C8A45D"/>
          </a:solidFill>
          <a:ln w="12700">
            <a:solidFill>
              <a:srgbClr val="C8A45D"/>
            </a:solidFill>
            <a:prstDash val="solid"/>
          </a:ln>
        </p:spPr>
        <p:txBody>
          <a:bodyPr/>
          <a:lstStyle/>
          <a:p>
            <a:endParaRPr/>
          </a:p>
        </p:txBody>
      </p:sp>
      <p:sp>
        <p:nvSpPr>
          <p:cNvPr id="9" name="Text 6"/>
          <p:cNvSpPr/>
          <p:nvPr/>
        </p:nvSpPr>
        <p:spPr>
          <a:xfrm>
            <a:off x="8503920" y="2542032"/>
            <a:ext cx="2651760" cy="320040"/>
          </a:xfrm>
          <a:prstGeom prst="rect">
            <a:avLst/>
          </a:prstGeom>
          <a:noFill/>
          <a:ln/>
        </p:spPr>
        <p:txBody>
          <a:bodyPr wrap="square" rtlCol="0" anchor="ctr"/>
          <a:lstStyle/>
          <a:p>
            <a:pPr marL="0" indent="0" algn="ctr">
              <a:buNone/>
            </a:pPr>
            <a:r>
              <a:rPr lang="en-US" sz="1300" b="1" dirty="0">
                <a:solidFill>
                  <a:srgbClr val="0B132B"/>
                </a:solidFill>
                <a:latin typeface="Calibri" pitchFamily="34" charset="0"/>
                <a:ea typeface="Calibri" pitchFamily="34" charset="-122"/>
                <a:cs typeface="Calibri" pitchFamily="34" charset="-120"/>
              </a:rPr>
              <a:t>Point mort ~5.2 mois</a:t>
            </a:r>
            <a:endParaRPr lang="en-US" sz="1300" dirty="0"/>
          </a:p>
        </p:txBody>
      </p:sp>
      <p:sp>
        <p:nvSpPr>
          <p:cNvPr id="10" name="Shape 7"/>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1" name="Text 8"/>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2" name="Text 9"/>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19/26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Données personnelles : ce que l’on traite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Conformité dès le MVP</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512064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Quelles données ?</a:t>
            </a:r>
            <a:endParaRPr lang="en-US" sz="1800" dirty="0"/>
          </a:p>
        </p:txBody>
      </p:sp>
      <p:sp>
        <p:nvSpPr>
          <p:cNvPr id="7" name="Text 5"/>
          <p:cNvSpPr/>
          <p:nvPr/>
        </p:nvSpPr>
        <p:spPr>
          <a:xfrm>
            <a:off x="1097280" y="1783080"/>
            <a:ext cx="5120640" cy="118364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Photo de tenue (peut contenir un visage).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Identifiant utilisateur + date/heure (pour retrouver l’historique).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Feedback (utile / pas utile) pour améliorer la recommandation.</a:t>
            </a:r>
            <a:endParaRPr lang="en-US" sz="1400" dirty="0"/>
          </a:p>
        </p:txBody>
      </p:sp>
      <p:sp>
        <p:nvSpPr>
          <p:cNvPr id="8" name="Text 6"/>
          <p:cNvSpPr/>
          <p:nvPr/>
        </p:nvSpPr>
        <p:spPr>
          <a:xfrm>
            <a:off x="6446520" y="1325880"/>
            <a:ext cx="498348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Comment on protège ?</a:t>
            </a:r>
            <a:endParaRPr lang="en-US" sz="1800" dirty="0"/>
          </a:p>
        </p:txBody>
      </p:sp>
      <p:sp>
        <p:nvSpPr>
          <p:cNvPr id="9" name="Text 7"/>
          <p:cNvSpPr/>
          <p:nvPr/>
        </p:nvSpPr>
        <p:spPr>
          <a:xfrm>
            <a:off x="6446520" y="1783080"/>
            <a:ext cx="498348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Consentement explicite avant toute analyse.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Option : flouter le visage avant stockage.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Suppression à la demande (photo, historique, embeddings).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Accès restreint, chiffrement, logs de sécurité.</a:t>
            </a:r>
            <a:endParaRPr lang="en-US" sz="1400" dirty="0"/>
          </a:p>
        </p:txBody>
      </p:sp>
      <p:sp>
        <p:nvSpPr>
          <p:cNvPr id="10" name="Shape 8"/>
          <p:cNvSpPr/>
          <p:nvPr/>
        </p:nvSpPr>
        <p:spPr>
          <a:xfrm>
            <a:off x="1097280" y="5166360"/>
            <a:ext cx="10058400" cy="1143000"/>
          </a:xfrm>
          <a:prstGeom prst="roundRect">
            <a:avLst/>
          </a:prstGeom>
          <a:solidFill>
            <a:srgbClr val="0B132B"/>
          </a:solidFill>
          <a:ln w="12700">
            <a:solidFill>
              <a:srgbClr val="0B132B"/>
            </a:solidFill>
            <a:prstDash val="solid"/>
          </a:ln>
        </p:spPr>
        <p:txBody>
          <a:bodyPr/>
          <a:lstStyle/>
          <a:p>
            <a:endParaRPr/>
          </a:p>
        </p:txBody>
      </p:sp>
      <p:sp>
        <p:nvSpPr>
          <p:cNvPr id="11" name="Text 9"/>
          <p:cNvSpPr/>
          <p:nvPr/>
        </p:nvSpPr>
        <p:spPr>
          <a:xfrm>
            <a:off x="1325880" y="5376672"/>
            <a:ext cx="960120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Point clé : on n’utilise pas la photo pour identifier une personne. Le but est uniquement de trouver des ressemblances de style entre images.</a:t>
            </a:r>
            <a:endParaRPr lang="en-US" sz="1300" dirty="0"/>
          </a:p>
        </p:txBody>
      </p:sp>
      <p:sp>
        <p:nvSpPr>
          <p:cNvPr id="12" name="Shape 1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3" name="Text 1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4" name="Text 1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Registre CNIL : traitement IA (résumé)</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1 traitement principal</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Shape 4"/>
          <p:cNvSpPr/>
          <p:nvPr/>
        </p:nvSpPr>
        <p:spPr>
          <a:xfrm>
            <a:off x="1097280" y="1417320"/>
            <a:ext cx="10058400" cy="548640"/>
          </a:xfrm>
          <a:prstGeom prst="roundRect">
            <a:avLst/>
          </a:prstGeom>
          <a:solidFill>
            <a:srgbClr val="0B132B"/>
          </a:solidFill>
          <a:ln w="12700">
            <a:solidFill>
              <a:srgbClr val="0B132B"/>
            </a:solidFill>
            <a:prstDash val="solid"/>
          </a:ln>
        </p:spPr>
        <p:txBody>
          <a:bodyPr/>
          <a:lstStyle/>
          <a:p>
            <a:endParaRPr/>
          </a:p>
        </p:txBody>
      </p:sp>
      <p:sp>
        <p:nvSpPr>
          <p:cNvPr id="7" name="Text 5"/>
          <p:cNvSpPr/>
          <p:nvPr/>
        </p:nvSpPr>
        <p:spPr>
          <a:xfrm>
            <a:off x="1234440" y="1554480"/>
            <a:ext cx="18288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Élément</a:t>
            </a:r>
            <a:endParaRPr lang="en-US" sz="1300" dirty="0"/>
          </a:p>
        </p:txBody>
      </p:sp>
      <p:sp>
        <p:nvSpPr>
          <p:cNvPr id="8" name="Text 6"/>
          <p:cNvSpPr/>
          <p:nvPr/>
        </p:nvSpPr>
        <p:spPr>
          <a:xfrm>
            <a:off x="3337560" y="1554480"/>
            <a:ext cx="76809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Description simple</a:t>
            </a:r>
            <a:endParaRPr lang="en-US" sz="1300" dirty="0"/>
          </a:p>
        </p:txBody>
      </p:sp>
      <p:sp>
        <p:nvSpPr>
          <p:cNvPr id="9" name="Shape 7"/>
          <p:cNvSpPr/>
          <p:nvPr/>
        </p:nvSpPr>
        <p:spPr>
          <a:xfrm>
            <a:off x="1097280" y="1965960"/>
            <a:ext cx="10058400" cy="713232"/>
          </a:xfrm>
          <a:prstGeom prst="rect">
            <a:avLst/>
          </a:prstGeom>
          <a:solidFill>
            <a:srgbClr val="FBFAF7"/>
          </a:solidFill>
          <a:ln w="12700">
            <a:solidFill>
              <a:srgbClr val="E6E0D6"/>
            </a:solidFill>
            <a:prstDash val="solid"/>
          </a:ln>
        </p:spPr>
        <p:txBody>
          <a:bodyPr/>
          <a:lstStyle/>
          <a:p>
            <a:endParaRPr/>
          </a:p>
        </p:txBody>
      </p:sp>
      <p:sp>
        <p:nvSpPr>
          <p:cNvPr id="10" name="Text 8"/>
          <p:cNvSpPr/>
          <p:nvPr/>
        </p:nvSpPr>
        <p:spPr>
          <a:xfrm>
            <a:off x="1234440" y="2130552"/>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Finalité</a:t>
            </a:r>
            <a:endParaRPr lang="en-US" sz="1250" dirty="0"/>
          </a:p>
        </p:txBody>
      </p:sp>
      <p:sp>
        <p:nvSpPr>
          <p:cNvPr id="11" name="Text 9"/>
          <p:cNvSpPr/>
          <p:nvPr/>
        </p:nvSpPr>
        <p:spPr>
          <a:xfrm>
            <a:off x="3337560" y="2130552"/>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Recommander des articles similaires à partir d’une photo.</a:t>
            </a:r>
            <a:endParaRPr lang="en-US" sz="1250" dirty="0"/>
          </a:p>
        </p:txBody>
      </p:sp>
      <p:sp>
        <p:nvSpPr>
          <p:cNvPr id="12" name="Shape 10"/>
          <p:cNvSpPr/>
          <p:nvPr/>
        </p:nvSpPr>
        <p:spPr>
          <a:xfrm>
            <a:off x="1097280" y="2679192"/>
            <a:ext cx="10058400" cy="713232"/>
          </a:xfrm>
          <a:prstGeom prst="rect">
            <a:avLst/>
          </a:prstGeom>
          <a:solidFill>
            <a:srgbClr val="FFFFFF"/>
          </a:solidFill>
          <a:ln w="12700">
            <a:solidFill>
              <a:srgbClr val="E6E0D6"/>
            </a:solidFill>
            <a:prstDash val="solid"/>
          </a:ln>
        </p:spPr>
        <p:txBody>
          <a:bodyPr/>
          <a:lstStyle/>
          <a:p>
            <a:endParaRPr/>
          </a:p>
        </p:txBody>
      </p:sp>
      <p:sp>
        <p:nvSpPr>
          <p:cNvPr id="13" name="Text 11"/>
          <p:cNvSpPr/>
          <p:nvPr/>
        </p:nvSpPr>
        <p:spPr>
          <a:xfrm>
            <a:off x="1234440" y="2843784"/>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Base légale</a:t>
            </a:r>
            <a:endParaRPr lang="en-US" sz="1250" dirty="0"/>
          </a:p>
        </p:txBody>
      </p:sp>
      <p:sp>
        <p:nvSpPr>
          <p:cNvPr id="14" name="Text 12"/>
          <p:cNvSpPr/>
          <p:nvPr/>
        </p:nvSpPr>
        <p:spPr>
          <a:xfrm>
            <a:off x="3337560" y="2843784"/>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Consentement explicite avant analyse.</a:t>
            </a:r>
            <a:endParaRPr lang="en-US" sz="1250" dirty="0"/>
          </a:p>
        </p:txBody>
      </p:sp>
      <p:sp>
        <p:nvSpPr>
          <p:cNvPr id="15" name="Shape 13"/>
          <p:cNvSpPr/>
          <p:nvPr/>
        </p:nvSpPr>
        <p:spPr>
          <a:xfrm>
            <a:off x="1097280" y="3392424"/>
            <a:ext cx="10058400" cy="713232"/>
          </a:xfrm>
          <a:prstGeom prst="rect">
            <a:avLst/>
          </a:prstGeom>
          <a:solidFill>
            <a:srgbClr val="FBFAF7"/>
          </a:solidFill>
          <a:ln w="12700">
            <a:solidFill>
              <a:srgbClr val="E6E0D6"/>
            </a:solidFill>
            <a:prstDash val="solid"/>
          </a:ln>
        </p:spPr>
        <p:txBody>
          <a:bodyPr/>
          <a:lstStyle/>
          <a:p>
            <a:endParaRPr/>
          </a:p>
        </p:txBody>
      </p:sp>
      <p:sp>
        <p:nvSpPr>
          <p:cNvPr id="16" name="Text 14"/>
          <p:cNvSpPr/>
          <p:nvPr/>
        </p:nvSpPr>
        <p:spPr>
          <a:xfrm>
            <a:off x="1234440" y="3557016"/>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Sous‑traitant</a:t>
            </a:r>
            <a:endParaRPr lang="en-US" sz="1250" dirty="0"/>
          </a:p>
        </p:txBody>
      </p:sp>
      <p:sp>
        <p:nvSpPr>
          <p:cNvPr id="17" name="Text 15"/>
          <p:cNvSpPr/>
          <p:nvPr/>
        </p:nvSpPr>
        <p:spPr>
          <a:xfrm>
            <a:off x="3337560" y="3557016"/>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Microsoft Azure (hébergement + traitements techniques).</a:t>
            </a:r>
            <a:endParaRPr lang="en-US" sz="1250" dirty="0"/>
          </a:p>
        </p:txBody>
      </p:sp>
      <p:sp>
        <p:nvSpPr>
          <p:cNvPr id="18" name="Shape 16"/>
          <p:cNvSpPr/>
          <p:nvPr/>
        </p:nvSpPr>
        <p:spPr>
          <a:xfrm>
            <a:off x="1097280" y="4105656"/>
            <a:ext cx="10058400" cy="713232"/>
          </a:xfrm>
          <a:prstGeom prst="rect">
            <a:avLst/>
          </a:prstGeom>
          <a:solidFill>
            <a:srgbClr val="FFFFFF"/>
          </a:solidFill>
          <a:ln w="12700">
            <a:solidFill>
              <a:srgbClr val="E6E0D6"/>
            </a:solidFill>
            <a:prstDash val="solid"/>
          </a:ln>
        </p:spPr>
        <p:txBody>
          <a:bodyPr/>
          <a:lstStyle/>
          <a:p>
            <a:endParaRPr/>
          </a:p>
        </p:txBody>
      </p:sp>
      <p:sp>
        <p:nvSpPr>
          <p:cNvPr id="19" name="Text 17"/>
          <p:cNvSpPr/>
          <p:nvPr/>
        </p:nvSpPr>
        <p:spPr>
          <a:xfrm>
            <a:off x="1234440" y="4270248"/>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Conservation</a:t>
            </a:r>
            <a:endParaRPr lang="en-US" sz="1250" dirty="0"/>
          </a:p>
        </p:txBody>
      </p:sp>
      <p:sp>
        <p:nvSpPr>
          <p:cNvPr id="20" name="Text 18"/>
          <p:cNvSpPr/>
          <p:nvPr/>
        </p:nvSpPr>
        <p:spPr>
          <a:xfrm>
            <a:off x="3337560" y="4270248"/>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Photo originale : courte durée ; photo “garde‑robe” : version traitée ; embeddings : 12 mois ; logs : 3 mois.</a:t>
            </a:r>
            <a:endParaRPr lang="en-US" sz="1250" dirty="0"/>
          </a:p>
        </p:txBody>
      </p:sp>
      <p:sp>
        <p:nvSpPr>
          <p:cNvPr id="21" name="Shape 19"/>
          <p:cNvSpPr/>
          <p:nvPr/>
        </p:nvSpPr>
        <p:spPr>
          <a:xfrm>
            <a:off x="1097280" y="4818888"/>
            <a:ext cx="10058400" cy="713232"/>
          </a:xfrm>
          <a:prstGeom prst="rect">
            <a:avLst/>
          </a:prstGeom>
          <a:solidFill>
            <a:srgbClr val="FBFAF7"/>
          </a:solidFill>
          <a:ln w="12700">
            <a:solidFill>
              <a:srgbClr val="E6E0D6"/>
            </a:solidFill>
            <a:prstDash val="solid"/>
          </a:ln>
        </p:spPr>
        <p:txBody>
          <a:bodyPr/>
          <a:lstStyle/>
          <a:p>
            <a:endParaRPr/>
          </a:p>
        </p:txBody>
      </p:sp>
      <p:sp>
        <p:nvSpPr>
          <p:cNvPr id="22" name="Text 20"/>
          <p:cNvSpPr/>
          <p:nvPr/>
        </p:nvSpPr>
        <p:spPr>
          <a:xfrm>
            <a:off x="1234440" y="4983480"/>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Sécurité</a:t>
            </a:r>
            <a:endParaRPr lang="en-US" sz="1250" dirty="0"/>
          </a:p>
        </p:txBody>
      </p:sp>
      <p:sp>
        <p:nvSpPr>
          <p:cNvPr id="23" name="Text 21"/>
          <p:cNvSpPr/>
          <p:nvPr/>
        </p:nvSpPr>
        <p:spPr>
          <a:xfrm>
            <a:off x="3337560" y="4983480"/>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Chiffrement, contrôle d’accès, traçabilité (logs), suppression.</a:t>
            </a:r>
            <a:endParaRPr lang="en-US" sz="1250" dirty="0"/>
          </a:p>
        </p:txBody>
      </p:sp>
      <p:sp>
        <p:nvSpPr>
          <p:cNvPr id="24" name="Shape 22"/>
          <p:cNvSpPr/>
          <p:nvPr/>
        </p:nvSpPr>
        <p:spPr>
          <a:xfrm>
            <a:off x="1097280" y="5532120"/>
            <a:ext cx="10058400" cy="713232"/>
          </a:xfrm>
          <a:prstGeom prst="rect">
            <a:avLst/>
          </a:prstGeom>
          <a:solidFill>
            <a:srgbClr val="FFFFFF"/>
          </a:solidFill>
          <a:ln w="12700">
            <a:solidFill>
              <a:srgbClr val="E6E0D6"/>
            </a:solidFill>
            <a:prstDash val="solid"/>
          </a:ln>
        </p:spPr>
        <p:txBody>
          <a:bodyPr/>
          <a:lstStyle/>
          <a:p>
            <a:endParaRPr/>
          </a:p>
        </p:txBody>
      </p:sp>
      <p:sp>
        <p:nvSpPr>
          <p:cNvPr id="25" name="Text 23"/>
          <p:cNvSpPr/>
          <p:nvPr/>
        </p:nvSpPr>
        <p:spPr>
          <a:xfrm>
            <a:off x="1234440" y="5696712"/>
            <a:ext cx="1828800" cy="530352"/>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Droits</a:t>
            </a:r>
            <a:endParaRPr lang="en-US" sz="1250" dirty="0"/>
          </a:p>
        </p:txBody>
      </p:sp>
      <p:sp>
        <p:nvSpPr>
          <p:cNvPr id="26" name="Text 24"/>
          <p:cNvSpPr/>
          <p:nvPr/>
        </p:nvSpPr>
        <p:spPr>
          <a:xfrm>
            <a:off x="3337560" y="5696712"/>
            <a:ext cx="7680960" cy="530352"/>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Accès, retrait du consentement, suppression (droit à l’effacement).</a:t>
            </a:r>
            <a:endParaRPr lang="en-US" sz="1250" dirty="0"/>
          </a:p>
        </p:txBody>
      </p:sp>
      <p:sp>
        <p:nvSpPr>
          <p:cNvPr id="27" name="Text 25"/>
          <p:cNvSpPr/>
          <p:nvPr/>
        </p:nvSpPr>
        <p:spPr>
          <a:xfrm>
            <a:off x="1463040" y="6150543"/>
            <a:ext cx="10058400" cy="32004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Ce registre est un ‘document de preuve’ : il montre que l’on sait quelles données on utilise, pourquoi, et comment on protège les utilisateurs.</a:t>
            </a:r>
            <a:endParaRPr lang="en-US" sz="1200" dirty="0"/>
          </a:p>
        </p:txBody>
      </p:sp>
      <p:sp>
        <p:nvSpPr>
          <p:cNvPr id="28" name="Shape 26"/>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9" name="Text 27"/>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0" name="Text 28"/>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21/26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Biais &amp; éthique : ce que l’on anticipe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Et comment on limite</a:t>
            </a:r>
            <a:endParaRPr lang="en-US" sz="1200" dirty="0"/>
          </a:p>
        </p:txBody>
      </p:sp>
      <p:sp>
        <p:nvSpPr>
          <p:cNvPr id="5" name="Shape 3"/>
          <p:cNvSpPr/>
          <p:nvPr/>
        </p:nvSpPr>
        <p:spPr>
          <a:xfrm>
            <a:off x="731520" y="1097280"/>
            <a:ext cx="534924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475488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Exemples de biais possibles</a:t>
            </a:r>
            <a:endParaRPr lang="en-US" sz="1800" dirty="0"/>
          </a:p>
        </p:txBody>
      </p:sp>
      <p:sp>
        <p:nvSpPr>
          <p:cNvPr id="7" name="Text 5"/>
          <p:cNvSpPr/>
          <p:nvPr/>
        </p:nvSpPr>
        <p:spPr>
          <a:xfrm>
            <a:off x="1097280" y="1783080"/>
            <a:ext cx="4754880" cy="138811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Photos prises en faible lumière : recommandations moins bonnes.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Morphologies différentes : l’IA peut “rater” certaines coupes.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Stéréotypes de genre : pousser des articles trop genrés.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Arrière‑plan / visage : risque vie privée si mal géré.</a:t>
            </a:r>
            <a:endParaRPr lang="en-US" sz="1400" dirty="0"/>
          </a:p>
        </p:txBody>
      </p:sp>
      <p:sp>
        <p:nvSpPr>
          <p:cNvPr id="8" name="Shape 6"/>
          <p:cNvSpPr/>
          <p:nvPr/>
        </p:nvSpPr>
        <p:spPr>
          <a:xfrm>
            <a:off x="6446520" y="1097280"/>
            <a:ext cx="5029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9" name="Text 7"/>
          <p:cNvSpPr/>
          <p:nvPr/>
        </p:nvSpPr>
        <p:spPr>
          <a:xfrm>
            <a:off x="6812280" y="1325880"/>
            <a:ext cx="448056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Mitigations prévues (MVP)</a:t>
            </a:r>
            <a:endParaRPr lang="en-US" sz="1800" dirty="0"/>
          </a:p>
        </p:txBody>
      </p:sp>
      <p:sp>
        <p:nvSpPr>
          <p:cNvPr id="10" name="Text 8"/>
          <p:cNvSpPr/>
          <p:nvPr/>
        </p:nvSpPr>
        <p:spPr>
          <a:xfrm>
            <a:off x="6812280" y="1783080"/>
            <a:ext cx="4480560" cy="1592580"/>
          </a:xfrm>
          <a:prstGeom prst="rect">
            <a:avLst/>
          </a:prstGeom>
          <a:noFill/>
          <a:ln/>
        </p:spPr>
        <p:txBody>
          <a:bodyPr wrap="square" rtlCol="0" anchor="t"/>
          <a:lstStyle/>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Guidance photo + contrôle qualité (évite les mauvaises entrées).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Jeu de tests diversifié (profils, lumières, styles).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Feedback utilisateur + monitoring des performances.</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Option floutage visage + suppression facile.</a:t>
            </a:r>
            <a:endParaRPr lang="en-US" sz="1400" dirty="0"/>
          </a:p>
          <a:p>
            <a:pPr marL="177800" indent="-177800">
              <a:spcAft>
                <a:spcPts val="800"/>
              </a:spcAft>
              <a:buSzPct val="100000"/>
              <a:buChar char="•"/>
            </a:pPr>
            <a:r>
              <a:rPr lang="en-US" sz="1400" dirty="0">
                <a:solidFill>
                  <a:srgbClr val="1B1E28"/>
                </a:solidFill>
                <a:latin typeface="Calibri" pitchFamily="34" charset="0"/>
                <a:ea typeface="Calibri" pitchFamily="34" charset="-122"/>
                <a:cs typeface="Calibri" pitchFamily="34" charset="-120"/>
              </a:rPr>
              <a:t>Règles de recommandation neutres (limiter les stéréotypes).</a:t>
            </a:r>
            <a:endParaRPr lang="en-US" sz="1400" dirty="0"/>
          </a:p>
        </p:txBody>
      </p:sp>
      <p:sp>
        <p:nvSpPr>
          <p:cNvPr id="11" name="Shape 9"/>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12" name="Text 10"/>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13" name="Text 11"/>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22/26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Risques : comment on les évalue</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Spectre 7D (version simple)</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10058400" cy="365760"/>
          </a:xfrm>
          <a:prstGeom prst="rect">
            <a:avLst/>
          </a:prstGeom>
          <a:noFill/>
          <a:ln/>
        </p:spPr>
        <p:txBody>
          <a:bodyPr wrap="square" rtlCol="0" anchor="ctr"/>
          <a:lstStyle/>
          <a:p>
            <a:pPr marL="0" indent="0">
              <a:buNone/>
            </a:pPr>
            <a:r>
              <a:rPr lang="en-US" sz="1800" b="1" dirty="0">
                <a:solidFill>
                  <a:srgbClr val="1B1E28"/>
                </a:solidFill>
                <a:latin typeface="Calibri" pitchFamily="34" charset="0"/>
                <a:ea typeface="Calibri" pitchFamily="34" charset="-122"/>
                <a:cs typeface="Calibri" pitchFamily="34" charset="-120"/>
              </a:rPr>
              <a:t>Principe</a:t>
            </a:r>
            <a:endParaRPr lang="en-US" sz="1800" dirty="0"/>
          </a:p>
        </p:txBody>
      </p:sp>
      <p:sp>
        <p:nvSpPr>
          <p:cNvPr id="7" name="Text 5"/>
          <p:cNvSpPr/>
          <p:nvPr/>
        </p:nvSpPr>
        <p:spPr>
          <a:xfrm>
            <a:off x="1097280" y="1737360"/>
            <a:ext cx="10058400" cy="411480"/>
          </a:xfrm>
          <a:prstGeom prst="rect">
            <a:avLst/>
          </a:prstGeom>
          <a:noFill/>
          <a:ln/>
        </p:spPr>
        <p:txBody>
          <a:bodyPr wrap="square" rtlCol="0" anchor="ctr"/>
          <a:lstStyle/>
          <a:p>
            <a:pPr marL="0" indent="0">
              <a:buNone/>
            </a:pPr>
            <a:r>
              <a:rPr lang="en-US" sz="1250" dirty="0">
                <a:solidFill>
                  <a:srgbClr val="44506A"/>
                </a:solidFill>
                <a:latin typeface="Calibri" pitchFamily="34" charset="0"/>
                <a:ea typeface="Calibri" pitchFamily="34" charset="-122"/>
                <a:cs typeface="Calibri" pitchFamily="34" charset="-120"/>
              </a:rPr>
              <a:t>Pour chaque risque, on estime : (1) son impact si ça arrive, (2) sa probabilité. On multiplie les deux pour prioriser les actions.</a:t>
            </a:r>
            <a:endParaRPr lang="en-US" sz="1250" dirty="0"/>
          </a:p>
        </p:txBody>
      </p:sp>
      <p:sp>
        <p:nvSpPr>
          <p:cNvPr id="8" name="Shape 6"/>
          <p:cNvSpPr/>
          <p:nvPr/>
        </p:nvSpPr>
        <p:spPr>
          <a:xfrm>
            <a:off x="1097280" y="2331720"/>
            <a:ext cx="10058400" cy="1051560"/>
          </a:xfrm>
          <a:prstGeom prst="roundRect">
            <a:avLst/>
          </a:prstGeom>
          <a:solidFill>
            <a:srgbClr val="0B132B"/>
          </a:solidFill>
          <a:ln w="12700">
            <a:solidFill>
              <a:srgbClr val="0B132B"/>
            </a:solidFill>
            <a:prstDash val="solid"/>
          </a:ln>
        </p:spPr>
        <p:txBody>
          <a:bodyPr/>
          <a:lstStyle/>
          <a:p>
            <a:endParaRPr/>
          </a:p>
        </p:txBody>
      </p:sp>
      <p:sp>
        <p:nvSpPr>
          <p:cNvPr id="9" name="Text 7"/>
          <p:cNvSpPr/>
          <p:nvPr/>
        </p:nvSpPr>
        <p:spPr>
          <a:xfrm>
            <a:off x="1097280" y="2606040"/>
            <a:ext cx="10058400" cy="50292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Criticité = Impact × Probabilité</a:t>
            </a:r>
            <a:endParaRPr lang="en-US" sz="2600" dirty="0"/>
          </a:p>
        </p:txBody>
      </p:sp>
      <p:sp>
        <p:nvSpPr>
          <p:cNvPr id="10" name="Shape 8"/>
          <p:cNvSpPr/>
          <p:nvPr/>
        </p:nvSpPr>
        <p:spPr>
          <a:xfrm>
            <a:off x="1097280" y="3611880"/>
            <a:ext cx="3291840" cy="2651760"/>
          </a:xfrm>
          <a:prstGeom prst="roundRect">
            <a:avLst/>
          </a:prstGeom>
          <a:solidFill>
            <a:srgbClr val="FBFAF7"/>
          </a:solidFill>
          <a:ln w="12700">
            <a:solidFill>
              <a:srgbClr val="E6E0D6"/>
            </a:solidFill>
            <a:prstDash val="solid"/>
          </a:ln>
        </p:spPr>
        <p:txBody>
          <a:bodyPr/>
          <a:lstStyle/>
          <a:p>
            <a:endParaRPr/>
          </a:p>
        </p:txBody>
      </p:sp>
      <p:sp>
        <p:nvSpPr>
          <p:cNvPr id="11" name="Text 9"/>
          <p:cNvSpPr/>
          <p:nvPr/>
        </p:nvSpPr>
        <p:spPr>
          <a:xfrm>
            <a:off x="1325880" y="3840480"/>
            <a:ext cx="2834640" cy="32004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Impact</a:t>
            </a:r>
            <a:endParaRPr lang="en-US" sz="1400" dirty="0"/>
          </a:p>
        </p:txBody>
      </p:sp>
      <p:sp>
        <p:nvSpPr>
          <p:cNvPr id="12" name="Text 10"/>
          <p:cNvSpPr/>
          <p:nvPr/>
        </p:nvSpPr>
        <p:spPr>
          <a:xfrm>
            <a:off x="1325880" y="4187952"/>
            <a:ext cx="2834640" cy="192024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À quel point c’est grave ? Exemple : fuite de photos = impact élevé.</a:t>
            </a:r>
            <a:endParaRPr lang="en-US" sz="1250" dirty="0"/>
          </a:p>
        </p:txBody>
      </p:sp>
      <p:sp>
        <p:nvSpPr>
          <p:cNvPr id="13" name="Shape 11"/>
          <p:cNvSpPr/>
          <p:nvPr/>
        </p:nvSpPr>
        <p:spPr>
          <a:xfrm>
            <a:off x="4572000" y="3611880"/>
            <a:ext cx="3291840" cy="2651760"/>
          </a:xfrm>
          <a:prstGeom prst="roundRect">
            <a:avLst/>
          </a:prstGeom>
          <a:solidFill>
            <a:srgbClr val="FBFAF7"/>
          </a:solidFill>
          <a:ln w="12700">
            <a:solidFill>
              <a:srgbClr val="E6E0D6"/>
            </a:solidFill>
            <a:prstDash val="solid"/>
          </a:ln>
        </p:spPr>
        <p:txBody>
          <a:bodyPr/>
          <a:lstStyle/>
          <a:p>
            <a:endParaRPr/>
          </a:p>
        </p:txBody>
      </p:sp>
      <p:sp>
        <p:nvSpPr>
          <p:cNvPr id="14" name="Text 12"/>
          <p:cNvSpPr/>
          <p:nvPr/>
        </p:nvSpPr>
        <p:spPr>
          <a:xfrm>
            <a:off x="4800600" y="3840480"/>
            <a:ext cx="2834640" cy="32004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Probabilité</a:t>
            </a:r>
            <a:endParaRPr lang="en-US" sz="1400" dirty="0"/>
          </a:p>
        </p:txBody>
      </p:sp>
      <p:sp>
        <p:nvSpPr>
          <p:cNvPr id="15" name="Text 13"/>
          <p:cNvSpPr/>
          <p:nvPr/>
        </p:nvSpPr>
        <p:spPr>
          <a:xfrm>
            <a:off x="4800600" y="4187952"/>
            <a:ext cx="2834640" cy="192024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À quel point ça risque d’arriver ? Exemple : photo floue = assez probable.</a:t>
            </a:r>
            <a:endParaRPr lang="en-US" sz="1250" dirty="0"/>
          </a:p>
        </p:txBody>
      </p:sp>
      <p:sp>
        <p:nvSpPr>
          <p:cNvPr id="16" name="Shape 14"/>
          <p:cNvSpPr/>
          <p:nvPr/>
        </p:nvSpPr>
        <p:spPr>
          <a:xfrm>
            <a:off x="8046720" y="3611880"/>
            <a:ext cx="3291840" cy="2651760"/>
          </a:xfrm>
          <a:prstGeom prst="roundRect">
            <a:avLst/>
          </a:prstGeom>
          <a:solidFill>
            <a:srgbClr val="FBFAF7"/>
          </a:solidFill>
          <a:ln w="12700">
            <a:solidFill>
              <a:srgbClr val="E6E0D6"/>
            </a:solidFill>
            <a:prstDash val="solid"/>
          </a:ln>
        </p:spPr>
        <p:txBody>
          <a:bodyPr/>
          <a:lstStyle/>
          <a:p>
            <a:endParaRPr/>
          </a:p>
        </p:txBody>
      </p:sp>
      <p:sp>
        <p:nvSpPr>
          <p:cNvPr id="17" name="Text 15"/>
          <p:cNvSpPr/>
          <p:nvPr/>
        </p:nvSpPr>
        <p:spPr>
          <a:xfrm>
            <a:off x="8275320" y="3840480"/>
            <a:ext cx="2834640" cy="320040"/>
          </a:xfrm>
          <a:prstGeom prst="rect">
            <a:avLst/>
          </a:prstGeom>
          <a:noFill/>
          <a:ln/>
        </p:spPr>
        <p:txBody>
          <a:bodyPr wrap="square" rtlCol="0" anchor="ctr"/>
          <a:lstStyle/>
          <a:p>
            <a:pPr marL="0" indent="0">
              <a:buNone/>
            </a:pPr>
            <a:r>
              <a:rPr lang="en-US" sz="1400" b="1" dirty="0">
                <a:solidFill>
                  <a:srgbClr val="1B1E28"/>
                </a:solidFill>
                <a:latin typeface="Calibri" pitchFamily="34" charset="0"/>
                <a:ea typeface="Calibri" pitchFamily="34" charset="-122"/>
                <a:cs typeface="Calibri" pitchFamily="34" charset="-120"/>
              </a:rPr>
              <a:t>Plan d’action</a:t>
            </a:r>
            <a:endParaRPr lang="en-US" sz="1400" dirty="0"/>
          </a:p>
        </p:txBody>
      </p:sp>
      <p:sp>
        <p:nvSpPr>
          <p:cNvPr id="18" name="Text 16"/>
          <p:cNvSpPr/>
          <p:nvPr/>
        </p:nvSpPr>
        <p:spPr>
          <a:xfrm>
            <a:off x="8275320" y="4187952"/>
            <a:ext cx="2834640" cy="1920240"/>
          </a:xfrm>
          <a:prstGeom prst="rect">
            <a:avLst/>
          </a:prstGeom>
          <a:noFill/>
          <a:ln/>
        </p:spPr>
        <p:txBody>
          <a:bodyPr wrap="square" rtlCol="0" anchor="t"/>
          <a:lstStyle/>
          <a:p>
            <a:pPr marL="0" indent="0">
              <a:buNone/>
            </a:pPr>
            <a:r>
              <a:rPr lang="en-US" sz="1250" dirty="0">
                <a:solidFill>
                  <a:srgbClr val="1B1E28"/>
                </a:solidFill>
                <a:latin typeface="Calibri" pitchFamily="34" charset="0"/>
                <a:ea typeface="Calibri" pitchFamily="34" charset="-122"/>
                <a:cs typeface="Calibri" pitchFamily="34" charset="-120"/>
              </a:rPr>
              <a:t>Pour chaque risque ‘haut’, on définit une action, un responsable et un suivi.</a:t>
            </a:r>
            <a:endParaRPr lang="en-US" sz="1250" dirty="0"/>
          </a:p>
        </p:txBody>
      </p:sp>
      <p:sp>
        <p:nvSpPr>
          <p:cNvPr id="19" name="Shape 17"/>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0" name="Text 18"/>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1" name="Text 19"/>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23/26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Principaux risques (MVP)</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Vue synthèse</a:t>
            </a:r>
            <a:endParaRPr lang="en-US" sz="1200" dirty="0"/>
          </a:p>
        </p:txBody>
      </p:sp>
      <p:sp>
        <p:nvSpPr>
          <p:cNvPr id="5" name="Shape 3"/>
          <p:cNvSpPr/>
          <p:nvPr/>
        </p:nvSpPr>
        <p:spPr>
          <a:xfrm>
            <a:off x="731520" y="1097280"/>
            <a:ext cx="653796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Text 4"/>
          <p:cNvSpPr/>
          <p:nvPr/>
        </p:nvSpPr>
        <p:spPr>
          <a:xfrm>
            <a:off x="1097280" y="1325880"/>
            <a:ext cx="6035040" cy="32004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Matrice Impact × Probabilité</a:t>
            </a:r>
            <a:endParaRPr lang="en-US" sz="1600" dirty="0"/>
          </a:p>
        </p:txBody>
      </p:sp>
      <p:sp>
        <p:nvSpPr>
          <p:cNvPr id="7" name="Shape 5"/>
          <p:cNvSpPr/>
          <p:nvPr/>
        </p:nvSpPr>
        <p:spPr>
          <a:xfrm>
            <a:off x="1097280" y="1783080"/>
            <a:ext cx="6035040" cy="4480560"/>
          </a:xfrm>
          <a:prstGeom prst="rect">
            <a:avLst/>
          </a:prstGeom>
          <a:solidFill>
            <a:srgbClr val="FFFFFF"/>
          </a:solidFill>
          <a:ln w="12700">
            <a:solidFill>
              <a:srgbClr val="E6E0D6"/>
            </a:solidFill>
            <a:prstDash val="solid"/>
          </a:ln>
        </p:spPr>
        <p:txBody>
          <a:bodyPr/>
          <a:lstStyle/>
          <a:p>
            <a:endParaRPr/>
          </a:p>
        </p:txBody>
      </p:sp>
      <p:sp>
        <p:nvSpPr>
          <p:cNvPr id="8" name="Shape 6"/>
          <p:cNvSpPr/>
          <p:nvPr/>
        </p:nvSpPr>
        <p:spPr>
          <a:xfrm>
            <a:off x="1097280" y="1783080"/>
            <a:ext cx="3017520" cy="2240280"/>
          </a:xfrm>
          <a:prstGeom prst="rect">
            <a:avLst/>
          </a:prstGeom>
          <a:solidFill>
            <a:srgbClr val="E8F6EF"/>
          </a:solidFill>
          <a:ln w="12700">
            <a:solidFill>
              <a:srgbClr val="FFFFFF"/>
            </a:solidFill>
            <a:prstDash val="solid"/>
          </a:ln>
        </p:spPr>
        <p:txBody>
          <a:bodyPr/>
          <a:lstStyle/>
          <a:p>
            <a:endParaRPr/>
          </a:p>
        </p:txBody>
      </p:sp>
      <p:sp>
        <p:nvSpPr>
          <p:cNvPr id="9" name="Shape 7"/>
          <p:cNvSpPr/>
          <p:nvPr/>
        </p:nvSpPr>
        <p:spPr>
          <a:xfrm>
            <a:off x="4114800" y="1783080"/>
            <a:ext cx="3017520" cy="2240280"/>
          </a:xfrm>
          <a:prstGeom prst="rect">
            <a:avLst/>
          </a:prstGeom>
          <a:solidFill>
            <a:srgbClr val="FDEDEC"/>
          </a:solidFill>
          <a:ln w="12700">
            <a:solidFill>
              <a:srgbClr val="FFFFFF"/>
            </a:solidFill>
            <a:prstDash val="solid"/>
          </a:ln>
        </p:spPr>
        <p:txBody>
          <a:bodyPr/>
          <a:lstStyle/>
          <a:p>
            <a:endParaRPr/>
          </a:p>
        </p:txBody>
      </p:sp>
      <p:sp>
        <p:nvSpPr>
          <p:cNvPr id="10" name="Shape 8"/>
          <p:cNvSpPr/>
          <p:nvPr/>
        </p:nvSpPr>
        <p:spPr>
          <a:xfrm>
            <a:off x="1097280" y="4023360"/>
            <a:ext cx="3017520" cy="2240280"/>
          </a:xfrm>
          <a:prstGeom prst="rect">
            <a:avLst/>
          </a:prstGeom>
          <a:solidFill>
            <a:srgbClr val="FBEEE6"/>
          </a:solidFill>
          <a:ln w="12700">
            <a:solidFill>
              <a:srgbClr val="FFFFFF"/>
            </a:solidFill>
            <a:prstDash val="solid"/>
          </a:ln>
        </p:spPr>
        <p:txBody>
          <a:bodyPr/>
          <a:lstStyle/>
          <a:p>
            <a:endParaRPr/>
          </a:p>
        </p:txBody>
      </p:sp>
      <p:sp>
        <p:nvSpPr>
          <p:cNvPr id="11" name="Shape 9"/>
          <p:cNvSpPr/>
          <p:nvPr/>
        </p:nvSpPr>
        <p:spPr>
          <a:xfrm>
            <a:off x="4114800" y="4023360"/>
            <a:ext cx="3017520" cy="2240280"/>
          </a:xfrm>
          <a:prstGeom prst="rect">
            <a:avLst/>
          </a:prstGeom>
          <a:solidFill>
            <a:srgbClr val="FDF2E9"/>
          </a:solidFill>
          <a:ln w="12700">
            <a:solidFill>
              <a:srgbClr val="FFFFFF"/>
            </a:solidFill>
            <a:prstDash val="solid"/>
          </a:ln>
        </p:spPr>
        <p:txBody>
          <a:bodyPr/>
          <a:lstStyle/>
          <a:p>
            <a:endParaRPr/>
          </a:p>
        </p:txBody>
      </p:sp>
      <p:sp>
        <p:nvSpPr>
          <p:cNvPr id="12" name="Shape 10"/>
          <p:cNvSpPr/>
          <p:nvPr/>
        </p:nvSpPr>
        <p:spPr>
          <a:xfrm>
            <a:off x="4114800" y="1783080"/>
            <a:ext cx="0" cy="4480560"/>
          </a:xfrm>
          <a:prstGeom prst="line">
            <a:avLst/>
          </a:prstGeom>
          <a:noFill/>
          <a:ln w="25400">
            <a:solidFill>
              <a:srgbClr val="FFFFFF"/>
            </a:solidFill>
            <a:prstDash val="solid"/>
          </a:ln>
        </p:spPr>
        <p:txBody>
          <a:bodyPr/>
          <a:lstStyle/>
          <a:p>
            <a:endParaRPr/>
          </a:p>
        </p:txBody>
      </p:sp>
      <p:sp>
        <p:nvSpPr>
          <p:cNvPr id="13" name="Shape 11"/>
          <p:cNvSpPr/>
          <p:nvPr/>
        </p:nvSpPr>
        <p:spPr>
          <a:xfrm>
            <a:off x="1097280" y="4023360"/>
            <a:ext cx="6035040" cy="0"/>
          </a:xfrm>
          <a:prstGeom prst="line">
            <a:avLst/>
          </a:prstGeom>
          <a:noFill/>
          <a:ln w="25400">
            <a:solidFill>
              <a:srgbClr val="FFFFFF"/>
            </a:solidFill>
            <a:prstDash val="solid"/>
          </a:ln>
        </p:spPr>
        <p:txBody>
          <a:bodyPr/>
          <a:lstStyle/>
          <a:p>
            <a:endParaRPr/>
          </a:p>
        </p:txBody>
      </p:sp>
      <p:sp>
        <p:nvSpPr>
          <p:cNvPr id="14" name="Text 12"/>
          <p:cNvSpPr/>
          <p:nvPr/>
        </p:nvSpPr>
        <p:spPr>
          <a:xfrm>
            <a:off x="3108960" y="6309360"/>
            <a:ext cx="2011680" cy="274320"/>
          </a:xfrm>
          <a:prstGeom prst="rect">
            <a:avLst/>
          </a:prstGeom>
          <a:noFill/>
          <a:ln/>
        </p:spPr>
        <p:txBody>
          <a:bodyPr wrap="square" rtlCol="0" anchor="ctr"/>
          <a:lstStyle/>
          <a:p>
            <a:pPr marL="0" indent="0" algn="ctr">
              <a:buNone/>
            </a:pPr>
            <a:r>
              <a:rPr lang="en-US" sz="1100" dirty="0">
                <a:solidFill>
                  <a:srgbClr val="44506A"/>
                </a:solidFill>
                <a:latin typeface="Calibri" pitchFamily="34" charset="0"/>
                <a:ea typeface="Calibri" pitchFamily="34" charset="-122"/>
                <a:cs typeface="Calibri" pitchFamily="34" charset="-120"/>
              </a:rPr>
              <a:t>Impact →</a:t>
            </a:r>
            <a:endParaRPr lang="en-US" sz="1100" dirty="0"/>
          </a:p>
        </p:txBody>
      </p:sp>
      <p:sp>
        <p:nvSpPr>
          <p:cNvPr id="15" name="Text 13"/>
          <p:cNvSpPr/>
          <p:nvPr/>
        </p:nvSpPr>
        <p:spPr>
          <a:xfrm rot="5400000">
            <a:off x="228600" y="3703320"/>
            <a:ext cx="914400" cy="274320"/>
          </a:xfrm>
          <a:prstGeom prst="rect">
            <a:avLst/>
          </a:prstGeom>
          <a:noFill/>
          <a:ln/>
        </p:spPr>
        <p:txBody>
          <a:bodyPr wrap="square" rtlCol="0" anchor="ctr"/>
          <a:lstStyle/>
          <a:p>
            <a:pPr marL="0" indent="0" algn="ctr">
              <a:buNone/>
            </a:pPr>
            <a:r>
              <a:rPr lang="en-US" sz="1100" dirty="0">
                <a:solidFill>
                  <a:srgbClr val="44506A"/>
                </a:solidFill>
                <a:latin typeface="Calibri" pitchFamily="34" charset="0"/>
                <a:ea typeface="Calibri" pitchFamily="34" charset="-122"/>
                <a:cs typeface="Calibri" pitchFamily="34" charset="-120"/>
              </a:rPr>
              <a:t>Probabilité ↑</a:t>
            </a:r>
            <a:endParaRPr lang="en-US" sz="1100" dirty="0"/>
          </a:p>
        </p:txBody>
      </p:sp>
      <p:sp>
        <p:nvSpPr>
          <p:cNvPr id="16" name="Shape 14"/>
          <p:cNvSpPr/>
          <p:nvPr/>
        </p:nvSpPr>
        <p:spPr>
          <a:xfrm>
            <a:off x="4718304" y="2589581"/>
            <a:ext cx="201168" cy="201168"/>
          </a:xfrm>
          <a:prstGeom prst="ellipse">
            <a:avLst/>
          </a:prstGeom>
          <a:solidFill>
            <a:srgbClr val="0B132B"/>
          </a:solidFill>
          <a:ln w="12700">
            <a:solidFill>
              <a:srgbClr val="0B132B"/>
            </a:solidFill>
            <a:prstDash val="solid"/>
          </a:ln>
        </p:spPr>
        <p:txBody>
          <a:bodyPr/>
          <a:lstStyle/>
          <a:p>
            <a:endParaRPr/>
          </a:p>
        </p:txBody>
      </p:sp>
      <p:sp>
        <p:nvSpPr>
          <p:cNvPr id="17" name="Text 15"/>
          <p:cNvSpPr/>
          <p:nvPr/>
        </p:nvSpPr>
        <p:spPr>
          <a:xfrm>
            <a:off x="4956048" y="2543861"/>
            <a:ext cx="2468880" cy="274320"/>
          </a:xfrm>
          <a:prstGeom prst="rect">
            <a:avLst/>
          </a:prstGeom>
          <a:noFill/>
          <a:ln/>
        </p:spPr>
        <p:txBody>
          <a:bodyPr wrap="square" rtlCol="0" anchor="ctr"/>
          <a:lstStyle/>
          <a:p>
            <a:pPr marL="0" indent="0">
              <a:buNone/>
            </a:pPr>
            <a:r>
              <a:rPr lang="en-US" sz="1150" dirty="0">
                <a:solidFill>
                  <a:srgbClr val="1B1E28"/>
                </a:solidFill>
                <a:latin typeface="Calibri" pitchFamily="34" charset="0"/>
                <a:ea typeface="Calibri" pitchFamily="34" charset="-122"/>
                <a:cs typeface="Calibri" pitchFamily="34" charset="-120"/>
              </a:rPr>
              <a:t>Fuite de photos</a:t>
            </a:r>
            <a:endParaRPr lang="en-US" sz="1150" dirty="0"/>
          </a:p>
        </p:txBody>
      </p:sp>
      <p:sp>
        <p:nvSpPr>
          <p:cNvPr id="18" name="Shape 16"/>
          <p:cNvSpPr/>
          <p:nvPr/>
        </p:nvSpPr>
        <p:spPr>
          <a:xfrm>
            <a:off x="5020056" y="3216859"/>
            <a:ext cx="201168" cy="201168"/>
          </a:xfrm>
          <a:prstGeom prst="ellipse">
            <a:avLst/>
          </a:prstGeom>
          <a:solidFill>
            <a:srgbClr val="0B132B"/>
          </a:solidFill>
          <a:ln w="12700">
            <a:solidFill>
              <a:srgbClr val="0B132B"/>
            </a:solidFill>
            <a:prstDash val="solid"/>
          </a:ln>
        </p:spPr>
        <p:txBody>
          <a:bodyPr/>
          <a:lstStyle/>
          <a:p>
            <a:endParaRPr/>
          </a:p>
        </p:txBody>
      </p:sp>
      <p:sp>
        <p:nvSpPr>
          <p:cNvPr id="19" name="Text 17"/>
          <p:cNvSpPr/>
          <p:nvPr/>
        </p:nvSpPr>
        <p:spPr>
          <a:xfrm>
            <a:off x="5257800" y="3171139"/>
            <a:ext cx="2468880" cy="274320"/>
          </a:xfrm>
          <a:prstGeom prst="rect">
            <a:avLst/>
          </a:prstGeom>
          <a:noFill/>
          <a:ln/>
        </p:spPr>
        <p:txBody>
          <a:bodyPr wrap="square" rtlCol="0" anchor="ctr"/>
          <a:lstStyle/>
          <a:p>
            <a:pPr marL="0" indent="0">
              <a:buNone/>
            </a:pPr>
            <a:r>
              <a:rPr lang="en-US" sz="1150" dirty="0">
                <a:solidFill>
                  <a:srgbClr val="1B1E28"/>
                </a:solidFill>
                <a:latin typeface="Calibri" pitchFamily="34" charset="0"/>
                <a:ea typeface="Calibri" pitchFamily="34" charset="-122"/>
                <a:cs typeface="Calibri" pitchFamily="34" charset="-120"/>
              </a:rPr>
              <a:t>Non‑conformité RGPD</a:t>
            </a:r>
            <a:endParaRPr lang="en-US" sz="1150" dirty="0"/>
          </a:p>
        </p:txBody>
      </p:sp>
      <p:sp>
        <p:nvSpPr>
          <p:cNvPr id="20" name="Shape 18"/>
          <p:cNvSpPr/>
          <p:nvPr/>
        </p:nvSpPr>
        <p:spPr>
          <a:xfrm>
            <a:off x="4416552" y="3575304"/>
            <a:ext cx="201168" cy="201168"/>
          </a:xfrm>
          <a:prstGeom prst="ellipse">
            <a:avLst/>
          </a:prstGeom>
          <a:solidFill>
            <a:srgbClr val="0B132B"/>
          </a:solidFill>
          <a:ln w="12700">
            <a:solidFill>
              <a:srgbClr val="0B132B"/>
            </a:solidFill>
            <a:prstDash val="solid"/>
          </a:ln>
        </p:spPr>
        <p:txBody>
          <a:bodyPr/>
          <a:lstStyle/>
          <a:p>
            <a:endParaRPr/>
          </a:p>
        </p:txBody>
      </p:sp>
      <p:sp>
        <p:nvSpPr>
          <p:cNvPr id="21" name="Text 19"/>
          <p:cNvSpPr/>
          <p:nvPr/>
        </p:nvSpPr>
        <p:spPr>
          <a:xfrm>
            <a:off x="4654296" y="3529584"/>
            <a:ext cx="2468880" cy="274320"/>
          </a:xfrm>
          <a:prstGeom prst="rect">
            <a:avLst/>
          </a:prstGeom>
          <a:noFill/>
          <a:ln/>
        </p:spPr>
        <p:txBody>
          <a:bodyPr wrap="square" rtlCol="0" anchor="ctr"/>
          <a:lstStyle/>
          <a:p>
            <a:pPr marL="0" indent="0">
              <a:buNone/>
            </a:pPr>
            <a:r>
              <a:rPr lang="en-US" sz="1150" dirty="0">
                <a:solidFill>
                  <a:srgbClr val="1B1E28"/>
                </a:solidFill>
                <a:latin typeface="Calibri" pitchFamily="34" charset="0"/>
                <a:ea typeface="Calibri" pitchFamily="34" charset="-122"/>
                <a:cs typeface="Calibri" pitchFamily="34" charset="-120"/>
              </a:rPr>
              <a:t>Retard MVP</a:t>
            </a:r>
            <a:endParaRPr lang="en-US" sz="1150" dirty="0"/>
          </a:p>
        </p:txBody>
      </p:sp>
      <p:sp>
        <p:nvSpPr>
          <p:cNvPr id="22" name="Shape 20"/>
          <p:cNvSpPr/>
          <p:nvPr/>
        </p:nvSpPr>
        <p:spPr>
          <a:xfrm>
            <a:off x="4597603" y="4023360"/>
            <a:ext cx="201168" cy="201168"/>
          </a:xfrm>
          <a:prstGeom prst="ellipse">
            <a:avLst/>
          </a:prstGeom>
          <a:solidFill>
            <a:srgbClr val="0B132B"/>
          </a:solidFill>
          <a:ln w="12700">
            <a:solidFill>
              <a:srgbClr val="0B132B"/>
            </a:solidFill>
            <a:prstDash val="solid"/>
          </a:ln>
        </p:spPr>
        <p:txBody>
          <a:bodyPr/>
          <a:lstStyle/>
          <a:p>
            <a:endParaRPr/>
          </a:p>
        </p:txBody>
      </p:sp>
      <p:sp>
        <p:nvSpPr>
          <p:cNvPr id="23" name="Text 21"/>
          <p:cNvSpPr/>
          <p:nvPr/>
        </p:nvSpPr>
        <p:spPr>
          <a:xfrm>
            <a:off x="4835347" y="3977640"/>
            <a:ext cx="2468880" cy="274320"/>
          </a:xfrm>
          <a:prstGeom prst="rect">
            <a:avLst/>
          </a:prstGeom>
          <a:noFill/>
          <a:ln/>
        </p:spPr>
        <p:txBody>
          <a:bodyPr wrap="square" rtlCol="0" anchor="ctr"/>
          <a:lstStyle/>
          <a:p>
            <a:pPr marL="0" indent="0">
              <a:buNone/>
            </a:pPr>
            <a:r>
              <a:rPr lang="en-US" sz="1150" dirty="0">
                <a:solidFill>
                  <a:srgbClr val="1B1E28"/>
                </a:solidFill>
                <a:latin typeface="Calibri" pitchFamily="34" charset="0"/>
                <a:ea typeface="Calibri" pitchFamily="34" charset="-122"/>
                <a:cs typeface="Calibri" pitchFamily="34" charset="-120"/>
              </a:rPr>
              <a:t>Adoption faible</a:t>
            </a:r>
            <a:endParaRPr lang="en-US" sz="1150" dirty="0"/>
          </a:p>
        </p:txBody>
      </p:sp>
      <p:sp>
        <p:nvSpPr>
          <p:cNvPr id="24" name="Shape 22"/>
          <p:cNvSpPr/>
          <p:nvPr/>
        </p:nvSpPr>
        <p:spPr>
          <a:xfrm>
            <a:off x="7452360" y="1097280"/>
            <a:ext cx="402336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25" name="Text 23"/>
          <p:cNvSpPr/>
          <p:nvPr/>
        </p:nvSpPr>
        <p:spPr>
          <a:xfrm>
            <a:off x="7818120" y="1325880"/>
            <a:ext cx="3566160" cy="41148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Ce que l’on fait tout de suite</a:t>
            </a:r>
            <a:endParaRPr lang="en-US" sz="1600" dirty="0"/>
          </a:p>
        </p:txBody>
      </p:sp>
      <p:sp>
        <p:nvSpPr>
          <p:cNvPr id="26" name="Text 24"/>
          <p:cNvSpPr/>
          <p:nvPr/>
        </p:nvSpPr>
        <p:spPr>
          <a:xfrm>
            <a:off x="7818120" y="1874520"/>
            <a:ext cx="3566160" cy="1351598"/>
          </a:xfrm>
          <a:prstGeom prst="rect">
            <a:avLst/>
          </a:prstGeom>
          <a:noFill/>
          <a:ln/>
        </p:spPr>
        <p:txBody>
          <a:bodyPr wrap="square" rtlCol="0" anchor="t"/>
          <a:lstStyle/>
          <a:p>
            <a:pPr marL="171450" indent="-171450">
              <a:spcAft>
                <a:spcPts val="800"/>
              </a:spcAft>
              <a:buSzPct val="100000"/>
              <a:buChar char="•"/>
            </a:pPr>
            <a:r>
              <a:rPr lang="en-US" sz="1350" dirty="0">
                <a:solidFill>
                  <a:srgbClr val="1B1E28"/>
                </a:solidFill>
                <a:latin typeface="Calibri" pitchFamily="34" charset="0"/>
                <a:ea typeface="Calibri" pitchFamily="34" charset="-122"/>
                <a:cs typeface="Calibri" pitchFamily="34" charset="-120"/>
              </a:rPr>
              <a:t>MoSCoW strict + buffer (+15%).</a:t>
            </a:r>
            <a:endParaRPr lang="en-US" sz="1350" dirty="0"/>
          </a:p>
          <a:p>
            <a:pPr marL="171450" indent="-171450">
              <a:spcAft>
                <a:spcPts val="800"/>
              </a:spcAft>
              <a:buSzPct val="100000"/>
              <a:buChar char="•"/>
            </a:pPr>
            <a:r>
              <a:rPr lang="en-US" sz="1350" dirty="0">
                <a:solidFill>
                  <a:srgbClr val="1B1E28"/>
                </a:solidFill>
                <a:latin typeface="Calibri" pitchFamily="34" charset="0"/>
                <a:ea typeface="Calibri" pitchFamily="34" charset="-122"/>
                <a:cs typeface="Calibri" pitchFamily="34" charset="-120"/>
              </a:rPr>
              <a:t>Chiffrement + accès restreint + suppression.</a:t>
            </a:r>
            <a:endParaRPr lang="en-US" sz="1350" dirty="0"/>
          </a:p>
          <a:p>
            <a:pPr marL="171450" indent="-171450">
              <a:spcAft>
                <a:spcPts val="800"/>
              </a:spcAft>
              <a:buSzPct val="100000"/>
              <a:buChar char="•"/>
            </a:pPr>
            <a:r>
              <a:rPr lang="en-US" sz="1350" dirty="0">
                <a:solidFill>
                  <a:srgbClr val="1B1E28"/>
                </a:solidFill>
                <a:latin typeface="Calibri" pitchFamily="34" charset="0"/>
                <a:ea typeface="Calibri" pitchFamily="34" charset="-122"/>
                <a:cs typeface="Calibri" pitchFamily="34" charset="-120"/>
              </a:rPr>
              <a:t>Écran de consentement clair + trace.</a:t>
            </a:r>
            <a:endParaRPr lang="en-US" sz="1350" dirty="0"/>
          </a:p>
          <a:p>
            <a:pPr marL="171450" indent="-171450">
              <a:spcAft>
                <a:spcPts val="800"/>
              </a:spcAft>
              <a:buSzPct val="100000"/>
              <a:buChar char="•"/>
            </a:pPr>
            <a:r>
              <a:rPr lang="en-US" sz="1350" dirty="0">
                <a:solidFill>
                  <a:srgbClr val="1B1E28"/>
                </a:solidFill>
                <a:latin typeface="Calibri" pitchFamily="34" charset="0"/>
                <a:ea typeface="Calibri" pitchFamily="34" charset="-122"/>
                <a:cs typeface="Calibri" pitchFamily="34" charset="-120"/>
              </a:rPr>
              <a:t>Onboarding + feedback + KPI dès le MVP.</a:t>
            </a:r>
            <a:endParaRPr lang="en-US" sz="1350" dirty="0"/>
          </a:p>
        </p:txBody>
      </p:sp>
      <p:sp>
        <p:nvSpPr>
          <p:cNvPr id="27" name="Text 25"/>
          <p:cNvSpPr/>
          <p:nvPr/>
        </p:nvSpPr>
        <p:spPr>
          <a:xfrm>
            <a:off x="7818120" y="5440680"/>
            <a:ext cx="3566160" cy="731520"/>
          </a:xfrm>
          <a:prstGeom prst="rect">
            <a:avLst/>
          </a:prstGeom>
          <a:noFill/>
          <a:ln/>
        </p:spPr>
        <p:txBody>
          <a:bodyPr wrap="square" rtlCol="0" anchor="t"/>
          <a:lstStyle/>
          <a:p>
            <a:pPr marL="0" indent="0">
              <a:buNone/>
            </a:pPr>
            <a:r>
              <a:rPr lang="en-US" sz="1200" dirty="0">
                <a:solidFill>
                  <a:srgbClr val="44506A"/>
                </a:solidFill>
                <a:latin typeface="Calibri" pitchFamily="34" charset="0"/>
                <a:ea typeface="Calibri" pitchFamily="34" charset="-122"/>
                <a:cs typeface="Calibri" pitchFamily="34" charset="-120"/>
              </a:rPr>
              <a:t>Ces actions ne sont pas ‘en plus’ : elles font partie du MVP, car elles sécurisent le lancement.</a:t>
            </a:r>
            <a:endParaRPr lang="en-US" sz="1200" dirty="0"/>
          </a:p>
        </p:txBody>
      </p:sp>
      <p:sp>
        <p:nvSpPr>
          <p:cNvPr id="28" name="Shape 26"/>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9" name="Text 27"/>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0" name="Text 28"/>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24/26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Plan d’action : mitigation des risques (top 4)</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Concret</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a:p>
        </p:txBody>
      </p:sp>
      <p:sp>
        <p:nvSpPr>
          <p:cNvPr id="6" name="Shape 4"/>
          <p:cNvSpPr/>
          <p:nvPr/>
        </p:nvSpPr>
        <p:spPr>
          <a:xfrm>
            <a:off x="1097280" y="1508760"/>
            <a:ext cx="10058400" cy="548640"/>
          </a:xfrm>
          <a:prstGeom prst="roundRect">
            <a:avLst/>
          </a:prstGeom>
          <a:solidFill>
            <a:srgbClr val="0B132B"/>
          </a:solidFill>
          <a:ln w="12700">
            <a:solidFill>
              <a:srgbClr val="0B132B"/>
            </a:solidFill>
            <a:prstDash val="solid"/>
          </a:ln>
        </p:spPr>
        <p:txBody>
          <a:bodyPr/>
          <a:lstStyle/>
          <a:p>
            <a:endParaRPr/>
          </a:p>
        </p:txBody>
      </p:sp>
      <p:sp>
        <p:nvSpPr>
          <p:cNvPr id="7" name="Text 5"/>
          <p:cNvSpPr/>
          <p:nvPr/>
        </p:nvSpPr>
        <p:spPr>
          <a:xfrm>
            <a:off x="1234440" y="1645920"/>
            <a:ext cx="192024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Risque</a:t>
            </a:r>
            <a:endParaRPr lang="en-US" sz="1300" dirty="0"/>
          </a:p>
        </p:txBody>
      </p:sp>
      <p:sp>
        <p:nvSpPr>
          <p:cNvPr id="8" name="Text 6"/>
          <p:cNvSpPr/>
          <p:nvPr/>
        </p:nvSpPr>
        <p:spPr>
          <a:xfrm>
            <a:off x="3429000" y="1645920"/>
            <a:ext cx="521208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Action principale</a:t>
            </a:r>
            <a:endParaRPr lang="en-US" sz="1300" dirty="0"/>
          </a:p>
        </p:txBody>
      </p:sp>
      <p:sp>
        <p:nvSpPr>
          <p:cNvPr id="9" name="Text 7"/>
          <p:cNvSpPr/>
          <p:nvPr/>
        </p:nvSpPr>
        <p:spPr>
          <a:xfrm>
            <a:off x="8915400" y="1645920"/>
            <a:ext cx="11430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Responsable</a:t>
            </a:r>
            <a:endParaRPr lang="en-US" sz="1300" dirty="0"/>
          </a:p>
        </p:txBody>
      </p:sp>
      <p:sp>
        <p:nvSpPr>
          <p:cNvPr id="10" name="Text 8"/>
          <p:cNvSpPr/>
          <p:nvPr/>
        </p:nvSpPr>
        <p:spPr>
          <a:xfrm>
            <a:off x="10332720" y="1645920"/>
            <a:ext cx="6858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Suivi</a:t>
            </a:r>
            <a:endParaRPr lang="en-US" sz="1300" dirty="0"/>
          </a:p>
        </p:txBody>
      </p:sp>
      <p:sp>
        <p:nvSpPr>
          <p:cNvPr id="11" name="Shape 9"/>
          <p:cNvSpPr/>
          <p:nvPr/>
        </p:nvSpPr>
        <p:spPr>
          <a:xfrm>
            <a:off x="1097280" y="2057400"/>
            <a:ext cx="10058400" cy="822960"/>
          </a:xfrm>
          <a:prstGeom prst="rect">
            <a:avLst/>
          </a:prstGeom>
          <a:solidFill>
            <a:srgbClr val="FBFAF7"/>
          </a:solidFill>
          <a:ln w="12700">
            <a:solidFill>
              <a:srgbClr val="E6E0D6"/>
            </a:solidFill>
            <a:prstDash val="solid"/>
          </a:ln>
        </p:spPr>
        <p:txBody>
          <a:bodyPr/>
          <a:lstStyle/>
          <a:p>
            <a:endParaRPr/>
          </a:p>
        </p:txBody>
      </p:sp>
      <p:sp>
        <p:nvSpPr>
          <p:cNvPr id="12" name="Text 10"/>
          <p:cNvSpPr/>
          <p:nvPr/>
        </p:nvSpPr>
        <p:spPr>
          <a:xfrm>
            <a:off x="1234440" y="2221992"/>
            <a:ext cx="1920240" cy="640080"/>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Retard MVP</a:t>
            </a:r>
            <a:endParaRPr lang="en-US" sz="1250" dirty="0"/>
          </a:p>
        </p:txBody>
      </p:sp>
      <p:sp>
        <p:nvSpPr>
          <p:cNvPr id="13" name="Text 11"/>
          <p:cNvSpPr/>
          <p:nvPr/>
        </p:nvSpPr>
        <p:spPr>
          <a:xfrm>
            <a:off x="3429000" y="2221992"/>
            <a:ext cx="521208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MoSCoW strict + découpage par sprint + démo à chaque review</a:t>
            </a:r>
            <a:endParaRPr lang="en-US" sz="1250" dirty="0"/>
          </a:p>
        </p:txBody>
      </p:sp>
      <p:sp>
        <p:nvSpPr>
          <p:cNvPr id="14" name="Text 12"/>
          <p:cNvSpPr/>
          <p:nvPr/>
        </p:nvSpPr>
        <p:spPr>
          <a:xfrm>
            <a:off x="8915400" y="2221992"/>
            <a:ext cx="11430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PO/SM</a:t>
            </a:r>
            <a:endParaRPr lang="en-US" sz="1250" dirty="0"/>
          </a:p>
        </p:txBody>
      </p:sp>
      <p:sp>
        <p:nvSpPr>
          <p:cNvPr id="15" name="Text 13"/>
          <p:cNvSpPr/>
          <p:nvPr/>
        </p:nvSpPr>
        <p:spPr>
          <a:xfrm>
            <a:off x="10332720" y="2221992"/>
            <a:ext cx="6858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hebdo</a:t>
            </a:r>
            <a:endParaRPr lang="en-US" sz="1250" dirty="0"/>
          </a:p>
        </p:txBody>
      </p:sp>
      <p:sp>
        <p:nvSpPr>
          <p:cNvPr id="16" name="Shape 14"/>
          <p:cNvSpPr/>
          <p:nvPr/>
        </p:nvSpPr>
        <p:spPr>
          <a:xfrm>
            <a:off x="1097280" y="2880360"/>
            <a:ext cx="10058400" cy="822960"/>
          </a:xfrm>
          <a:prstGeom prst="rect">
            <a:avLst/>
          </a:prstGeom>
          <a:solidFill>
            <a:srgbClr val="FFFFFF"/>
          </a:solidFill>
          <a:ln w="12700">
            <a:solidFill>
              <a:srgbClr val="E6E0D6"/>
            </a:solidFill>
            <a:prstDash val="solid"/>
          </a:ln>
        </p:spPr>
        <p:txBody>
          <a:bodyPr/>
          <a:lstStyle/>
          <a:p>
            <a:endParaRPr/>
          </a:p>
        </p:txBody>
      </p:sp>
      <p:sp>
        <p:nvSpPr>
          <p:cNvPr id="17" name="Text 15"/>
          <p:cNvSpPr/>
          <p:nvPr/>
        </p:nvSpPr>
        <p:spPr>
          <a:xfrm>
            <a:off x="1234440" y="3044952"/>
            <a:ext cx="1920240" cy="640080"/>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Fuite de photos</a:t>
            </a:r>
            <a:endParaRPr lang="en-US" sz="1250" dirty="0"/>
          </a:p>
        </p:txBody>
      </p:sp>
      <p:sp>
        <p:nvSpPr>
          <p:cNvPr id="18" name="Text 16"/>
          <p:cNvSpPr/>
          <p:nvPr/>
        </p:nvSpPr>
        <p:spPr>
          <a:xfrm>
            <a:off x="3429000" y="3044952"/>
            <a:ext cx="521208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Chiffrement + accès restreint + logs + suppression rapide des originaux</a:t>
            </a:r>
            <a:endParaRPr lang="en-US" sz="1250" dirty="0"/>
          </a:p>
        </p:txBody>
      </p:sp>
      <p:sp>
        <p:nvSpPr>
          <p:cNvPr id="19" name="Text 17"/>
          <p:cNvSpPr/>
          <p:nvPr/>
        </p:nvSpPr>
        <p:spPr>
          <a:xfrm>
            <a:off x="8915400" y="3044952"/>
            <a:ext cx="11430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Tech lead</a:t>
            </a:r>
            <a:endParaRPr lang="en-US" sz="1250" dirty="0"/>
          </a:p>
        </p:txBody>
      </p:sp>
      <p:sp>
        <p:nvSpPr>
          <p:cNvPr id="20" name="Text 18"/>
          <p:cNvSpPr/>
          <p:nvPr/>
        </p:nvSpPr>
        <p:spPr>
          <a:xfrm>
            <a:off x="10332720" y="3044952"/>
            <a:ext cx="6858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hebdo</a:t>
            </a:r>
            <a:endParaRPr lang="en-US" sz="1250" dirty="0"/>
          </a:p>
        </p:txBody>
      </p:sp>
      <p:sp>
        <p:nvSpPr>
          <p:cNvPr id="21" name="Shape 19"/>
          <p:cNvSpPr/>
          <p:nvPr/>
        </p:nvSpPr>
        <p:spPr>
          <a:xfrm>
            <a:off x="1097280" y="3703320"/>
            <a:ext cx="10058400" cy="822960"/>
          </a:xfrm>
          <a:prstGeom prst="rect">
            <a:avLst/>
          </a:prstGeom>
          <a:solidFill>
            <a:srgbClr val="FBFAF7"/>
          </a:solidFill>
          <a:ln w="12700">
            <a:solidFill>
              <a:srgbClr val="E6E0D6"/>
            </a:solidFill>
            <a:prstDash val="solid"/>
          </a:ln>
        </p:spPr>
        <p:txBody>
          <a:bodyPr/>
          <a:lstStyle/>
          <a:p>
            <a:endParaRPr/>
          </a:p>
        </p:txBody>
      </p:sp>
      <p:sp>
        <p:nvSpPr>
          <p:cNvPr id="22" name="Text 20"/>
          <p:cNvSpPr/>
          <p:nvPr/>
        </p:nvSpPr>
        <p:spPr>
          <a:xfrm>
            <a:off x="1234440" y="3867912"/>
            <a:ext cx="1920240" cy="640080"/>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Non‑conformité RGPD</a:t>
            </a:r>
            <a:endParaRPr lang="en-US" sz="1250" dirty="0"/>
          </a:p>
        </p:txBody>
      </p:sp>
      <p:sp>
        <p:nvSpPr>
          <p:cNvPr id="23" name="Text 21"/>
          <p:cNvSpPr/>
          <p:nvPr/>
        </p:nvSpPr>
        <p:spPr>
          <a:xfrm>
            <a:off x="3429000" y="3867912"/>
            <a:ext cx="521208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Consentement explicite + registre CNIL + tests suppression + audit accès</a:t>
            </a:r>
            <a:endParaRPr lang="en-US" sz="1250" dirty="0"/>
          </a:p>
        </p:txBody>
      </p:sp>
      <p:sp>
        <p:nvSpPr>
          <p:cNvPr id="24" name="Text 22"/>
          <p:cNvSpPr/>
          <p:nvPr/>
        </p:nvSpPr>
        <p:spPr>
          <a:xfrm>
            <a:off x="8915400" y="3867912"/>
            <a:ext cx="11430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PO + juridique</a:t>
            </a:r>
            <a:endParaRPr lang="en-US" sz="1250" dirty="0"/>
          </a:p>
        </p:txBody>
      </p:sp>
      <p:sp>
        <p:nvSpPr>
          <p:cNvPr id="25" name="Text 23"/>
          <p:cNvSpPr/>
          <p:nvPr/>
        </p:nvSpPr>
        <p:spPr>
          <a:xfrm>
            <a:off x="10332720" y="3867912"/>
            <a:ext cx="6858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sprint</a:t>
            </a:r>
            <a:endParaRPr lang="en-US" sz="1250" dirty="0"/>
          </a:p>
        </p:txBody>
      </p:sp>
      <p:sp>
        <p:nvSpPr>
          <p:cNvPr id="26" name="Shape 24"/>
          <p:cNvSpPr/>
          <p:nvPr/>
        </p:nvSpPr>
        <p:spPr>
          <a:xfrm>
            <a:off x="1097280" y="4526280"/>
            <a:ext cx="10058400" cy="822960"/>
          </a:xfrm>
          <a:prstGeom prst="rect">
            <a:avLst/>
          </a:prstGeom>
          <a:solidFill>
            <a:srgbClr val="FFFFFF"/>
          </a:solidFill>
          <a:ln w="12700">
            <a:solidFill>
              <a:srgbClr val="E6E0D6"/>
            </a:solidFill>
            <a:prstDash val="solid"/>
          </a:ln>
        </p:spPr>
        <p:txBody>
          <a:bodyPr/>
          <a:lstStyle/>
          <a:p>
            <a:endParaRPr/>
          </a:p>
        </p:txBody>
      </p:sp>
      <p:sp>
        <p:nvSpPr>
          <p:cNvPr id="27" name="Text 25"/>
          <p:cNvSpPr/>
          <p:nvPr/>
        </p:nvSpPr>
        <p:spPr>
          <a:xfrm>
            <a:off x="1234440" y="4690872"/>
            <a:ext cx="1920240" cy="640080"/>
          </a:xfrm>
          <a:prstGeom prst="rect">
            <a:avLst/>
          </a:prstGeom>
          <a:noFill/>
          <a:ln/>
        </p:spPr>
        <p:txBody>
          <a:bodyPr wrap="square" rtlCol="0" anchor="ctr"/>
          <a:lstStyle/>
          <a:p>
            <a:pPr marL="0" indent="0">
              <a:buNone/>
            </a:pPr>
            <a:r>
              <a:rPr lang="en-US" sz="1250" b="1" dirty="0">
                <a:solidFill>
                  <a:srgbClr val="1B1E28"/>
                </a:solidFill>
                <a:latin typeface="Calibri" pitchFamily="34" charset="0"/>
                <a:ea typeface="Calibri" pitchFamily="34" charset="-122"/>
                <a:cs typeface="Calibri" pitchFamily="34" charset="-120"/>
              </a:rPr>
              <a:t>Adoption faible</a:t>
            </a:r>
            <a:endParaRPr lang="en-US" sz="1250" dirty="0"/>
          </a:p>
        </p:txBody>
      </p:sp>
      <p:sp>
        <p:nvSpPr>
          <p:cNvPr id="28" name="Text 26"/>
          <p:cNvSpPr/>
          <p:nvPr/>
        </p:nvSpPr>
        <p:spPr>
          <a:xfrm>
            <a:off x="3429000" y="4690872"/>
            <a:ext cx="521208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Onboarding + guidance photo + feedback + amélioration des résultats</a:t>
            </a:r>
            <a:endParaRPr lang="en-US" sz="1250" dirty="0"/>
          </a:p>
        </p:txBody>
      </p:sp>
      <p:sp>
        <p:nvSpPr>
          <p:cNvPr id="29" name="Text 27"/>
          <p:cNvSpPr/>
          <p:nvPr/>
        </p:nvSpPr>
        <p:spPr>
          <a:xfrm>
            <a:off x="8915400" y="4690872"/>
            <a:ext cx="11430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PO</a:t>
            </a:r>
            <a:endParaRPr lang="en-US" sz="1250" dirty="0"/>
          </a:p>
        </p:txBody>
      </p:sp>
      <p:sp>
        <p:nvSpPr>
          <p:cNvPr id="30" name="Text 28"/>
          <p:cNvSpPr/>
          <p:nvPr/>
        </p:nvSpPr>
        <p:spPr>
          <a:xfrm>
            <a:off x="10332720" y="4690872"/>
            <a:ext cx="685800" cy="640080"/>
          </a:xfrm>
          <a:prstGeom prst="rect">
            <a:avLst/>
          </a:prstGeom>
          <a:noFill/>
          <a:ln/>
        </p:spPr>
        <p:txBody>
          <a:bodyPr wrap="square" rtlCol="0" anchor="ctr"/>
          <a:lstStyle/>
          <a:p>
            <a:pPr marL="0" indent="0">
              <a:buNone/>
            </a:pPr>
            <a:r>
              <a:rPr lang="en-US" sz="1250" dirty="0">
                <a:solidFill>
                  <a:srgbClr val="1B1E28"/>
                </a:solidFill>
                <a:latin typeface="Calibri" pitchFamily="34" charset="0"/>
                <a:ea typeface="Calibri" pitchFamily="34" charset="-122"/>
                <a:cs typeface="Calibri" pitchFamily="34" charset="-120"/>
              </a:rPr>
              <a:t>sprint</a:t>
            </a:r>
            <a:endParaRPr lang="en-US" sz="1250" dirty="0"/>
          </a:p>
        </p:txBody>
      </p:sp>
      <p:sp>
        <p:nvSpPr>
          <p:cNvPr id="31" name="Text 29"/>
          <p:cNvSpPr/>
          <p:nvPr/>
        </p:nvSpPr>
        <p:spPr>
          <a:xfrm>
            <a:off x="1097280" y="6172200"/>
            <a:ext cx="10058400" cy="320040"/>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La logique est simple : on identifie tôt les risques qui peuvent bloquer le lancement, et on met une action de réduction dès le MVP.</a:t>
            </a:r>
            <a:endParaRPr lang="en-US" sz="1200" dirty="0"/>
          </a:p>
        </p:txBody>
      </p:sp>
      <p:sp>
        <p:nvSpPr>
          <p:cNvPr id="32" name="Shape 30"/>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33" name="Text 31"/>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34" name="Text 32"/>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25/26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3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B132B"/>
          </a:solidFill>
          <a:ln w="12700">
            <a:solidFill>
              <a:srgbClr val="0B132B"/>
            </a:solidFill>
            <a:prstDash val="solid"/>
          </a:ln>
        </p:spPr>
        <p:txBody>
          <a:bodyPr/>
          <a:lstStyle/>
          <a:p>
            <a:endParaRPr/>
          </a:p>
        </p:txBody>
      </p:sp>
      <p:sp>
        <p:nvSpPr>
          <p:cNvPr id="3" name="Text 1"/>
          <p:cNvSpPr/>
          <p:nvPr/>
        </p:nvSpPr>
        <p:spPr>
          <a:xfrm>
            <a:off x="594360" y="109728"/>
            <a:ext cx="836676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Décision attendue &amp; prochaines étapes</a:t>
            </a:r>
            <a:endParaRPr lang="en-US" sz="2200" dirty="0"/>
          </a:p>
        </p:txBody>
      </p:sp>
      <p:sp>
        <p:nvSpPr>
          <p:cNvPr id="4" name="Text 2"/>
          <p:cNvSpPr/>
          <p:nvPr/>
        </p:nvSpPr>
        <p:spPr>
          <a:xfrm>
            <a:off x="9098280" y="164592"/>
            <a:ext cx="2926080" cy="365760"/>
          </a:xfrm>
          <a:prstGeom prst="rect">
            <a:avLst/>
          </a:prstGeom>
          <a:noFill/>
          <a:ln/>
        </p:spPr>
        <p:txBody>
          <a:bodyPr wrap="square" rtlCol="0" anchor="ctr"/>
          <a:lstStyle/>
          <a:p>
            <a:pPr marL="0" indent="0" algn="r">
              <a:buNone/>
            </a:pPr>
            <a:r>
              <a:rPr lang="en-US" sz="1200" dirty="0">
                <a:solidFill>
                  <a:srgbClr val="E3CF9A"/>
                </a:solidFill>
                <a:latin typeface="Calibri" pitchFamily="34" charset="0"/>
                <a:ea typeface="Calibri" pitchFamily="34" charset="-122"/>
                <a:cs typeface="Calibri" pitchFamily="34" charset="-120"/>
              </a:rPr>
              <a:t>Go / No‑Go MVP</a:t>
            </a:r>
            <a:endParaRPr lang="en-US" sz="1200" dirty="0"/>
          </a:p>
        </p:txBody>
      </p:sp>
      <p:sp>
        <p:nvSpPr>
          <p:cNvPr id="5" name="Shape 3"/>
          <p:cNvSpPr/>
          <p:nvPr/>
        </p:nvSpPr>
        <p:spPr>
          <a:xfrm>
            <a:off x="731520" y="1097280"/>
            <a:ext cx="10744200" cy="5349240"/>
          </a:xfrm>
          <a:prstGeom prst="roundRect">
            <a:avLst/>
          </a:prstGeom>
          <a:solidFill>
            <a:srgbClr val="FFFFFF"/>
          </a:solidFill>
          <a:ln w="12700">
            <a:solidFill>
              <a:srgbClr val="E6E0D6"/>
            </a:solidFill>
            <a:prstDash val="solid"/>
          </a:ln>
          <a:effectLst>
            <a:outerShdw blurRad="25400" dist="19050" dir="2700000" algn="bl" rotWithShape="0">
              <a:srgbClr val="000000">
                <a:alpha val="10000"/>
              </a:srgbClr>
            </a:outerShdw>
          </a:effectLst>
        </p:spPr>
        <p:txBody>
          <a:bodyPr/>
          <a:lstStyle/>
          <a:p>
            <a:endParaRPr dirty="0"/>
          </a:p>
        </p:txBody>
      </p:sp>
      <p:sp>
        <p:nvSpPr>
          <p:cNvPr id="6" name="Text 4"/>
          <p:cNvSpPr/>
          <p:nvPr/>
        </p:nvSpPr>
        <p:spPr>
          <a:xfrm>
            <a:off x="1097280" y="1325880"/>
            <a:ext cx="10058400" cy="411480"/>
          </a:xfrm>
          <a:prstGeom prst="rect">
            <a:avLst/>
          </a:prstGeom>
          <a:noFill/>
          <a:ln/>
        </p:spPr>
        <p:txBody>
          <a:bodyPr wrap="square" rtlCol="0" anchor="ctr"/>
          <a:lstStyle/>
          <a:p>
            <a:pPr marL="0" indent="0">
              <a:buNone/>
            </a:pPr>
            <a:r>
              <a:rPr lang="en-US" sz="2200" b="1" dirty="0" err="1">
                <a:solidFill>
                  <a:srgbClr val="1B1E28"/>
                </a:solidFill>
                <a:latin typeface="Calibri" pitchFamily="34" charset="0"/>
                <a:ea typeface="Calibri" pitchFamily="34" charset="-122"/>
                <a:cs typeface="Calibri" pitchFamily="34" charset="-120"/>
              </a:rPr>
              <a:t>Décision</a:t>
            </a:r>
            <a:r>
              <a:rPr lang="en-US" sz="2200" b="1" dirty="0">
                <a:solidFill>
                  <a:srgbClr val="1B1E28"/>
                </a:solidFill>
                <a:latin typeface="Calibri" pitchFamily="34" charset="0"/>
                <a:ea typeface="Calibri" pitchFamily="34" charset="-122"/>
                <a:cs typeface="Calibri" pitchFamily="34" charset="-120"/>
              </a:rPr>
              <a:t> de </a:t>
            </a:r>
            <a:r>
              <a:rPr lang="en-US" sz="2200" b="1" dirty="0" err="1">
                <a:solidFill>
                  <a:srgbClr val="1B1E28"/>
                </a:solidFill>
                <a:latin typeface="Calibri" pitchFamily="34" charset="0"/>
                <a:ea typeface="Calibri" pitchFamily="34" charset="-122"/>
                <a:cs typeface="Calibri" pitchFamily="34" charset="-120"/>
              </a:rPr>
              <a:t>lancement</a:t>
            </a:r>
            <a:endParaRPr lang="en-US" sz="2200" dirty="0"/>
          </a:p>
        </p:txBody>
      </p:sp>
      <p:sp>
        <p:nvSpPr>
          <p:cNvPr id="7" name="Text 5"/>
          <p:cNvSpPr/>
          <p:nvPr/>
        </p:nvSpPr>
        <p:spPr>
          <a:xfrm>
            <a:off x="1097280" y="1828800"/>
            <a:ext cx="10058400" cy="731520"/>
          </a:xfrm>
          <a:prstGeom prst="rect">
            <a:avLst/>
          </a:prstGeom>
          <a:noFill/>
          <a:ln/>
        </p:spPr>
        <p:txBody>
          <a:bodyPr wrap="square" rtlCol="0" anchor="ctr"/>
          <a:lstStyle/>
          <a:p>
            <a:pPr marL="0" indent="0">
              <a:buNone/>
            </a:pPr>
            <a:r>
              <a:rPr lang="en-US" sz="1400" dirty="0">
                <a:solidFill>
                  <a:srgbClr val="1B1E28"/>
                </a:solidFill>
                <a:latin typeface="Calibri" pitchFamily="34" charset="0"/>
                <a:ea typeface="Calibri" pitchFamily="34" charset="-122"/>
                <a:cs typeface="Calibri" pitchFamily="34" charset="-120"/>
              </a:rPr>
              <a:t>Valider le lancement d’un MVP en 4 sprints (≈ 8 semaines), avec un budget one‑shot d’environ 70 885 € et un coût récurrent d’environ 5 210 €/mois.</a:t>
            </a:r>
            <a:endParaRPr lang="en-US" sz="1400" dirty="0"/>
          </a:p>
        </p:txBody>
      </p:sp>
      <p:sp>
        <p:nvSpPr>
          <p:cNvPr id="8" name="Shape 6"/>
          <p:cNvSpPr/>
          <p:nvPr/>
        </p:nvSpPr>
        <p:spPr>
          <a:xfrm>
            <a:off x="1097280" y="2697480"/>
            <a:ext cx="315468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9" name="Shape 7"/>
          <p:cNvSpPr/>
          <p:nvPr/>
        </p:nvSpPr>
        <p:spPr>
          <a:xfrm>
            <a:off x="1097280" y="2697480"/>
            <a:ext cx="73152" cy="1234440"/>
          </a:xfrm>
          <a:prstGeom prst="rect">
            <a:avLst/>
          </a:prstGeom>
          <a:solidFill>
            <a:srgbClr val="C8A45D"/>
          </a:solidFill>
          <a:ln w="12700">
            <a:solidFill>
              <a:srgbClr val="C8A45D"/>
            </a:solidFill>
            <a:prstDash val="solid"/>
          </a:ln>
        </p:spPr>
        <p:txBody>
          <a:bodyPr/>
          <a:lstStyle/>
          <a:p>
            <a:endParaRPr/>
          </a:p>
        </p:txBody>
      </p:sp>
      <p:sp>
        <p:nvSpPr>
          <p:cNvPr id="10" name="Text 8"/>
          <p:cNvSpPr/>
          <p:nvPr/>
        </p:nvSpPr>
        <p:spPr>
          <a:xfrm>
            <a:off x="1261872" y="2788920"/>
            <a:ext cx="283464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Durée</a:t>
            </a:r>
            <a:endParaRPr lang="en-US" sz="1200" dirty="0"/>
          </a:p>
        </p:txBody>
      </p:sp>
      <p:sp>
        <p:nvSpPr>
          <p:cNvPr id="11" name="Text 9"/>
          <p:cNvSpPr/>
          <p:nvPr/>
        </p:nvSpPr>
        <p:spPr>
          <a:xfrm>
            <a:off x="1261872" y="2999232"/>
            <a:ext cx="283464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8 semaines</a:t>
            </a:r>
            <a:endParaRPr lang="en-US" sz="2800" dirty="0"/>
          </a:p>
        </p:txBody>
      </p:sp>
      <p:sp>
        <p:nvSpPr>
          <p:cNvPr id="12" name="Text 10"/>
          <p:cNvSpPr/>
          <p:nvPr/>
        </p:nvSpPr>
        <p:spPr>
          <a:xfrm>
            <a:off x="1261872" y="3639312"/>
            <a:ext cx="283464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4 sprints</a:t>
            </a:r>
            <a:endParaRPr lang="en-US" sz="1000" dirty="0"/>
          </a:p>
        </p:txBody>
      </p:sp>
      <p:sp>
        <p:nvSpPr>
          <p:cNvPr id="13" name="Shape 11"/>
          <p:cNvSpPr/>
          <p:nvPr/>
        </p:nvSpPr>
        <p:spPr>
          <a:xfrm>
            <a:off x="4434840" y="2697480"/>
            <a:ext cx="333756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4" name="Shape 12"/>
          <p:cNvSpPr/>
          <p:nvPr/>
        </p:nvSpPr>
        <p:spPr>
          <a:xfrm>
            <a:off x="4434840" y="2697480"/>
            <a:ext cx="73152" cy="1234440"/>
          </a:xfrm>
          <a:prstGeom prst="rect">
            <a:avLst/>
          </a:prstGeom>
          <a:solidFill>
            <a:srgbClr val="C8A45D"/>
          </a:solidFill>
          <a:ln w="12700">
            <a:solidFill>
              <a:srgbClr val="C8A45D"/>
            </a:solidFill>
            <a:prstDash val="solid"/>
          </a:ln>
        </p:spPr>
        <p:txBody>
          <a:bodyPr/>
          <a:lstStyle/>
          <a:p>
            <a:endParaRPr/>
          </a:p>
        </p:txBody>
      </p:sp>
      <p:sp>
        <p:nvSpPr>
          <p:cNvPr id="15" name="Text 13"/>
          <p:cNvSpPr/>
          <p:nvPr/>
        </p:nvSpPr>
        <p:spPr>
          <a:xfrm>
            <a:off x="4599432" y="2788920"/>
            <a:ext cx="301752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Investissement</a:t>
            </a:r>
            <a:endParaRPr lang="en-US" sz="1200" dirty="0"/>
          </a:p>
        </p:txBody>
      </p:sp>
      <p:sp>
        <p:nvSpPr>
          <p:cNvPr id="16" name="Text 14"/>
          <p:cNvSpPr/>
          <p:nvPr/>
        </p:nvSpPr>
        <p:spPr>
          <a:xfrm>
            <a:off x="4599432" y="2999232"/>
            <a:ext cx="301752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70 885 €</a:t>
            </a:r>
            <a:endParaRPr lang="en-US" sz="2800" dirty="0"/>
          </a:p>
        </p:txBody>
      </p:sp>
      <p:sp>
        <p:nvSpPr>
          <p:cNvPr id="17" name="Text 15"/>
          <p:cNvSpPr/>
          <p:nvPr/>
        </p:nvSpPr>
        <p:spPr>
          <a:xfrm>
            <a:off x="4599432" y="3639312"/>
            <a:ext cx="301752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construction du MVP</a:t>
            </a:r>
            <a:endParaRPr lang="en-US" sz="1000" dirty="0"/>
          </a:p>
        </p:txBody>
      </p:sp>
      <p:sp>
        <p:nvSpPr>
          <p:cNvPr id="18" name="Shape 16"/>
          <p:cNvSpPr/>
          <p:nvPr/>
        </p:nvSpPr>
        <p:spPr>
          <a:xfrm>
            <a:off x="7955280" y="2697480"/>
            <a:ext cx="3200400" cy="1234440"/>
          </a:xfrm>
          <a:prstGeom prst="roundRect">
            <a:avLst/>
          </a:prstGeom>
          <a:solidFill>
            <a:srgbClr val="FFFFFF"/>
          </a:solidFill>
          <a:ln w="12700">
            <a:solidFill>
              <a:srgbClr val="E6E0D6"/>
            </a:solidFill>
            <a:prstDash val="solid"/>
          </a:ln>
          <a:effectLst>
            <a:outerShdw blurRad="25400" dist="19050" dir="2700000" algn="bl" rotWithShape="0">
              <a:srgbClr val="000000">
                <a:alpha val="12000"/>
              </a:srgbClr>
            </a:outerShdw>
          </a:effectLst>
        </p:spPr>
        <p:txBody>
          <a:bodyPr/>
          <a:lstStyle/>
          <a:p>
            <a:endParaRPr/>
          </a:p>
        </p:txBody>
      </p:sp>
      <p:sp>
        <p:nvSpPr>
          <p:cNvPr id="19" name="Shape 17"/>
          <p:cNvSpPr/>
          <p:nvPr/>
        </p:nvSpPr>
        <p:spPr>
          <a:xfrm>
            <a:off x="7955280" y="2697480"/>
            <a:ext cx="73152" cy="1234440"/>
          </a:xfrm>
          <a:prstGeom prst="rect">
            <a:avLst/>
          </a:prstGeom>
          <a:solidFill>
            <a:srgbClr val="C8A45D"/>
          </a:solidFill>
          <a:ln w="12700">
            <a:solidFill>
              <a:srgbClr val="C8A45D"/>
            </a:solidFill>
            <a:prstDash val="solid"/>
          </a:ln>
        </p:spPr>
        <p:txBody>
          <a:bodyPr/>
          <a:lstStyle/>
          <a:p>
            <a:endParaRPr/>
          </a:p>
        </p:txBody>
      </p:sp>
      <p:sp>
        <p:nvSpPr>
          <p:cNvPr id="20" name="Text 18"/>
          <p:cNvSpPr/>
          <p:nvPr/>
        </p:nvSpPr>
        <p:spPr>
          <a:xfrm>
            <a:off x="8119872" y="2788920"/>
            <a:ext cx="2880360" cy="256032"/>
          </a:xfrm>
          <a:prstGeom prst="rect">
            <a:avLst/>
          </a:prstGeom>
          <a:noFill/>
          <a:ln/>
        </p:spPr>
        <p:txBody>
          <a:bodyPr wrap="square" rtlCol="0" anchor="ctr"/>
          <a:lstStyle/>
          <a:p>
            <a:pPr marL="0" indent="0">
              <a:buNone/>
            </a:pPr>
            <a:r>
              <a:rPr lang="en-US" sz="1200" dirty="0">
                <a:solidFill>
                  <a:srgbClr val="44506A"/>
                </a:solidFill>
                <a:latin typeface="Calibri" pitchFamily="34" charset="0"/>
                <a:ea typeface="Calibri" pitchFamily="34" charset="-122"/>
                <a:cs typeface="Calibri" pitchFamily="34" charset="-120"/>
              </a:rPr>
              <a:t>Récurrent</a:t>
            </a:r>
            <a:endParaRPr lang="en-US" sz="1200" dirty="0"/>
          </a:p>
        </p:txBody>
      </p:sp>
      <p:sp>
        <p:nvSpPr>
          <p:cNvPr id="21" name="Text 19"/>
          <p:cNvSpPr/>
          <p:nvPr/>
        </p:nvSpPr>
        <p:spPr>
          <a:xfrm>
            <a:off x="8119872" y="2999232"/>
            <a:ext cx="2880360" cy="548640"/>
          </a:xfrm>
          <a:prstGeom prst="rect">
            <a:avLst/>
          </a:prstGeom>
          <a:noFill/>
          <a:ln/>
        </p:spPr>
        <p:txBody>
          <a:bodyPr wrap="square" rtlCol="0" anchor="ctr"/>
          <a:lstStyle/>
          <a:p>
            <a:pPr marL="0" indent="0">
              <a:buNone/>
            </a:pPr>
            <a:r>
              <a:rPr lang="en-US" sz="2800" b="1" dirty="0">
                <a:solidFill>
                  <a:srgbClr val="1B1E28"/>
                </a:solidFill>
                <a:latin typeface="Calibri" pitchFamily="34" charset="0"/>
                <a:ea typeface="Calibri" pitchFamily="34" charset="-122"/>
                <a:cs typeface="Calibri" pitchFamily="34" charset="-120"/>
              </a:rPr>
              <a:t>5 210 €/mois</a:t>
            </a:r>
            <a:endParaRPr lang="en-US" sz="2800" dirty="0"/>
          </a:p>
        </p:txBody>
      </p:sp>
      <p:sp>
        <p:nvSpPr>
          <p:cNvPr id="22" name="Text 20"/>
          <p:cNvSpPr/>
          <p:nvPr/>
        </p:nvSpPr>
        <p:spPr>
          <a:xfrm>
            <a:off x="8119872" y="3639312"/>
            <a:ext cx="2880360" cy="228600"/>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cloud + maintenance</a:t>
            </a:r>
            <a:endParaRPr lang="en-US" sz="1000" dirty="0"/>
          </a:p>
        </p:txBody>
      </p:sp>
      <p:sp>
        <p:nvSpPr>
          <p:cNvPr id="23" name="Shape 21"/>
          <p:cNvSpPr/>
          <p:nvPr/>
        </p:nvSpPr>
        <p:spPr>
          <a:xfrm>
            <a:off x="1097280" y="4160520"/>
            <a:ext cx="10058400" cy="2103120"/>
          </a:xfrm>
          <a:prstGeom prst="roundRect">
            <a:avLst/>
          </a:prstGeom>
          <a:solidFill>
            <a:srgbClr val="FBFAF7"/>
          </a:solidFill>
          <a:ln w="12700">
            <a:solidFill>
              <a:srgbClr val="E6E0D6"/>
            </a:solidFill>
            <a:prstDash val="solid"/>
          </a:ln>
        </p:spPr>
        <p:txBody>
          <a:bodyPr/>
          <a:lstStyle/>
          <a:p>
            <a:endParaRPr/>
          </a:p>
        </p:txBody>
      </p:sp>
      <p:sp>
        <p:nvSpPr>
          <p:cNvPr id="24" name="Text 22"/>
          <p:cNvSpPr/>
          <p:nvPr/>
        </p:nvSpPr>
        <p:spPr>
          <a:xfrm>
            <a:off x="1325880" y="4343400"/>
            <a:ext cx="9601200" cy="320040"/>
          </a:xfrm>
          <a:prstGeom prst="rect">
            <a:avLst/>
          </a:prstGeom>
          <a:noFill/>
          <a:ln/>
        </p:spPr>
        <p:txBody>
          <a:bodyPr wrap="square" rtlCol="0" anchor="ctr"/>
          <a:lstStyle/>
          <a:p>
            <a:pPr marL="0" indent="0">
              <a:buNone/>
            </a:pPr>
            <a:r>
              <a:rPr lang="en-US" sz="1600" b="1" dirty="0">
                <a:solidFill>
                  <a:srgbClr val="1B1E28"/>
                </a:solidFill>
                <a:latin typeface="Calibri" pitchFamily="34" charset="0"/>
                <a:ea typeface="Calibri" pitchFamily="34" charset="-122"/>
                <a:cs typeface="Calibri" pitchFamily="34" charset="-120"/>
              </a:rPr>
              <a:t>À la fin du MVP (ce que l’on montre)</a:t>
            </a:r>
            <a:endParaRPr lang="en-US" sz="1600" dirty="0"/>
          </a:p>
        </p:txBody>
      </p:sp>
      <p:sp>
        <p:nvSpPr>
          <p:cNvPr id="25" name="Text 23"/>
          <p:cNvSpPr/>
          <p:nvPr/>
        </p:nvSpPr>
        <p:spPr>
          <a:xfrm>
            <a:off x="1325880" y="4709160"/>
            <a:ext cx="9601200" cy="1554480"/>
          </a:xfrm>
          <a:prstGeom prst="rect">
            <a:avLst/>
          </a:prstGeom>
          <a:noFill/>
          <a:ln/>
        </p:spPr>
        <p:txBody>
          <a:bodyPr wrap="square" rtlCol="0" anchor="t"/>
          <a:lstStyle/>
          <a:p>
            <a:pPr marL="0" indent="0">
              <a:buNone/>
            </a:pPr>
            <a:r>
              <a:rPr lang="en-US" sz="1350" dirty="0">
                <a:solidFill>
                  <a:srgbClr val="1B1E28"/>
                </a:solidFill>
                <a:latin typeface="Calibri" pitchFamily="34" charset="0"/>
                <a:ea typeface="Calibri" pitchFamily="34" charset="-122"/>
                <a:cs typeface="Calibri" pitchFamily="34" charset="-120"/>
              </a:rPr>
              <a:t>• Démo complète : photo → recommandations → fiche produit.</a:t>
            </a:r>
            <a:endParaRPr lang="en-US" sz="1350" dirty="0"/>
          </a:p>
          <a:p>
            <a:pPr marL="0" indent="0">
              <a:buNone/>
            </a:pPr>
            <a:r>
              <a:rPr lang="en-US" sz="1350" dirty="0">
                <a:solidFill>
                  <a:srgbClr val="1B1E28"/>
                </a:solidFill>
                <a:latin typeface="Calibri" pitchFamily="34" charset="0"/>
                <a:ea typeface="Calibri" pitchFamily="34" charset="-122"/>
                <a:cs typeface="Calibri" pitchFamily="34" charset="-120"/>
              </a:rPr>
              <a:t>• Mesures : MAU, taux d’usage, uplift, taux de photos refusées, latence, coût Azure.</a:t>
            </a:r>
            <a:endParaRPr lang="en-US" sz="1350" dirty="0"/>
          </a:p>
          <a:p>
            <a:pPr marL="0" indent="0">
              <a:buNone/>
            </a:pPr>
            <a:r>
              <a:rPr lang="en-US" sz="1350" dirty="0">
                <a:solidFill>
                  <a:srgbClr val="1B1E28"/>
                </a:solidFill>
                <a:latin typeface="Calibri" pitchFamily="34" charset="0"/>
                <a:ea typeface="Calibri" pitchFamily="34" charset="-122"/>
                <a:cs typeface="Calibri" pitchFamily="34" charset="-120"/>
              </a:rPr>
              <a:t>• Conformité : consentement, suppression, sécurité vérifiée.</a:t>
            </a:r>
            <a:endParaRPr lang="en-US" sz="1350" dirty="0"/>
          </a:p>
          <a:p>
            <a:pPr marL="0" indent="0">
              <a:buNone/>
            </a:pPr>
            <a:endParaRPr lang="en-US" sz="1350" dirty="0"/>
          </a:p>
          <a:p>
            <a:pPr marL="0" indent="0">
              <a:buNone/>
            </a:pPr>
            <a:r>
              <a:rPr lang="en-US" sz="1350" dirty="0">
                <a:solidFill>
                  <a:srgbClr val="1B1E28"/>
                </a:solidFill>
                <a:latin typeface="Calibri" pitchFamily="34" charset="0"/>
                <a:ea typeface="Calibri" pitchFamily="34" charset="-122"/>
                <a:cs typeface="Calibri" pitchFamily="34" charset="-120"/>
              </a:rPr>
              <a:t>Ensuite, décision V2 : on étend seulement si l’usage et l’impact sont au rendez‑vous.</a:t>
            </a:r>
            <a:endParaRPr lang="en-US" sz="1350" dirty="0"/>
          </a:p>
        </p:txBody>
      </p:sp>
      <p:sp>
        <p:nvSpPr>
          <p:cNvPr id="26" name="Shape 24"/>
          <p:cNvSpPr/>
          <p:nvPr/>
        </p:nvSpPr>
        <p:spPr>
          <a:xfrm>
            <a:off x="0" y="6565392"/>
            <a:ext cx="12191695" cy="292608"/>
          </a:xfrm>
          <a:prstGeom prst="rect">
            <a:avLst/>
          </a:prstGeom>
          <a:solidFill>
            <a:srgbClr val="F1EBDD"/>
          </a:solidFill>
          <a:ln w="12700">
            <a:solidFill>
              <a:srgbClr val="F1EBDD"/>
            </a:solidFill>
            <a:prstDash val="solid"/>
          </a:ln>
        </p:spPr>
        <p:txBody>
          <a:bodyPr/>
          <a:lstStyle/>
          <a:p>
            <a:endParaRPr/>
          </a:p>
        </p:txBody>
      </p:sp>
      <p:sp>
        <p:nvSpPr>
          <p:cNvPr id="27" name="Text 25"/>
          <p:cNvSpPr/>
          <p:nvPr/>
        </p:nvSpPr>
        <p:spPr>
          <a:xfrm>
            <a:off x="594360" y="6601968"/>
            <a:ext cx="9144000" cy="237744"/>
          </a:xfrm>
          <a:prstGeom prst="rect">
            <a:avLst/>
          </a:prstGeom>
          <a:noFill/>
          <a:ln/>
        </p:spPr>
        <p:txBody>
          <a:bodyPr wrap="square" rtlCol="0" anchor="ctr"/>
          <a:lstStyle/>
          <a:p>
            <a:pPr marL="0" indent="0">
              <a:buNone/>
            </a:pPr>
            <a:r>
              <a:rPr lang="en-US" sz="1000" dirty="0">
                <a:solidFill>
                  <a:srgbClr val="44506A"/>
                </a:solidFill>
                <a:latin typeface="Calibri" pitchFamily="34" charset="0"/>
                <a:ea typeface="Calibri" pitchFamily="34" charset="-122"/>
                <a:cs typeface="Calibri" pitchFamily="34" charset="-120"/>
              </a:rPr>
              <a:t>Fashion-Insta • Application mobile de recommandation par photo</a:t>
            </a:r>
            <a:endParaRPr lang="en-US" sz="1000" dirty="0"/>
          </a:p>
        </p:txBody>
      </p:sp>
      <p:sp>
        <p:nvSpPr>
          <p:cNvPr id="28" name="Text 26"/>
          <p:cNvSpPr/>
          <p:nvPr/>
        </p:nvSpPr>
        <p:spPr>
          <a:xfrm>
            <a:off x="11064240" y="6601968"/>
            <a:ext cx="822960" cy="237744"/>
          </a:xfrm>
          <a:prstGeom prst="rect">
            <a:avLst/>
          </a:prstGeom>
          <a:noFill/>
          <a:ln/>
        </p:spPr>
        <p:txBody>
          <a:bodyPr wrap="none" rtlCol="0" anchor="ctr"/>
          <a:lstStyle/>
          <a:p>
            <a:pPr algn="r"/>
            <a:r>
              <a:rPr sz="1000" b="0">
                <a:solidFill>
                  <a:srgbClr val="44506A"/>
                </a:solidFill>
                <a:latin typeface="Calibri"/>
              </a:rPr>
              <a:t>26/26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3331</Words>
  <Application>Microsoft Office PowerPoint</Application>
  <PresentationFormat>Grand écran</PresentationFormat>
  <Paragraphs>446</Paragraphs>
  <Slides>26</Slides>
  <Notes>25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26</vt:i4>
      </vt:variant>
    </vt:vector>
  </HeadingPairs>
  <TitlesOfParts>
    <vt:vector size="2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Victor</dc:creator>
  <cp:lastModifiedBy>Victor A</cp:lastModifiedBy>
  <cp:revision>8</cp:revision>
  <dcterms:created xsi:type="dcterms:W3CDTF">2026-03-04T06:44:29Z</dcterms:created>
  <dcterms:modified xsi:type="dcterms:W3CDTF">2026-03-07T04:17:03Z</dcterms:modified>
</cp:coreProperties>
</file>